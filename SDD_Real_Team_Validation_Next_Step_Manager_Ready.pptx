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50" b="1">
                <a:solidFill>
                  <a:srgbClr val="1B2F4B"/>
                </a:solidFill>
                <a:latin typeface="Aptos"/>
              </a:rPr>
              <a:t>From Todo Pilot to Real-Team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774"/>
                </a:solidFill>
                <a:latin typeface="Aptos"/>
              </a:rPr>
              <a:t>Recommended next step: introduce SDD selectively inside normal Scrum sprints, measure what happens, and refine the guidance from real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178308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517904"/>
            <a:ext cx="15636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69A4"/>
                </a:solidFill>
                <a:latin typeface="Aptos"/>
              </a:rPr>
              <a:t>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73936"/>
            <a:ext cx="1563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B2F4B"/>
                </a:solidFill>
                <a:latin typeface="Aptos"/>
              </a:rPr>
              <a:t>1–2 suitable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5456" y="1636776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6774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17320"/>
            <a:ext cx="178308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517904"/>
            <a:ext cx="15636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69A4"/>
                </a:solidFill>
                <a:latin typeface="Aptos"/>
              </a:rPr>
              <a:t>REFINE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773936"/>
            <a:ext cx="1563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B2F4B"/>
                </a:solidFill>
                <a:latin typeface="Aptos"/>
              </a:rPr>
              <a:t>Use SDD where valuable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636776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677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3792" y="1417320"/>
            <a:ext cx="178308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17904"/>
            <a:ext cx="15636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69A4"/>
                </a:solidFill>
                <a:latin typeface="Aptos"/>
              </a:rPr>
              <a:t>DELIVER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773936"/>
            <a:ext cx="1563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B2F4B"/>
                </a:solidFill>
                <a:latin typeface="Aptos"/>
              </a:rPr>
              <a:t>Normal sprint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1636776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677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1417320"/>
            <a:ext cx="178308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1517904"/>
            <a:ext cx="15636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69A4"/>
                </a:solidFill>
                <a:latin typeface="Aptos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1773936"/>
            <a:ext cx="1563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B2F4B"/>
                </a:solidFill>
                <a:latin typeface="Aptos"/>
              </a:rPr>
              <a:t>Capture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636776"/>
            <a:ext cx="320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5B677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9216" y="1417320"/>
            <a:ext cx="178308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1517904"/>
            <a:ext cx="15636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069A4"/>
                </a:solidFill>
                <a:latin typeface="Aptos"/>
              </a:rPr>
              <a:t>REFINE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8944" y="1773936"/>
            <a:ext cx="156362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B2F4B"/>
                </a:solidFill>
                <a:latin typeface="Aptos"/>
              </a:rPr>
              <a:t>Improve guidance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606040"/>
            <a:ext cx="2606040" cy="2423160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2816352"/>
            <a:ext cx="457200" cy="457200"/>
          </a:xfrm>
          <a:prstGeom prst="ellipse">
            <a:avLst/>
          </a:prstGeom>
          <a:solidFill>
            <a:srgbClr val="2B7A52"/>
          </a:solidFill>
          <a:ln>
            <a:solidFill>
              <a:srgbClr val="2B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8163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788920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F4B"/>
                </a:solidFill>
                <a:latin typeface="Aptos"/>
              </a:rPr>
              <a:t>Pick the right 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10712"/>
            <a:ext cx="2093976" cy="1435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A31"/>
                </a:solidFill>
                <a:latin typeface="Aptos"/>
              </a:rPr>
              <a:t>Choose medium/complex work where ambiguity, business rules, dependencies, cross-component impact or rework risk make extra reasoning worthwhile.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2606040"/>
            <a:ext cx="2606040" cy="2423160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02736" y="2816352"/>
            <a:ext cx="457200" cy="457200"/>
          </a:xfrm>
          <a:prstGeom prst="ellipse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28163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788920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F4B"/>
                </a:solidFill>
                <a:latin typeface="Aptos"/>
              </a:rPr>
              <a:t>Stay inside normal Scrum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410712"/>
            <a:ext cx="2093976" cy="1435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A31"/>
                </a:solidFill>
                <a:latin typeface="Aptos"/>
              </a:rPr>
              <a:t>Refinement, Sprint Planning, ADO tracking, developer assignment, QA and PR remain. SDD is used only for selected stories.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606040"/>
            <a:ext cx="2606040" cy="2423160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45936" y="2816352"/>
            <a:ext cx="457200" cy="457200"/>
          </a:xfrm>
          <a:prstGeom prst="ellipse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28163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788920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F4B"/>
                </a:solidFill>
                <a:latin typeface="Aptos"/>
              </a:rPr>
              <a:t>Capture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410712"/>
            <a:ext cx="2093976" cy="1435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A31"/>
                </a:solidFill>
                <a:latin typeface="Aptos"/>
              </a:rPr>
              <a:t>Record clarification gaps, AC changes, SDD effort, Analyze/Converge findings, rework, carry-over reasons and team experience.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87968" y="2606040"/>
            <a:ext cx="2606040" cy="2423160"/>
          </a:xfrm>
          <a:prstGeom prst="roundRect">
            <a:avLst/>
          </a:prstGeom>
          <a:solidFill>
            <a:srgbClr val="F7F9FB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89136" y="2816352"/>
            <a:ext cx="457200" cy="457200"/>
          </a:xfrm>
          <a:prstGeom prst="ellipse">
            <a:avLst/>
          </a:prstGeom>
          <a:solidFill>
            <a:srgbClr val="2B7A52"/>
          </a:solidFill>
          <a:ln>
            <a:solidFill>
              <a:srgbClr val="2B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89136" y="28163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788920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2F4B"/>
                </a:solidFill>
                <a:latin typeface="Aptos"/>
              </a:rPr>
              <a:t>Refine before scaling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410712"/>
            <a:ext cx="2093976" cy="1435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232A31"/>
                </a:solidFill>
                <a:latin typeface="Aptos"/>
              </a:rPr>
              <a:t>Use findings from real sprint cycles to improve story-selection guidance, team operating practices and onboarding before broader adoption.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5330952"/>
            <a:ext cx="10698480" cy="822960"/>
          </a:xfrm>
          <a:prstGeom prst="roundRect">
            <a:avLst/>
          </a:prstGeom>
          <a:solidFill>
            <a:srgbClr val="EDF6F1"/>
          </a:solidFill>
          <a:ln>
            <a:solidFill>
              <a:srgbClr val="C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477256"/>
            <a:ext cx="18745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B7A52"/>
                </a:solidFill>
                <a:latin typeface="Aptos"/>
              </a:rPr>
              <a:t>What success should mean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413248"/>
            <a:ext cx="8275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B2F4B"/>
                </a:solidFill>
                <a:latin typeface="Aptos"/>
              </a:rPr>
              <a:t>Better clarity • earlier gap/dependency discovery • manageable overhead • useful traceability • minimal disruption to the team's existing Scrum process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236208"/>
            <a:ext cx="10378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5B6774"/>
                </a:solidFill>
                <a:latin typeface="Aptos"/>
              </a:rPr>
              <a:t>Proposed validation: start with a small number of real teams and observe multiple normal sprint cycles; exact duration should be agreed with the participating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