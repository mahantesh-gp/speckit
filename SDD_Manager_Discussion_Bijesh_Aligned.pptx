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SDD Adoption — Manager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What we tried • how it fits • how EA can help teams get started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698480" cy="10515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0E2A52"/>
                </a:solidFill>
              </a:defRPr>
            </a:pPr>
            <a:r>
              <a:t>From AI-assisted coding to a practical, repeatable way of developing software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6324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063240"/>
            <a:ext cx="64008" cy="192024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297180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30752"/>
            <a:ext cx="2971800" cy="11430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A simple introduction to SDD and how Spec Kit supports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06324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3063240"/>
            <a:ext cx="64008" cy="192024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200400"/>
            <a:ext cx="297180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See the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730752"/>
            <a:ext cx="2971800" cy="11430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Our real experiments, user stories and decisions surfaced early.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06324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063240"/>
            <a:ext cx="64008" cy="192024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200400"/>
            <a:ext cx="297180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Decide next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730752"/>
            <a:ext cx="2971800" cy="11430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Get manager feedback and identify teams for follow-up sessions.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Today is a discussion with managers — not a technical training session.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Today's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A practical story, with a clear next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21208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00784"/>
            <a:ext cx="566928" cy="4754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C497E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91640"/>
            <a:ext cx="3977639" cy="6400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33345"/>
                </a:solidFill>
              </a:defRPr>
            </a:pPr>
            <a:r>
              <a:t>Why SDD and what it does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44752"/>
            <a:ext cx="521208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700784"/>
            <a:ext cx="566928" cy="4754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C497E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691640"/>
            <a:ext cx="3977639" cy="6400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33345"/>
                </a:solidFill>
              </a:defRPr>
            </a:pPr>
            <a:r>
              <a:t>Our journey: BMAD, Spec Kit and pilots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926080"/>
            <a:ext cx="521208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182112"/>
            <a:ext cx="566928" cy="4754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C497E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172968"/>
            <a:ext cx="3977639" cy="6400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33345"/>
                </a:solidFill>
              </a:defRPr>
            </a:pPr>
            <a:r>
              <a:t>How it fits into Scrum and 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926080"/>
            <a:ext cx="521208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3182112"/>
            <a:ext cx="566928" cy="4754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C497E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172968"/>
            <a:ext cx="3977639" cy="6400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33345"/>
                </a:solidFill>
              </a:defRPr>
            </a:pPr>
            <a:r>
              <a:t>Real examples from Todo and DocNav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407408"/>
            <a:ext cx="521208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663440"/>
            <a:ext cx="566928" cy="4754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C497E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654296"/>
            <a:ext cx="3977639" cy="6400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33345"/>
                </a:solidFill>
              </a:defRPr>
            </a:pPr>
            <a:r>
              <a:t>How EA will support your teams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407408"/>
            <a:ext cx="5212080" cy="114300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4663440"/>
            <a:ext cx="566928" cy="4754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1C497E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654296"/>
            <a:ext cx="3977639" cy="6400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33345"/>
                </a:solidFill>
              </a:defRPr>
            </a:pPr>
            <a:r>
              <a:t>Your feedback and pilot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Why Move Beyond Ad-Hoc AI Coding?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The goal is more consistent development, not more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508760"/>
            <a:ext cx="64008" cy="3401568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45919"/>
            <a:ext cx="4864607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Without a shared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76272"/>
            <a:ext cx="4864607" cy="262432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Different developers give AI different instructions</a:t>
            </a:r>
          </a:p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Requirements and edge cases can remain unclear</a:t>
            </a:r>
          </a:p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Reviews may discover gaps late</a:t>
            </a:r>
          </a:p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The team depends heavily on individual prompting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50876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1508760"/>
            <a:ext cx="64008" cy="3401568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645919"/>
            <a:ext cx="4864607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With a specification-led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176272"/>
            <a:ext cx="4864607" cy="262432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Clarify the expected behavior before coding</a:t>
            </a:r>
          </a:p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Make the technical approach visible</a:t>
            </a:r>
          </a:p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Break work into reviewable tasks</a:t>
            </a:r>
          </a:p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• Check implementation against agreed intent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SDD gives structure to AI-assisted development; people still own decisions, reviews and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Our Journey — Parallel Explorations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Different exercises helped us understand how SDD works in new and existing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212848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64008" cy="34747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184708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Starting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67712"/>
            <a:ext cx="1847088" cy="26974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AI-assisted coding</a:t>
            </a: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Useful individual productivity, but inconsistent ways of working.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1600200"/>
            <a:ext cx="2852928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62072" y="1600200"/>
            <a:ext cx="64008" cy="34747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737360"/>
            <a:ext cx="24871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BMAD — existing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2267712"/>
            <a:ext cx="2487168" cy="26974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Claims / CPS Docs rewrite case study.</a:t>
            </a: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BMAD also used in Title Automation.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600200"/>
            <a:ext cx="2852928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1600200"/>
            <a:ext cx="64008" cy="34747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737360"/>
            <a:ext cx="24871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Spec Kit — new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267712"/>
            <a:ext cx="2487168" cy="26974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Todo application.</a:t>
            </a: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Completed a Spec Kit lifecycle and explored Scrum/ADO fit.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42248" y="1600200"/>
            <a:ext cx="2852928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42248" y="1600200"/>
            <a:ext cx="64008" cy="34747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5128" y="1737360"/>
            <a:ext cx="24871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Spec Kit — 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2267712"/>
            <a:ext cx="2487168" cy="26974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Title Automation / DocNav integration.</a:t>
            </a: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Feature added within existing workflow constraints.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230368"/>
            <a:ext cx="6035040" cy="329184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C497E"/>
                </a:solidFill>
              </a:defRPr>
            </a:pPr>
            <a:r>
              <a:t>BMAD and Spec Kit evaluations ran in parallel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Result: project examples, lessons learned and practical guidelines for other teams.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What Is SDD? How Does Spec Kit Help?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One high-level view before discussing the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" y="1847088"/>
            <a:ext cx="2157984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776" y="1847088"/>
            <a:ext cx="64008" cy="228600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984248"/>
            <a:ext cx="1792224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514600"/>
            <a:ext cx="1792224" cy="1508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345"/>
                </a:solidFill>
              </a:defRPr>
            </a:pPr>
            <a:r>
              <a:t>Agree what the story must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2761488"/>
            <a:ext cx="201168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43784" y="1847088"/>
            <a:ext cx="2157984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43784" y="1847088"/>
            <a:ext cx="64008" cy="2286000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6664" y="1984248"/>
            <a:ext cx="1792224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Specify + Clarify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2514600"/>
            <a:ext cx="1792224" cy="1508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345"/>
                </a:solidFill>
              </a:defRPr>
            </a:pPr>
            <a:r>
              <a:t>Record behavior and resolve gaps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2761488"/>
            <a:ext cx="201168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1847088"/>
            <a:ext cx="2157984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1847088"/>
            <a:ext cx="64008" cy="228600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76672" y="1984248"/>
            <a:ext cx="1792224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Plan +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2514600"/>
            <a:ext cx="1792224" cy="1508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345"/>
                </a:solidFill>
              </a:defRPr>
            </a:pPr>
            <a:r>
              <a:t>Decide approach and work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1" y="2761488"/>
            <a:ext cx="201168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1847088"/>
            <a:ext cx="2157984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43800" y="1847088"/>
            <a:ext cx="64008" cy="2286000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1984248"/>
            <a:ext cx="1792224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Analyze + Implement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2514600"/>
            <a:ext cx="1792224" cy="1508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345"/>
                </a:solidFill>
              </a:defRPr>
            </a:pPr>
            <a:r>
              <a:t>Check consistency and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761488"/>
            <a:ext cx="201168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93808" y="1847088"/>
            <a:ext cx="2157984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93808" y="1847088"/>
            <a:ext cx="64008" cy="228600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76688" y="1984248"/>
            <a:ext cx="1792224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Review +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76688" y="2514600"/>
            <a:ext cx="1792224" cy="1508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3345"/>
                </a:solidFill>
              </a:defRPr>
            </a:pPr>
            <a:r>
              <a:t>Validate through normal controls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736592"/>
            <a:ext cx="10698480" cy="5943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Spec Kit provides prompts, commands and Markdown-based artifacts inside the developer workflow, including GitHub Copilot.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Different SDD tools may vary in commands, but follow a similar structured-development pattern.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We Already Have Scrum — Where Does SDD Fit?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A small change inside the existing delivery process, not a new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" y="1719072"/>
            <a:ext cx="2084831" cy="73152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01952"/>
            <a:ext cx="1938528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E2A52"/>
                </a:solidFill>
              </a:defRPr>
            </a:pPr>
            <a:r>
              <a:t>ADO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883664"/>
            <a:ext cx="210312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16936" y="1719072"/>
            <a:ext cx="2084831" cy="73152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1901952"/>
            <a:ext cx="1938528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E2A52"/>
                </a:solidFill>
              </a:defRPr>
            </a:pPr>
            <a:r>
              <a:t>Refinement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83664"/>
            <a:ext cx="210312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48655" y="1719072"/>
            <a:ext cx="2084831" cy="73152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7" y="1901952"/>
            <a:ext cx="1938528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E2A52"/>
                </a:solidFill>
              </a:defRPr>
            </a:pPr>
            <a:r>
              <a:t>Sprint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1883664"/>
            <a:ext cx="210312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0375" y="1719072"/>
            <a:ext cx="2084831" cy="73152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7" y="1901952"/>
            <a:ext cx="1938528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E2A52"/>
                </a:solidFill>
              </a:defRPr>
            </a:pPr>
            <a:r>
              <a:t>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1883664"/>
            <a:ext cx="210312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12096" y="1719072"/>
            <a:ext cx="2084831" cy="731520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1901952"/>
            <a:ext cx="1938528" cy="365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0E2A52"/>
                </a:solidFill>
              </a:defRPr>
            </a:pPr>
            <a:r>
              <a:t>Test / PR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2953512"/>
            <a:ext cx="2779776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26080" y="2953512"/>
            <a:ext cx="64008" cy="16459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090672"/>
            <a:ext cx="2414016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Clarify in refinement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621024"/>
            <a:ext cx="2414016" cy="8686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345"/>
                </a:solidFill>
              </a:defRPr>
            </a:pPr>
            <a:r>
              <a:t>Resolve material questions before committing the story.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953512"/>
            <a:ext cx="2788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2953512"/>
            <a:ext cx="64008" cy="1645920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3090672"/>
            <a:ext cx="242316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Structure development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621024"/>
            <a:ext cx="2423160" cy="8686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345"/>
                </a:solidFill>
              </a:defRPr>
            </a:pPr>
            <a:r>
              <a:t>Plan, check and implement against the agreed spec.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57784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66013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Scrum, ADO, BA/PO/QA roles, code review and testing remain in 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A Real Todo Story — What SDD Exposed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US-904674 • Due Date &amp; Overdue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E2A52"/>
                </a:solidFill>
              </a:defRPr>
            </a:pPr>
            <a:r>
              <a:t>A story looked ready, but two important business decisions were still open.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67712"/>
            <a:ext cx="516636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267712"/>
            <a:ext cx="64008" cy="2487168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04872"/>
            <a:ext cx="480060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Question 1 — Overdue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35224"/>
            <a:ext cx="4800600" cy="170992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When exactly does a Todo become overdue: at the start of the next day, at a specific time, or by another business-calendar rule?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267712"/>
            <a:ext cx="516636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2267712"/>
            <a:ext cx="64008" cy="2487168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2404872"/>
            <a:ext cx="480060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Question 2 — Where is it shown?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935224"/>
            <a:ext cx="4800600" cy="170992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Should users find overdue Todos in the existing list, through a separate filter, or both?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The questions stayed open for the PO/business owner; the tool did not invent an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A Real DocNav Feature — A Retry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Title Automation • Adaptive Workflow activity • Spec Kit /clarify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56692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E2A52"/>
                </a:solidFill>
              </a:defRPr>
            </a:pPr>
            <a:r>
              <a:t>Spec Kit identified a technical ambiguity before the team finalized the implementation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240280"/>
            <a:ext cx="5248656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2240280"/>
            <a:ext cx="64008" cy="260604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377440"/>
            <a:ext cx="4882896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The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907792"/>
            <a:ext cx="4882896" cy="18288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If the same document is submitted again using the same idempotency key, should the activity create another DocNav job or reuse an earlier result?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240280"/>
            <a:ext cx="5248656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2240280"/>
            <a:ext cx="64008" cy="2606040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2377440"/>
            <a:ext cx="4882896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The design trade-off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907792"/>
            <a:ext cx="4882896" cy="182880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Fresh submission keeps the activity stateless; reuse requires stored results and duplicate detection. Spec Kit recommended leaving deduplication to the orchestrator.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Evidence of early issue discovery — a recommendation is not the same as an approved design decision.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What We Learned from Another Team Using Spec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Questions emerged during Commitment Typing’s own hands-on adoption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44752"/>
            <a:ext cx="5349240" cy="1115568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636776"/>
            <a:ext cx="402336" cy="38404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600200"/>
            <a:ext cx="4489704" cy="8229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Initialize once for the repository, or separately for each project?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444752"/>
            <a:ext cx="5349240" cy="1115568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36776"/>
            <a:ext cx="402336" cy="38404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600200"/>
            <a:ext cx="4489704" cy="8229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One Constitution for the repo, or multiple?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43784"/>
            <a:ext cx="5349240" cy="1115568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035808"/>
            <a:ext cx="402336" cy="38404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999232"/>
            <a:ext cx="4489704" cy="8229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If Analyze finds a gap, should Constitution change?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843784"/>
            <a:ext cx="5349240" cy="1115568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3035808"/>
            <a:ext cx="402336" cy="38404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999232"/>
            <a:ext cx="4489704" cy="8229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Should testing defects be added to Constitution?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42816"/>
            <a:ext cx="5349240" cy="1115568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4434840"/>
            <a:ext cx="402336" cy="38404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398264"/>
            <a:ext cx="4489704" cy="8229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What does the Governance section mean?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4242816"/>
            <a:ext cx="5349240" cy="1115568"/>
          </a:xfrm>
          <a:prstGeom prst="roundRect">
            <a:avLst/>
          </a:prstGeom>
          <a:solidFill>
            <a:srgbClr val="F4F8FB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434840"/>
            <a:ext cx="402336" cy="38404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C497E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398264"/>
            <a:ext cx="4489704" cy="8229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33345"/>
                </a:solidFill>
              </a:defRPr>
            </a:pPr>
            <a:r>
              <a:t>Why did a Constitution rule block implementation? Who approves?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33872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916168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Hands-on usage → real questions → reusable adoption guidance.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How Can a Project Team Try SDD?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Start with one suitable user story, within normal Scrum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755648"/>
            <a:ext cx="2167128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755648"/>
            <a:ext cx="64008" cy="30175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92807"/>
            <a:ext cx="18013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1. Choose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23160"/>
            <a:ext cx="1801368" cy="22402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345"/>
                </a:solidFill>
              </a:defRPr>
            </a:pPr>
            <a:r>
              <a:t>Pick a story with behavior or design decisions worth clarifying.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6" y="1755648"/>
            <a:ext cx="2167128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1216" y="1755648"/>
            <a:ext cx="64008" cy="3017520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1892807"/>
            <a:ext cx="18013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2. Clarify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2423160"/>
            <a:ext cx="1801368" cy="22402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345"/>
                </a:solidFill>
              </a:defRPr>
            </a:pPr>
            <a:r>
              <a:t>Work with BA/PO to resolve important questions.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1755648"/>
            <a:ext cx="2167128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1755648"/>
            <a:ext cx="64008" cy="30175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892807"/>
            <a:ext cx="18013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3.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423160"/>
            <a:ext cx="1801368" cy="22402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345"/>
                </a:solidFill>
              </a:defRPr>
            </a:pPr>
            <a:r>
              <a:t>Check the proposed changes against existing architecture.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1755648"/>
            <a:ext cx="2167128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52944" y="1755648"/>
            <a:ext cx="64008" cy="3017520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35823" y="1892807"/>
            <a:ext cx="18013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4. Implement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3" y="2423160"/>
            <a:ext cx="1801368" cy="22402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345"/>
                </a:solidFill>
              </a:defRPr>
            </a:pPr>
            <a:r>
              <a:t>Use Spec Kit support while following normal engineering practices.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93808" y="1755648"/>
            <a:ext cx="2167128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93808" y="1755648"/>
            <a:ext cx="64008" cy="301752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6688" y="1892807"/>
            <a:ext cx="180136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5. 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6688" y="2423160"/>
            <a:ext cx="1801368" cy="224027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3345"/>
                </a:solidFill>
              </a:defRPr>
            </a:pPr>
            <a:r>
              <a:t>Review against the spec; test and use normal PR controls.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No separate SDD sprint. No requirement to use the full process for every small change.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You Will Not Have to Figure This Out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EA will share its experience and help project teams get started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55448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" y="1554480"/>
            <a:ext cx="64008" cy="338328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691639"/>
            <a:ext cx="315468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What we can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221991"/>
            <a:ext cx="3154680" cy="260604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Practical adoption guidelines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Todo and DocNav examples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Existing AMA/session recordings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Lessons from hands-on usage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55448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554480"/>
            <a:ext cx="64008" cy="3383280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691639"/>
            <a:ext cx="315468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How we will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221991"/>
            <a:ext cx="3154680" cy="260604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Follow-up team walkthroughs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Explain how SDD fits in Scrum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Discuss project-specific questions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Help select an initial pilot 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55448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554480"/>
            <a:ext cx="64008" cy="338328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1" y="1691639"/>
            <a:ext cx="315468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What managers can 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2221991"/>
            <a:ext cx="3154680" cy="260604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Bring relevant team members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Share concerns and constraints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Identify a suitable pilot project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Give feedback on the approach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EA-led enablement, not “read the documentation and work it out yourself.”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Practical Questions Before a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Start small and learn from actual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72768"/>
            <a:ext cx="52578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72768"/>
            <a:ext cx="64008" cy="3429000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709928"/>
            <a:ext cx="489204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Common concerns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40280"/>
            <a:ext cx="4892040" cy="2651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Will this disrupt Scrum or ADO?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Is every story expected to use SDD?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What about token consumption?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Who answers unclear business questions?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How much extra review and testing?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72768"/>
            <a:ext cx="52578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72768"/>
            <a:ext cx="64008" cy="3429000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09928"/>
            <a:ext cx="4892040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Our practical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80"/>
            <a:ext cx="4892040" cy="265176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Keep existing delivery controls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Select one manageable story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Clarify before generating code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Measure effort and outcomes during pilot</a:t>
            </a:r>
          </a:p>
          <a:p>
            <a:pPr>
              <a:spcAft>
                <a:spcPts val="700"/>
              </a:spcAft>
              <a:defRPr sz="1700" b="0">
                <a:solidFill>
                  <a:srgbClr val="233345"/>
                </a:solidFill>
              </a:defRPr>
            </a:pPr>
            <a:r>
              <a:t>• Use team and manager feedback to refine guidance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9788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98017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We have practical evidence, but no verified organization-wide speed or token-saving metric.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3385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"/>
            <a:ext cx="10332720" cy="5029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FFFFF"/>
                </a:solidFill>
              </a:defRPr>
            </a:pPr>
            <a:r>
              <a:t>What We Need From Managers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77240"/>
            <a:ext cx="10515600" cy="2468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DBE8F3"/>
                </a:solidFill>
              </a:defRPr>
            </a:pPr>
            <a:r>
              <a:t>Feedback first; then EA will engage the project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8229600" cy="16459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B7C"/>
                </a:solidFill>
              </a:defRPr>
            </a:pPr>
            <a:r>
              <a:t>SDD / Spec Kit • Manager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83680"/>
            <a:ext cx="411480" cy="1828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B6B7C"/>
                </a:solidFill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92224"/>
            <a:ext cx="3584448" cy="3182112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792224"/>
            <a:ext cx="64008" cy="3182112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29384"/>
            <a:ext cx="321868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1. Your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59736"/>
            <a:ext cx="3218688" cy="240487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Does this fit your project? What concerns or constraints do you see?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9432" y="1792224"/>
            <a:ext cx="3584448" cy="3182112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9432" y="1792224"/>
            <a:ext cx="64008" cy="3182112"/>
          </a:xfrm>
          <a:prstGeom prst="rect">
            <a:avLst/>
          </a:prstGeom>
          <a:solidFill>
            <a:srgbClr val="1C497E"/>
          </a:solidFill>
          <a:ln>
            <a:solidFill>
              <a:srgbClr val="1C4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1929384"/>
            <a:ext cx="321868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2. Team walkthrough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459736"/>
            <a:ext cx="3218688" cy="240487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EA will schedule a follow-up session; please involve relevant team members.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792224"/>
            <a:ext cx="3584448" cy="3182112"/>
          </a:xfrm>
          <a:prstGeom prst="roundRect">
            <a:avLst/>
          </a:prstGeom>
          <a:solidFill>
            <a:srgbClr val="FFFFFF"/>
          </a:solidFill>
          <a:ln>
            <a:solidFill>
              <a:srgbClr val="DC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85632" y="1792224"/>
            <a:ext cx="64008" cy="3182112"/>
          </a:xfrm>
          <a:prstGeom prst="rect">
            <a:avLst/>
          </a:prstGeom>
          <a:solidFill>
            <a:srgbClr val="8BC320"/>
          </a:solidFill>
          <a:ln>
            <a:solidFill>
              <a:srgbClr val="8BC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1" y="1929384"/>
            <a:ext cx="3218688" cy="41148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E2A52"/>
                </a:solidFill>
              </a:defRPr>
            </a:pPr>
            <a:r>
              <a:t>3. Pilot confirmation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1" y="2459736"/>
            <a:ext cx="3218688" cy="240487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33345"/>
                </a:solidFill>
              </a:defRPr>
            </a:pPr>
            <a:r>
              <a:t>Identify or confirm suitable projects and a manageable first 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15000"/>
            <a:ext cx="11064240" cy="438912"/>
          </a:xfrm>
          <a:prstGeom prst="roundRect">
            <a:avLst/>
          </a:prstGeom>
          <a:solidFill>
            <a:srgbClr val="0E2A52"/>
          </a:solidFill>
          <a:ln>
            <a:solidFill>
              <a:srgbClr val="0E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797296"/>
            <a:ext cx="10789920" cy="2926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</a:defRPr>
            </a:pPr>
            <a:r>
              <a:t>Our next step is a practical team session, followed by a small pilot with agreed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