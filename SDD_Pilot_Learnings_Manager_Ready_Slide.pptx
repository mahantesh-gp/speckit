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50" b="1">
                <a:solidFill>
                  <a:srgbClr val="1B2F4B"/>
                </a:solidFill>
                <a:latin typeface="Aptos"/>
              </a:rPr>
              <a:t>What We Learned From the Todo SDD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774"/>
                </a:solidFill>
                <a:latin typeface="Aptos"/>
              </a:rPr>
              <a:t>Practical guidance for a Scrum team adopting SDD — based on what we observed, not framework theory.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21808" cy="1261872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1591056"/>
            <a:ext cx="475488" cy="475488"/>
          </a:xfrm>
          <a:prstGeom prst="roundRect">
            <a:avLst/>
          </a:prstGeom>
          <a:solidFill>
            <a:srgbClr val="2B7A52"/>
          </a:solidFill>
          <a:ln>
            <a:solidFill>
              <a:srgbClr val="2B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9105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36192"/>
            <a:ext cx="4251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1">
                <a:solidFill>
                  <a:srgbClr val="1B2F4B"/>
                </a:solidFill>
                <a:latin typeface="Aptos"/>
              </a:rPr>
              <a:t>Use SDD selectively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38528"/>
            <a:ext cx="4251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32A31"/>
                </a:solidFill>
                <a:latin typeface="Aptos"/>
              </a:rPr>
              <a:t>Icon-only UI change showed that a simple, localized story can stay on the normal development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89888"/>
            <a:ext cx="5321808" cy="1261872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2512" y="1591056"/>
            <a:ext cx="475488" cy="475488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9105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536192"/>
            <a:ext cx="4251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1">
                <a:solidFill>
                  <a:srgbClr val="1B2F4B"/>
                </a:solidFill>
                <a:latin typeface="Aptos"/>
              </a:rPr>
              <a:t>Clarify before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938528"/>
            <a:ext cx="4251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32A31"/>
                </a:solidFill>
                <a:latin typeface="Aptos"/>
              </a:rPr>
              <a:t>UX &amp; Pagination surfaced four behavioral decisions before implementation started.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16352"/>
            <a:ext cx="5321808" cy="1261872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3017520"/>
            <a:ext cx="475488" cy="475488"/>
          </a:xfrm>
          <a:prstGeom prst="roundRect">
            <a:avLst/>
          </a:prstGeom>
          <a:solidFill>
            <a:srgbClr val="B57820"/>
          </a:solidFill>
          <a:ln>
            <a:solidFill>
              <a:srgbClr val="B5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01752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62656"/>
            <a:ext cx="4251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1">
                <a:solidFill>
                  <a:srgbClr val="1B2F4B"/>
                </a:solidFill>
                <a:latin typeface="Aptos"/>
              </a:rPr>
              <a:t>AI should expose gaps — not invent business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64992"/>
            <a:ext cx="4251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32A31"/>
                </a:solidFill>
                <a:latin typeface="Aptos"/>
              </a:rPr>
              <a:t>Due Date &amp; Overdue kept unresolved behavior as Outstanding Questions until the right stakeholder could decide.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16352"/>
            <a:ext cx="5321808" cy="1261872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3017520"/>
            <a:ext cx="475488" cy="475488"/>
          </a:xfrm>
          <a:prstGeom prst="roundRect">
            <a:avLst/>
          </a:prstGeom>
          <a:solidFill>
            <a:srgbClr val="2B7A52"/>
          </a:solidFill>
          <a:ln>
            <a:solidFill>
              <a:srgbClr val="2B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01752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962656"/>
            <a:ext cx="4251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1">
                <a:solidFill>
                  <a:srgbClr val="1B2F4B"/>
                </a:solidFill>
                <a:latin typeface="Aptos"/>
              </a:rPr>
              <a:t>Keep ADO authoritative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3364992"/>
            <a:ext cx="4251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32A31"/>
                </a:solidFill>
                <a:latin typeface="Aptos"/>
              </a:rPr>
              <a:t>Business decisions and Acceptance Criteria remain in the team's existing system of record; the spec stays synchronized.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42816"/>
            <a:ext cx="5321808" cy="1261872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" y="4443983"/>
            <a:ext cx="475488" cy="475488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443983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389120"/>
            <a:ext cx="4251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1">
                <a:solidFill>
                  <a:srgbClr val="1B2F4B"/>
                </a:solidFill>
                <a:latin typeface="Aptos"/>
              </a:rPr>
              <a:t>A shared feature does not mean one developer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791455"/>
            <a:ext cx="4251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32A31"/>
                </a:solidFill>
                <a:latin typeface="Aptos"/>
              </a:rPr>
              <a:t>Complete + Delete can share capability context while ADO keeps separate story ownership and Git keeps normal collaboration.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42816"/>
            <a:ext cx="5321808" cy="1261872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82512" y="4443983"/>
            <a:ext cx="475488" cy="475488"/>
          </a:xfrm>
          <a:prstGeom prst="roundRect">
            <a:avLst/>
          </a:prstGeom>
          <a:solidFill>
            <a:srgbClr val="2B7A52"/>
          </a:solidFill>
          <a:ln>
            <a:solidFill>
              <a:srgbClr val="2B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443983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4389120"/>
            <a:ext cx="4251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1">
                <a:solidFill>
                  <a:srgbClr val="1B2F4B"/>
                </a:solidFill>
                <a:latin typeface="Aptos"/>
              </a:rPr>
              <a:t>Fit SDD into Scrum — don't redesign Scrum around the tool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791455"/>
            <a:ext cx="4251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32A31"/>
                </a:solidFill>
                <a:latin typeface="Aptos"/>
              </a:rPr>
              <a:t>Use SDD around refinement and development where it adds value; keep existing planning, QA, PR and governance.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33872"/>
            <a:ext cx="10561320" cy="530352"/>
          </a:xfrm>
          <a:prstGeom prst="roundRect">
            <a:avLst/>
          </a:prstGeom>
          <a:solidFill>
            <a:srgbClr val="EFF4F9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934456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3069A4"/>
                </a:solidFill>
                <a:latin typeface="Aptos"/>
              </a:rPr>
              <a:t>Pilot conclusion: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879592"/>
            <a:ext cx="8732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1">
                <a:solidFill>
                  <a:srgbClr val="1B2F4B"/>
                </a:solidFill>
                <a:latin typeface="Aptos"/>
              </a:rPr>
              <a:t>SDD is most useful as a selective reasoning layer inside the Scrum process we already follow — real project teams should now validate and refine these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