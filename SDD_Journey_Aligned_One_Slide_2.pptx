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D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60936" y="0"/>
            <a:ext cx="128016" cy="6858000"/>
          </a:xfrm>
          <a:prstGeom prst="rect">
            <a:avLst/>
          </a:prstGeom>
          <a:solidFill>
            <a:srgbClr val="8AC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301752"/>
            <a:ext cx="9784080" cy="5760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Journey to Structured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47472"/>
            <a:ext cx="123444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673352"/>
            <a:ext cx="2084832" cy="3950208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673352"/>
            <a:ext cx="50292" cy="3950208"/>
          </a:xfrm>
          <a:prstGeom prst="rect">
            <a:avLst/>
          </a:prstGeom>
          <a:solidFill>
            <a:srgbClr val="8AC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65376"/>
            <a:ext cx="1755648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D6974"/>
                </a:solidFill>
                <a:latin typeface="Aptos"/>
              </a:defRPr>
            </a:pPr>
            <a:r>
              <a:t>PHASE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49424"/>
            <a:ext cx="1746504" cy="6583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4303D"/>
                </a:solidFill>
                <a:latin typeface="Aptos"/>
              </a:defRPr>
            </a:pPr>
            <a:r>
              <a:t>AI Ad-Hoc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99816"/>
            <a:ext cx="1737360" cy="1828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  <a:r>
              <a:t>Developer productivity gains without uniform team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5020056"/>
            <a:ext cx="1737360" cy="13716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138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246D99"/>
                </a:solidFill>
                <a:latin typeface="Aptos"/>
              </a:defRPr>
            </a:pPr>
            <a:r>
              <a:t>Individual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673352"/>
            <a:ext cx="2084832" cy="3950208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673352"/>
            <a:ext cx="50292" cy="3950208"/>
          </a:xfrm>
          <a:prstGeom prst="rect">
            <a:avLst/>
          </a:prstGeom>
          <a:solidFill>
            <a:srgbClr val="8AC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865376"/>
            <a:ext cx="1755648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D6974"/>
                </a:solidFill>
                <a:latin typeface="Aptos"/>
              </a:defRPr>
            </a:pPr>
            <a:r>
              <a:t>PHASE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249424"/>
            <a:ext cx="1746504" cy="6583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4303D"/>
                </a:solidFill>
                <a:latin typeface="Aptos"/>
              </a:defRPr>
            </a:pPr>
            <a:r>
              <a:t>BMAD Brownfield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099816"/>
            <a:ext cx="1737360" cy="1828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  <a:r>
              <a:t>Claims / CPS Docs: BMAD applied to existing-code work.</a:t>
            </a:r>
          </a:p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  <a:r>
              <a:t>BMAD is also being used in Title Automation.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8376" y="5020056"/>
            <a:ext cx="1737360" cy="13716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08376" y="5138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246D99"/>
                </a:solidFill>
                <a:latin typeface="Aptos"/>
              </a:defRPr>
            </a:pPr>
            <a:r>
              <a:t>Context to confirm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6632" y="1673352"/>
            <a:ext cx="2084832" cy="3950208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6632" y="1673352"/>
            <a:ext cx="50292" cy="3950208"/>
          </a:xfrm>
          <a:prstGeom prst="rect">
            <a:avLst/>
          </a:prstGeom>
          <a:solidFill>
            <a:srgbClr val="8AC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1865376"/>
            <a:ext cx="1755648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D6974"/>
                </a:solidFill>
                <a:latin typeface="Aptos"/>
              </a:defRPr>
            </a:pPr>
            <a:r>
              <a:t>PHASE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249424"/>
            <a:ext cx="1746504" cy="6583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4303D"/>
                </a:solidFill>
                <a:latin typeface="Aptos"/>
              </a:defRPr>
            </a:pPr>
            <a:r>
              <a:t>Spec Kit Greenfield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99816"/>
            <a:ext cx="1737360" cy="1828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  <a:r>
              <a:t>Todo pilot mapped the complete end-to-end Spec-Kit lifecycle.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5020056"/>
            <a:ext cx="1737360" cy="13716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0368" y="5138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246D99"/>
                </a:solidFill>
                <a:latin typeface="Aptos"/>
              </a:defRPr>
            </a:pPr>
            <a:r>
              <a:t>Lifecycle proven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8624" y="1673352"/>
            <a:ext cx="2084832" cy="3950208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1673352"/>
            <a:ext cx="50292" cy="3950208"/>
          </a:xfrm>
          <a:prstGeom prst="rect">
            <a:avLst/>
          </a:prstGeom>
          <a:solidFill>
            <a:srgbClr val="8AC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1865376"/>
            <a:ext cx="1755648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D6974"/>
                </a:solidFill>
                <a:latin typeface="Aptos"/>
              </a:defRPr>
            </a:pPr>
            <a:r>
              <a:t>PHASE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249424"/>
            <a:ext cx="1746504" cy="6583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4303D"/>
                </a:solidFill>
                <a:latin typeface="Aptos"/>
              </a:defRPr>
            </a:pPr>
            <a:r>
              <a:t>Enterprise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099816"/>
            <a:ext cx="1737360" cy="1828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  <a:r>
              <a:t>Title Automation integration with DocNav as feature implementation using Spec-Kit.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5020056"/>
            <a:ext cx="1737360" cy="13716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138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246D99"/>
                </a:solidFill>
                <a:latin typeface="Aptos"/>
              </a:defRPr>
            </a:pPr>
            <a:r>
              <a:t>Brownfield proof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0616" y="1673352"/>
            <a:ext cx="2084832" cy="3950208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0616" y="1673352"/>
            <a:ext cx="50292" cy="3950208"/>
          </a:xfrm>
          <a:prstGeom prst="rect">
            <a:avLst/>
          </a:prstGeom>
          <a:solidFill>
            <a:srgbClr val="8AC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74352" y="1865376"/>
            <a:ext cx="1755648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5D6974"/>
                </a:solidFill>
                <a:latin typeface="Aptos"/>
              </a:defRPr>
            </a:pPr>
            <a:r>
              <a:t>PHASE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2249424"/>
            <a:ext cx="1746504" cy="6583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4303D"/>
                </a:solidFill>
                <a:latin typeface="Aptos"/>
              </a:defRPr>
            </a:pPr>
            <a:r>
              <a:t>Reusable Guidelines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099816"/>
            <a:ext cx="1737360" cy="1828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D6974"/>
                </a:solidFill>
                <a:latin typeface="Aptos"/>
              </a:defRPr>
            </a:pPr>
            <a:r>
              <a:t>Practical guidelines, project examples and learnings to help teams choose and use SDD appropriately.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74352" y="5020056"/>
            <a:ext cx="1737360" cy="13716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2" y="5138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246D99"/>
                </a:solidFill>
                <a:latin typeface="Aptos"/>
              </a:defRPr>
            </a:pPr>
            <a:r>
              <a:t>Reusable guidance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916168"/>
            <a:ext cx="50292" cy="484632"/>
          </a:xfrm>
          <a:prstGeom prst="rect">
            <a:avLst/>
          </a:prstGeom>
          <a:solidFill>
            <a:srgbClr val="246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" y="594360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4303D"/>
                </a:solidFill>
                <a:latin typeface="Aptos"/>
              </a:defRPr>
            </a:pPr>
            <a:r>
              <a:t>The Paradigm Shift: Transitioning from individual developer prompt hacks to an audited, repeatable engineering discipline.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