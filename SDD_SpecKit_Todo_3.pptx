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D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D48"/>
          </a:solidFill>
          <a:ln w="12700">
            <a:solidFill>
              <a:srgbClr val="162D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B8EA3D"/>
          </a:solidFill>
          <a:ln w="12700">
            <a:solidFill>
              <a:srgbClr val="B8EA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972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EA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FNF India - ADM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— Todo Pilot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8E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Simplified Scrum view: where SDD helps, what Todo proved, and what we validate next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3182112"/>
            <a:ext cx="7132320" cy="0"/>
          </a:xfrm>
          <a:prstGeom prst="line">
            <a:avLst/>
          </a:prstGeom>
          <a:noFill/>
          <a:ln w="38100">
            <a:solidFill>
              <a:srgbClr val="B8E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86200"/>
            <a:ext cx="9875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an existing Scrum team asking: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“Where can I use SDD without changing my whole process?”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61081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8E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Mahantesh G Pujar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6960" y="61081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D8E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Manager Asked Us to Simplify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from the audience perspective: developers, testers and managers already following Scrum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383280" cy="34747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B7A53"/>
                </a:solidFill>
              </a:rPr>
              <a:t>The real question
</a:t>
            </a:r>
            <a:pPr indent="0" marL="0">
              <a:buNone/>
            </a:pPr>
            <a:r>
              <a:rPr lang="en-US" sz="1800" dirty="0">
                <a:solidFill>
                  <a:srgbClr val="1E242A"/>
                </a:solidFill>
              </a:rPr>
              <a:t>“I follow Scrum today. Where exactly can I use SDD, and why should I care?”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389120" y="1417320"/>
            <a:ext cx="3383280" cy="34747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So the deck must show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where SDD fits before Sprint Planning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what happens during Sprint Execution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who decides unresolved questions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what changes for Dev / Tester / Manager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1417320"/>
            <a:ext cx="3383280" cy="347472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And it must avoid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too many framework commands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too much theory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claiming more than the Todo pilot proved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replacing ADO/Scrum governance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544068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 rule: Principle → Real Todo example → What we learned → Proposed team practice.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SDD Fits in Normal Scrum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is inserted into refinement and sprint execution; ADO/Scrum remains the outer process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0"/>
            <a:ext cx="1965960" cy="1051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6AA6"/>
                </a:solidFill>
              </a:rPr>
              <a:t>Requirement / ADO Story
</a:t>
            </a:r>
            <a:pPr indent="0" marL="0">
              <a:buNone/>
            </a:pPr>
            <a:r>
              <a:rPr lang="en-US" sz="950" dirty="0">
                <a:solidFill>
                  <a:srgbClr val="1E242A"/>
                </a:solidFill>
              </a:rPr>
              <a:t>Normal Scrum input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2084832"/>
            <a:ext cx="22860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807208" y="1554480"/>
            <a:ext cx="1965960" cy="105156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7A53"/>
                </a:solidFill>
              </a:rPr>
              <a:t>Backlog Refinement
</a:t>
            </a:r>
            <a:pPr indent="0" marL="0">
              <a:buNone/>
            </a:pPr>
            <a:r>
              <a:rPr lang="en-US" sz="950" dirty="0">
                <a:solidFill>
                  <a:srgbClr val="1E242A"/>
                </a:solidFill>
              </a:rPr>
              <a:t>SDD can surface ambiguity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91456" y="2084832"/>
            <a:ext cx="22860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5111496" y="1554480"/>
            <a:ext cx="1965960" cy="1051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6AA6"/>
                </a:solidFill>
              </a:rPr>
              <a:t>Sprint Planning
</a:t>
            </a:r>
            <a:pPr indent="0" marL="0">
              <a:buNone/>
            </a:pPr>
            <a:r>
              <a:rPr lang="en-US" sz="950" dirty="0">
                <a:solidFill>
                  <a:srgbClr val="1E242A"/>
                </a:solidFill>
              </a:rPr>
              <a:t>Only ready stories enter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095744" y="2084832"/>
            <a:ext cx="22860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7415784" y="1554480"/>
            <a:ext cx="1965960" cy="105156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B7A53"/>
                </a:solidFill>
              </a:rPr>
              <a:t>Sprint Execution
</a:t>
            </a:r>
            <a:pPr indent="0" marL="0">
              <a:buNone/>
            </a:pPr>
            <a:r>
              <a:rPr lang="en-US" sz="950" dirty="0">
                <a:solidFill>
                  <a:srgbClr val="1E242A"/>
                </a:solidFill>
              </a:rPr>
              <a:t>SDD can guide implementation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400032" y="2084832"/>
            <a:ext cx="22860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720072" y="1554480"/>
            <a:ext cx="1965960" cy="10515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6AA6"/>
                </a:solidFill>
              </a:rPr>
              <a:t>Test / Review / PR
</a:t>
            </a:r>
            <a:pPr indent="0" marL="0">
              <a:buNone/>
            </a:pPr>
            <a:r>
              <a:rPr lang="en-US" sz="950" dirty="0">
                <a:solidFill>
                  <a:srgbClr val="1E242A"/>
                </a:solidFill>
              </a:rPr>
              <a:t>Normal governance remains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3154680" cy="132588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Before Sprint Planning
</a:t>
            </a:r>
            <a:pPr indent="0" marL="0">
              <a:buNone/>
            </a:pPr>
            <a:r>
              <a:rPr lang="en-US" sz="1200" dirty="0">
                <a:solidFill>
                  <a:srgbClr val="1E242A"/>
                </a:solidFill>
              </a:rPr>
              <a:t>Use SDD to clarify WHAT/WHY and expose missing decisions early.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337560"/>
            <a:ext cx="3154680" cy="132588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During Sprint
</a:t>
            </a:r>
            <a:pPr indent="0" marL="0">
              <a:buNone/>
            </a:pPr>
            <a:r>
              <a:rPr lang="en-US" sz="1200" dirty="0">
                <a:solidFill>
                  <a:srgbClr val="1E242A"/>
                </a:solidFill>
              </a:rPr>
              <a:t>Use SDD for Plan → Tasks → Analyze → Implement → Converge when it adds value.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337560"/>
            <a:ext cx="3154680" cy="132588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Always Remains
</a:t>
            </a:r>
            <a:pPr indent="0" marL="0">
              <a:buNone/>
            </a:pPr>
            <a:r>
              <a:rPr lang="en-US" sz="1200" dirty="0">
                <a:solidFill>
                  <a:srgbClr val="1E242A"/>
                </a:solidFill>
              </a:rPr>
              <a:t>ADO tracking, BA/PO authority, QA, PR review and team governance.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166360"/>
            <a:ext cx="1234440" cy="292608"/>
          </a:xfrm>
          <a:prstGeom prst="roundRect">
            <a:avLst/>
          </a:prstGeom>
          <a:solidFill>
            <a:srgbClr val="2B7A53"/>
          </a:solidFill>
          <a:ln>
            <a:solidFill>
              <a:srgbClr val="2B7A53"/>
            </a:solidFill>
          </a:ln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TODO EXAMPLE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40280" y="512978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E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UX &amp; Pagination: SDD was useful during refinement because the story had unclear edge-case behavior. Icon replacement: normal development was enough.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Todo Example: What SDD Changed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US-904672 — Improve Todo List UX &amp; Pagination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17320"/>
            <a:ext cx="2194560" cy="35661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ADO Story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Improve Todo List UX &amp; Pagination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Acceptance Criteria existed, but important behavior was still not explicit.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16352" y="3154680"/>
            <a:ext cx="201168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063240" y="1417320"/>
            <a:ext cx="2834640" cy="356616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SDD surfaced questions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1. Page size?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2. Last item removed from page?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3. Show page count / item count?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4. Invalid page number?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3154680"/>
            <a:ext cx="201168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172200" y="1417320"/>
            <a:ext cx="2423160" cy="356616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Decisions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10 items/page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move to previous valid page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show current + total pages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clamp invalid page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31936" y="3154680"/>
            <a:ext cx="210312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869680" y="1417320"/>
            <a:ext cx="2606040" cy="35661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Outcome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ADO/AC and spec captured the decisions before implementation, making behavior testable.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takeaway: the value was not “more files.” The value was better requirement clarity before coding.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BA Does Not Have the Answer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business questions open instead of forcing AI or BA to guess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45920"/>
            <a:ext cx="1627632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Dev + BA
Refinement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gap found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48840" y="2295144"/>
            <a:ext cx="18288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368296" y="1645920"/>
            <a:ext cx="1627632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spec.md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Outstanding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Questions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14216" y="2295144"/>
            <a:ext cx="18288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233672" y="1645920"/>
            <a:ext cx="1627632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ADO Story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Question visible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79592" y="2295144"/>
            <a:ext cx="18288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099048" y="1645920"/>
            <a:ext cx="1627632" cy="129844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PO / Business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Answer when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available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44968" y="2295144"/>
            <a:ext cx="18288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7964424" y="1645920"/>
            <a:ext cx="1627632" cy="129844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ADO / AC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Decision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recorded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10344" y="2295144"/>
            <a:ext cx="182880" cy="0"/>
          </a:xfrm>
          <a:prstGeom prst="line">
            <a:avLst/>
          </a:prstGeom>
          <a:noFill/>
          <a:ln w="15240">
            <a:solidFill>
              <a:srgbClr val="5B697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829800" y="1645920"/>
            <a:ext cx="1627632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Spec updated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Ready check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5074920" cy="14173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Todo reference: Due Date &amp; Overdue Tracking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Skipped/unanswered clarification questions remained in spec.md as Outstanding Questions, such as overdue boundary and overdue access behavior.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3703320"/>
            <a:ext cx="5074920" cy="141732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Operating rule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If the answer needs PO/business authority, surface the question in ADO and do not pass readiness until the material question is resolved.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message: AI can ask the right question; PO/business provides the answer.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Should We Use SDD?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 use is the practical path; not every User Story needs a specification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3291840" cy="39319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Use SDD when...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requirement has ambiguity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multiple business rules / scenarios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edge cases matter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cross-component impact exists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technical design needs reasoning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rework risk is meaningful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example: UX &amp; Pagination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34840" y="1417320"/>
            <a:ext cx="3291840" cy="393192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Use normal development when...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change is small/localized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behavior is obvious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no meaningful ambiguity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no major impact/risk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• spec adds overhead without clarity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example: Replace text buttons with icons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83880" y="1417320"/>
            <a:ext cx="3291840" cy="393192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Team decision during refinement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BA + Developer + PO/Lead as applicable assess whether SDD will materially help.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This is not a separate approval gate.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58064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is knowing when to use SDD and when not to use it.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Stories and Multiple Developers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 owns assignment and sprint tracking; SDD feature groups behavior only when it helps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3429000" cy="397764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Default: 1 US → 1 Feature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Use when the story is cohesive and independently implementable/testable.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example: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US-904672 UX &amp; Pagination → one feature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325880"/>
            <a:ext cx="3429000" cy="397764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Allowed: Many US → 1 Feature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Use only when there is capability cohesion + shared reasoning + same delivery window.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example: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Complete + Delete → Todo Lifecycle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83880" y="1325880"/>
            <a:ext cx="3429000" cy="397764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Multi-developer view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One feature can have US1 / US2 phases.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ADO may assign Complete to Dev A and Delete to Dev B. Shared spec changes must be visible to impacted developers.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650992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one ADO story reveals multiple independent capabilities, return to refinement and consider splitting the story first.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Each Audience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Scrum flow becomes clearer for developers, testers, BA/PO and managers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514600" cy="365760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B7A53"/>
                </a:solidFill>
              </a:rPr>
              <a:t>Developer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Gets clearer behavior before coding, implementation guidance where useful, and fewer silent assumptions.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reference: pagination edge cases decided before implementation.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29000" y="1417320"/>
            <a:ext cx="2514600" cy="3657600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E6AA6"/>
                </a:solidFill>
              </a:rPr>
              <a:t>Tester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Gets more explicit scenarios and expected results for edge cases.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reference: invalid page and empty page behavior became testable.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1417320"/>
            <a:ext cx="2514600" cy="3657600"/>
          </a:xfrm>
          <a:prstGeom prst="roundRect">
            <a:avLst/>
          </a:prstGeom>
          <a:solidFill>
            <a:srgbClr val="FFF4E1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57820"/>
                </a:solidFill>
              </a:rPr>
              <a:t>BA / PO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Sees open questions instead of hidden assumptions. Business answers remain authoritative.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reference: overdue questions can stay open for PO response.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15400" y="1417320"/>
            <a:ext cx="2514600" cy="3657600"/>
          </a:xfrm>
          <a:prstGeom prst="roundRect">
            <a:avLst/>
          </a:prstGeom>
          <a:solidFill>
            <a:srgbClr val="EFEAFA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E3AB5"/>
                </a:solidFill>
              </a:rPr>
              <a:t>Manager
</a:t>
            </a:r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Can adopt SDD selectively inside normal sprints and measure value before broader rollout.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1E242A"/>
                </a:solidFill>
              </a:rPr>
              <a:t>Todo reference: SDD + non-SDD stories coexisted.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keeps the story relatable to people already following Scrum.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30352" y="804672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from Todo evidence to controlled real-project validation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12700">
            <a:solidFill>
              <a:srgbClr val="D6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438912" cy="438912"/>
          </a:xfrm>
          <a:prstGeom prst="ellipse">
            <a:avLst/>
          </a:prstGeom>
          <a:solidFill>
            <a:srgbClr val="2E6AA6"/>
          </a:solidFill>
          <a:ln>
            <a:solidFill>
              <a:srgbClr val="2E6A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pilot teams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371600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number of willing teams with existing ADO/Scrum flow and suitable upcoming stories.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267712"/>
            <a:ext cx="438912" cy="438912"/>
          </a:xfrm>
          <a:prstGeom prst="ellipse">
            <a:avLst/>
          </a:prstGeom>
          <a:solidFill>
            <a:srgbClr val="2E6AA6"/>
          </a:solidFill>
          <a:ln>
            <a:solidFill>
              <a:srgbClr val="2E6A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222199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mixed sprints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43400" y="2221992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selected stories use SDD. Simple stories continue normal development.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118104"/>
            <a:ext cx="438912" cy="438912"/>
          </a:xfrm>
          <a:prstGeom prst="ellipse">
            <a:avLst/>
          </a:prstGeom>
          <a:solidFill>
            <a:srgbClr val="2E6AA6"/>
          </a:solidFill>
          <a:ln>
            <a:solidFill>
              <a:srgbClr val="2E6A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07238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evidence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3072384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Clarification gaps, AC changes, rework, Analyze/Converge findings, effort and team experience.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68496"/>
            <a:ext cx="438912" cy="438912"/>
          </a:xfrm>
          <a:prstGeom prst="ellipse">
            <a:avLst/>
          </a:prstGeom>
          <a:solidFill>
            <a:srgbClr val="2E6AA6"/>
          </a:solidFill>
          <a:ln>
            <a:solidFill>
              <a:srgbClr val="2E6A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92277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guidance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43400" y="3922776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findings to update the SDD Operating Guide and walkthrough.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818888"/>
            <a:ext cx="438912" cy="438912"/>
          </a:xfrm>
          <a:prstGeom prst="ellipse">
            <a:avLst/>
          </a:prstGeom>
          <a:solidFill>
            <a:srgbClr val="2E6AA6"/>
          </a:solidFill>
          <a:ln>
            <a:solidFill>
              <a:srgbClr val="2E6A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7731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2D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review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4773168"/>
            <a:ext cx="6812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E2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whether to broaden adoption after real-project evidence.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623560"/>
            <a:ext cx="10424160" cy="54864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D6E0EA"/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B7A53"/>
                </a:solidFill>
              </a:rPr>
              <a:t>Decision ask
</a:t>
            </a:r>
            <a:pPr indent="0" marL="0">
              <a:buNone/>
            </a:pPr>
            <a:r>
              <a:rPr lang="en-US" sz="1100" dirty="0">
                <a:solidFill>
                  <a:srgbClr val="1E242A"/>
                </a:solidFill>
              </a:rPr>
              <a:t>Confirm the direction for selective SDD real-project validation. ADO automation remains future exploration, not a dependency for the next step.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6217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69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SDD Spec-Kit Todo Pilot • simplified Scrum view •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FNF India - ADM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SDD Spec-Kit — Todo Pilot</dc:title>
  <dc:subject>SDD Spec Kit Todo Pilot - simplified Scrum perspective</dc:subject>
  <dc:creator>Mahantesh G Pujar</dc:creator>
  <cp:lastModifiedBy>Mahantesh G Pujar</cp:lastModifiedBy>
  <cp:revision>1</cp:revision>
  <dcterms:created xsi:type="dcterms:W3CDTF">2026-09-04T06:50:44Z</dcterms:created>
  <dcterms:modified xsi:type="dcterms:W3CDTF">2026-09-04T06:50:44Z</dcterms:modified>
</cp:coreProperties>
</file>