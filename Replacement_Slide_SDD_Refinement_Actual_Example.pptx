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162D48"/>
                </a:solidFill>
                <a:latin typeface="Aptos"/>
              </a:defRPr>
            </a:pPr>
            <a:r>
              <a:t>SDD During Refinement — Actual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11556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50" b="0">
                <a:solidFill>
                  <a:srgbClr val="5F6973"/>
                </a:solidFill>
                <a:latin typeface="Aptos"/>
              </a:defRPr>
            </a:pPr>
            <a:r>
              <a:t>Improve Todo List UX &amp; Pagination: /speckit.specify + /speckit.clarify surfaced concrete decisions before development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43000"/>
            <a:ext cx="192024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6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22272E"/>
                </a:solidFill>
                <a:latin typeface="Aptos"/>
              </a:defRPr>
            </a:pPr>
            <a:r>
              <a:t>ADO User Story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70632" y="1143000"/>
            <a:ext cx="192024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58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22272E"/>
                </a:solidFill>
                <a:latin typeface="Aptos"/>
              </a:defRPr>
            </a:pPr>
            <a:r>
              <a:t>/speckit.specify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38344" y="1143000"/>
            <a:ext cx="192024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58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22272E"/>
                </a:solidFill>
                <a:latin typeface="Aptos"/>
              </a:defRPr>
            </a:pPr>
            <a:r>
              <a:t>/speckit.clarify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06055" y="1143000"/>
            <a:ext cx="192024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58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22272E"/>
                </a:solidFill>
                <a:latin typeface="Aptos"/>
              </a:defRPr>
            </a:pPr>
            <a:r>
              <a:t>Team decision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73768" y="1143000"/>
            <a:ext cx="192024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6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22272E"/>
                </a:solidFill>
                <a:latin typeface="Aptos"/>
              </a:defRPr>
            </a:pPr>
            <a:r>
              <a:t>ADO updated / captured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28800"/>
            <a:ext cx="51206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162D48"/>
                </a:solidFill>
                <a:latin typeface="Aptos"/>
              </a:defRPr>
            </a:pPr>
            <a:r>
              <a:t>Original ADO story / acceptance criteria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148840"/>
            <a:ext cx="539496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6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22272E"/>
                </a:solidFill>
                <a:latin typeface="Aptos"/>
              </a:defRPr>
            </a:pPr>
          </a:p>
        </p:txBody>
      </p:sp>
      <p:pic>
        <p:nvPicPr>
          <p:cNvPr id="11" name="Picture 10" descr="image-17882495419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1710" y="2240280"/>
            <a:ext cx="1988819" cy="26517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355080" y="1828800"/>
            <a:ext cx="51206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162D48"/>
                </a:solidFill>
                <a:latin typeface="Aptos"/>
              </a:defRPr>
            </a:pPr>
            <a:r>
              <a:t>Clarification decisions captured back in ADO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148840"/>
            <a:ext cx="539496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58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22272E"/>
                </a:solidFill>
                <a:latin typeface="Aptos"/>
              </a:defRPr>
            </a:pPr>
          </a:p>
        </p:txBody>
      </p:sp>
      <p:pic>
        <p:nvPicPr>
          <p:cNvPr id="14" name="Picture 13" descr="image-178824955407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0990" y="2240280"/>
            <a:ext cx="1988819" cy="265176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548640" y="5257800"/>
            <a:ext cx="2606040" cy="475488"/>
          </a:xfrm>
          <a:prstGeom prst="roundRect">
            <a:avLst/>
          </a:prstGeom>
          <a:solidFill>
            <a:srgbClr val="F1F6FA"/>
          </a:solidFill>
          <a:ln w="12700">
            <a:solidFill>
              <a:srgbClr val="358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22272E"/>
                </a:solidFill>
                <a:latin typeface="Aptos"/>
              </a:defRPr>
            </a:pPr>
            <a:r>
              <a:t>Page size → 10 items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46120" y="5257800"/>
            <a:ext cx="2697480" cy="475488"/>
          </a:xfrm>
          <a:prstGeom prst="roundRect">
            <a:avLst/>
          </a:prstGeom>
          <a:solidFill>
            <a:srgbClr val="F1F6FA"/>
          </a:solidFill>
          <a:ln w="12700">
            <a:solidFill>
              <a:srgbClr val="358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22272E"/>
                </a:solidFill>
                <a:latin typeface="Aptos"/>
              </a:defRPr>
            </a:pPr>
            <a:r>
              <a:t>Empty page → previous page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5257800"/>
            <a:ext cx="2560320" cy="475488"/>
          </a:xfrm>
          <a:prstGeom prst="roundRect">
            <a:avLst/>
          </a:prstGeom>
          <a:solidFill>
            <a:srgbClr val="F1F6FA"/>
          </a:solidFill>
          <a:ln w="12700">
            <a:solidFill>
              <a:srgbClr val="358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22272E"/>
                </a:solidFill>
                <a:latin typeface="Aptos"/>
              </a:defRPr>
            </a:pPr>
            <a:r>
              <a:t>Display → page + total pages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15400" y="5257800"/>
            <a:ext cx="2697480" cy="475488"/>
          </a:xfrm>
          <a:prstGeom prst="roundRect">
            <a:avLst/>
          </a:prstGeom>
          <a:solidFill>
            <a:srgbClr val="F1F6FA"/>
          </a:solidFill>
          <a:ln w="12700">
            <a:solidFill>
              <a:srgbClr val="358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22272E"/>
                </a:solidFill>
                <a:latin typeface="Aptos"/>
              </a:defRPr>
            </a:pPr>
            <a:r>
              <a:t>Invalid page → clamp valid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5989320"/>
            <a:ext cx="10469880" cy="502920"/>
          </a:xfrm>
          <a:prstGeom prst="roundRect">
            <a:avLst/>
          </a:prstGeom>
          <a:solidFill>
            <a:srgbClr val="ECF7F1"/>
          </a:solidFill>
          <a:ln w="12700">
            <a:solidFill>
              <a:srgbClr val="358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50" b="1">
                <a:solidFill>
                  <a:srgbClr val="22272E"/>
                </a:solidFill>
                <a:latin typeface="Aptos"/>
              </a:defRPr>
            </a:pPr>
            <a:r>
              <a:t>Value observed: SDD helped expose behavioural gaps during refinement, so decisions were explicit before implementation instead of being assumed by the developer or AI.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6510528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0">
                <a:solidFill>
                  <a:srgbClr val="5F6973"/>
                </a:solidFill>
                <a:latin typeface="Aptos"/>
              </a:defRPr>
            </a:pPr>
            <a:r>
              <a:t>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