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69848"/>
          </a:xfrm>
          <a:prstGeom prst="rect">
            <a:avLst/>
          </a:prstGeom>
          <a:solidFill>
            <a:srgbClr val="0C2444"/>
          </a:solidFill>
          <a:ln w="12700">
            <a:solidFill>
              <a:srgbClr val="0C2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1069848"/>
          </a:xfrm>
          <a:prstGeom prst="rect">
            <a:avLst/>
          </a:prstGeom>
          <a:solidFill>
            <a:srgbClr val="68B65D"/>
          </a:solidFill>
          <a:ln w="12700">
            <a:solidFill>
              <a:srgbClr val="68B6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" y="21031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SDD Adoption in a Brownfield Project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3776" y="69494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6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rollout choices within the existing SDLC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52728"/>
            <a:ext cx="11183112" cy="704088"/>
          </a:xfrm>
          <a:prstGeom prst="roundRect">
            <a:avLst>
              <a:gd name="adj" fmla="val 18182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80744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5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EXISTING APPLICATION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1362456"/>
            <a:ext cx="7562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current behavior, architecture and regression tests. Apply SDD to changes—not a rewrite.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139696"/>
            <a:ext cx="5193792" cy="309067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39696"/>
            <a:ext cx="5193792" cy="68580"/>
          </a:xfrm>
          <a:prstGeom prst="rect">
            <a:avLst/>
          </a:prstGeom>
          <a:solidFill>
            <a:srgbClr val="24578C"/>
          </a:solidFill>
          <a:ln w="12700">
            <a:solidFill>
              <a:srgbClr val="2457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241401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5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0664" y="2715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Full-team adoption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0664" y="3136392"/>
            <a:ext cx="4507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Coordinated transition across the project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0664" y="3557016"/>
            <a:ext cx="466344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767328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 / PO  •  Architecture  •  Development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" y="4078224"/>
            <a:ext cx="4526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 •  Operations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9808" y="4517136"/>
            <a:ext cx="4507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agreed SDD workflow across active work, with aligned specs, reviews and delivery gates.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07024" y="2139696"/>
            <a:ext cx="5779008" cy="309067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07024" y="2139696"/>
            <a:ext cx="5779008" cy="68580"/>
          </a:xfrm>
          <a:prstGeom prst="rect">
            <a:avLst/>
          </a:prstGeom>
          <a:solidFill>
            <a:srgbClr val="267A55"/>
          </a:solidFill>
          <a:ln w="12700">
            <a:solidFill>
              <a:srgbClr val="267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41401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67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44768" y="27157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Phased adoption</a:t>
            </a:r>
            <a:endParaRPr lang="en-US" sz="2300" dirty="0"/>
          </a:p>
        </p:txBody>
      </p:sp>
      <p:sp>
        <p:nvSpPr>
          <p:cNvPr id="22" name="Shape 20"/>
          <p:cNvSpPr/>
          <p:nvPr/>
        </p:nvSpPr>
        <p:spPr>
          <a:xfrm>
            <a:off x="9729216" y="2670048"/>
            <a:ext cx="1618488" cy="356616"/>
          </a:xfrm>
          <a:prstGeom prst="roundRect">
            <a:avLst>
              <a:gd name="adj" fmla="val 35897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66376" y="27523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7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START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246120"/>
            <a:ext cx="411480" cy="393192"/>
          </a:xfrm>
          <a:prstGeom prst="roundRect">
            <a:avLst>
              <a:gd name="adj" fmla="val 32558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3346704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7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9984" y="32598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first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67928" y="3232404"/>
            <a:ext cx="279806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one module: specs, coding tasks, code review and unit / regression tests.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6181344" y="3767328"/>
            <a:ext cx="5193792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3858768"/>
            <a:ext cx="411480" cy="393192"/>
          </a:xfrm>
          <a:prstGeom prst="roundRect">
            <a:avLst>
              <a:gd name="adj" fmla="val 32558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395935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7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9984" y="38724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Broader delivery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67928" y="3845052"/>
            <a:ext cx="279806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to requirements, architecture, QA / UAT, release and operations.</a:t>
            </a:r>
            <a:endParaRPr lang="en-US" sz="1160" dirty="0"/>
          </a:p>
        </p:txBody>
      </p:sp>
      <p:sp>
        <p:nvSpPr>
          <p:cNvPr id="33" name="Shape 31"/>
          <p:cNvSpPr/>
          <p:nvPr/>
        </p:nvSpPr>
        <p:spPr>
          <a:xfrm>
            <a:off x="6181344" y="4379976"/>
            <a:ext cx="5193792" cy="0"/>
          </a:xfrm>
          <a:prstGeom prst="line">
            <a:avLst/>
          </a:prstGeom>
          <a:noFill/>
          <a:ln w="12700">
            <a:solidFill>
              <a:srgbClr val="E6EB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4471416"/>
            <a:ext cx="411480" cy="393192"/>
          </a:xfrm>
          <a:prstGeom prst="roundRect">
            <a:avLst>
              <a:gd name="adj" fmla="val 32558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4572000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7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9984" y="44851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across teams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567928" y="4457700"/>
            <a:ext cx="279806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B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quality, rework and adoption effort; then standardize and expand.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502920" y="5413248"/>
            <a:ext cx="5193792" cy="502920"/>
          </a:xfrm>
          <a:prstGeom prst="roundRect">
            <a:avLst>
              <a:gd name="adj" fmla="val 25455"/>
            </a:avLst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" y="5541264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5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Trade-off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691640" y="5504688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8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consistency; more upfront change and training.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07024" y="5413248"/>
            <a:ext cx="5779008" cy="502920"/>
          </a:xfrm>
          <a:prstGeom prst="roundRect">
            <a:avLst>
              <a:gd name="adj" fmla="val 25455"/>
            </a:avLst>
          </a:prstGeom>
          <a:solidFill>
            <a:srgbClr val="E9F5EE"/>
          </a:solidFill>
          <a:ln w="12700">
            <a:solidFill>
              <a:srgbClr val="E9F5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68" y="5541264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67A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start here?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98080" y="550468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disruption; expand using evidence from the pilot.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2920" y="6080760"/>
            <a:ext cx="11183112" cy="502920"/>
          </a:xfrm>
          <a:prstGeom prst="roundRect">
            <a:avLst>
              <a:gd name="adj" fmla="val 25455"/>
            </a:avLst>
          </a:prstGeom>
          <a:solidFill>
            <a:srgbClr val="E7ECF2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624535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57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DEVOPS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286000" y="6199632"/>
            <a:ext cx="4718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Start: link work items ↔ specs ↔ tasks ↔ PRs ↔ tests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41464" y="6190488"/>
            <a:ext cx="0" cy="274320"/>
          </a:xfrm>
          <a:prstGeom prst="line">
            <a:avLst/>
          </a:prstGeom>
          <a:noFill/>
          <a:ln w="12700">
            <a:solidFill>
              <a:srgbClr val="C5D1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60920" y="6199632"/>
            <a:ext cx="3995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automated evidence, gates and dashboards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SDD Adoption in a Brownfield Project</dc:title>
  <dc:subject>Brownfield SDD adoption options</dc:subject>
  <dc:creator>OpenAI</dc:creator>
  <cp:lastModifiedBy>OpenAI</cp:lastModifiedBy>
  <cp:revision>1</cp:revision>
  <dcterms:created xsi:type="dcterms:W3CDTF">2026-10-13T16:40:39Z</dcterms:created>
  <dcterms:modified xsi:type="dcterms:W3CDTF">2026-10-13T16:40:39Z</dcterms:modified>
</cp:coreProperties>
</file>