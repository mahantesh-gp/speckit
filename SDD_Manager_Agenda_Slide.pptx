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3657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A598B"/>
                </a:solidFill>
                <a:latin typeface="Apto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68680"/>
            <a:ext cx="10058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082B4E"/>
                </a:solidFill>
                <a:latin typeface="Aptos"/>
              </a:rPr>
              <a:t>Today’s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5C6E80"/>
                </a:solidFill>
                <a:latin typeface="Aptos"/>
              </a:rPr>
              <a:t>From AI-assisted coding to practical SDD adoption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698480" cy="676656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2231136"/>
            <a:ext cx="493776" cy="411480"/>
          </a:xfrm>
          <a:prstGeom prst="roundRect">
            <a:avLst/>
          </a:prstGeom>
          <a:solidFill>
            <a:srgbClr val="0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31136"/>
            <a:ext cx="49377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76272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82B4E"/>
                </a:solidFill>
                <a:latin typeface="Aptos"/>
              </a:rPr>
              <a:t>Our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94560"/>
            <a:ext cx="62636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C6E80"/>
                </a:solidFill>
                <a:latin typeface="Aptos"/>
              </a:rPr>
              <a:t>Vibe coding, plan mode, and parallel BMAD / Spec Kit explorations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07791"/>
            <a:ext cx="10698480" cy="676656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" y="3035808"/>
            <a:ext cx="493776" cy="411480"/>
          </a:xfrm>
          <a:prstGeom prst="roundRect">
            <a:avLst/>
          </a:prstGeom>
          <a:solidFill>
            <a:srgbClr val="0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035808"/>
            <a:ext cx="49377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980944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82B4E"/>
                </a:solidFill>
                <a:latin typeface="Aptos"/>
              </a:rPr>
              <a:t>SDD in existing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999232"/>
            <a:ext cx="62636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C6E80"/>
                </a:solidFill>
                <a:latin typeface="Aptos"/>
              </a:rPr>
              <a:t>Where SDD fits into Scrum, ADO, and engineering workflows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12463"/>
            <a:ext cx="10698480" cy="676656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" y="3840479"/>
            <a:ext cx="493776" cy="411480"/>
          </a:xfrm>
          <a:prstGeom prst="roundRect">
            <a:avLst/>
          </a:prstGeom>
          <a:solidFill>
            <a:srgbClr val="0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840479"/>
            <a:ext cx="49377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85615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82B4E"/>
                </a:solidFill>
                <a:latin typeface="Aptos"/>
              </a:rPr>
              <a:t>Pilots and real-project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803903"/>
            <a:ext cx="62636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C6E80"/>
                </a:solidFill>
                <a:latin typeface="Aptos"/>
              </a:rPr>
              <a:t>Todo application, clarification decisions, and DocNav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17136"/>
            <a:ext cx="10698480" cy="676656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4645151"/>
            <a:ext cx="493776" cy="411480"/>
          </a:xfrm>
          <a:prstGeom prst="roundRect">
            <a:avLst/>
          </a:prstGeom>
          <a:solidFill>
            <a:srgbClr val="0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645151"/>
            <a:ext cx="49377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590288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82B4E"/>
                </a:solidFill>
                <a:latin typeface="Aptos"/>
              </a:rPr>
              <a:t>Enablement and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608575"/>
            <a:ext cx="62636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C6E80"/>
                </a:solidFill>
                <a:latin typeface="Aptos"/>
              </a:rPr>
              <a:t>Guidelines, recorded walkthroughs, and Azure DevOps exploration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21808"/>
            <a:ext cx="10698480" cy="676656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" y="5449824"/>
            <a:ext cx="493776" cy="411480"/>
          </a:xfrm>
          <a:prstGeom prst="roundRect">
            <a:avLst/>
          </a:prstGeom>
          <a:solidFill>
            <a:srgbClr val="08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449824"/>
            <a:ext cx="49377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394960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82B4E"/>
                </a:solidFill>
                <a:latin typeface="Aptos"/>
              </a:rPr>
              <a:t>Team learnings and next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413248"/>
            <a:ext cx="626364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C6E80"/>
                </a:solidFill>
                <a:latin typeface="Aptos"/>
              </a:rPr>
              <a:t>Questions from real teams, reusable guidance, and manager feedback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291072"/>
            <a:ext cx="10698480" cy="182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391656"/>
            <a:ext cx="8229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C6E80"/>
                </a:solidFill>
                <a:latin typeface="Aptos"/>
              </a:rPr>
              <a:t>FNF India  |  SDD / Spec Kit  |  Manager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