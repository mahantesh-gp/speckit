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94F"/>
          </a:solidFill>
          <a:ln>
            <a:solidFill>
              <a:srgbClr val="0D2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8BC425"/>
          </a:solidFill>
          <a:ln>
            <a:solidFill>
              <a:srgbClr val="8BC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881360" cy="493776"/>
          </a:xfrm>
          <a:prstGeom prst="rect">
            <a:avLst/>
          </a:prstGeom>
          <a:noFill/>
        </p:spPr>
        <p:txBody>
          <a:bodyPr wrap="square" lIns="54864" rIns="54864" tIns="2286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Why Spec-Driven Development (SDD)?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0881360" cy="210312"/>
          </a:xfrm>
          <a:prstGeom prst="rect">
            <a:avLst/>
          </a:prstGeom>
          <a:noFill/>
        </p:spPr>
        <p:txBody>
          <a:bodyPr wrap="square" lIns="54864" rIns="54864" tIns="2286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DEEAF4"/>
                </a:solidFill>
                <a:latin typeface="Aptos"/>
              </a:defRPr>
            </a:pPr>
            <a:r>
              <a:t>From informal AI instructions to a clear, reviewable development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698480" cy="301752"/>
          </a:xfrm>
          <a:prstGeom prst="rect">
            <a:avLst/>
          </a:prstGeom>
          <a:noFill/>
        </p:spPr>
        <p:txBody>
          <a:bodyPr wrap="square" lIns="54864" rIns="54864" tIns="2286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B4B7C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46504"/>
            <a:ext cx="10881360" cy="969264"/>
          </a:xfrm>
          <a:prstGeom prst="rect">
            <a:avLst/>
          </a:prstGeom>
          <a:noFill/>
        </p:spPr>
        <p:txBody>
          <a:bodyPr wrap="square" lIns="54864" rIns="54864" tIns="2286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0D294F"/>
                </a:solidFill>
                <a:latin typeface="Aptos"/>
              </a:defRPr>
            </a:pPr>
            <a:r>
              <a:t>How do we ensure AI understands the business need and project context — and follows that intent through implementation and verification?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90672"/>
            <a:ext cx="10826496" cy="2057400"/>
          </a:xfrm>
          <a:prstGeom prst="roundRect">
            <a:avLst/>
          </a:prstGeom>
          <a:solidFill>
            <a:srgbClr val="F4F8FB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090672"/>
            <a:ext cx="82296" cy="2057400"/>
          </a:xfrm>
          <a:prstGeom prst="rect">
            <a:avLst/>
          </a:prstGeom>
          <a:solidFill>
            <a:srgbClr val="8BC425"/>
          </a:solidFill>
          <a:ln>
            <a:solidFill>
              <a:srgbClr val="8BC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10128"/>
            <a:ext cx="10149840" cy="393192"/>
          </a:xfrm>
          <a:prstGeom prst="rect">
            <a:avLst/>
          </a:prstGeom>
          <a:noFill/>
        </p:spPr>
        <p:txBody>
          <a:bodyPr wrap="square" lIns="54864" rIns="54864" tIns="2286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B4B7C"/>
                </a:solidFill>
                <a:latin typeface="Aptos"/>
              </a:defRPr>
            </a:pPr>
            <a:r>
              <a:t>WHAT SDD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67328"/>
            <a:ext cx="10104120" cy="850392"/>
          </a:xfrm>
          <a:prstGeom prst="rect">
            <a:avLst/>
          </a:prstGeom>
          <a:noFill/>
        </p:spPr>
        <p:txBody>
          <a:bodyPr wrap="square" lIns="54864" rIns="54864" tIns="2286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253647"/>
                </a:solidFill>
                <a:latin typeface="Aptos"/>
              </a:defRPr>
            </a:pPr>
            <a:r>
              <a:t>Capture what needs to be built, why it matters, and how we will know it is complete — in a form the team can review and reuse.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440680"/>
            <a:ext cx="10835640" cy="274320"/>
          </a:xfrm>
          <a:prstGeom prst="rect">
            <a:avLst/>
          </a:prstGeom>
          <a:noFill/>
        </p:spPr>
        <p:txBody>
          <a:bodyPr wrap="square" lIns="54864" rIns="54864" tIns="2286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E6F81"/>
                </a:solidFill>
                <a:latin typeface="Aptos"/>
              </a:defRPr>
            </a:pPr>
            <a:r>
              <a:t>In practice, the specification guides planning, implementation, review and testing.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943600"/>
            <a:ext cx="10826496" cy="420624"/>
          </a:xfrm>
          <a:prstGeom prst="roundRect">
            <a:avLst/>
          </a:prstGeom>
          <a:solidFill>
            <a:srgbClr val="0D294F"/>
          </a:solidFill>
          <a:ln>
            <a:solidFill>
              <a:srgbClr val="0D2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6016752"/>
            <a:ext cx="10469880" cy="256032"/>
          </a:xfrm>
          <a:prstGeom prst="rect">
            <a:avLst/>
          </a:prstGeom>
          <a:noFill/>
        </p:spPr>
        <p:txBody>
          <a:bodyPr wrap="square" lIns="54864" rIns="54864" tIns="2286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The goal: preserve agreed intent from requirement to working, verified software.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592824"/>
            <a:ext cx="7315200" cy="146304"/>
          </a:xfrm>
          <a:prstGeom prst="rect">
            <a:avLst/>
          </a:prstGeom>
          <a:noFill/>
        </p:spPr>
        <p:txBody>
          <a:bodyPr wrap="square" lIns="54864" rIns="54864" tIns="2286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F81"/>
                </a:solidFill>
                <a:latin typeface="Aptos"/>
              </a:defRPr>
            </a:pPr>
            <a:r>
              <a:t>SDD / Spec Kit • Manager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