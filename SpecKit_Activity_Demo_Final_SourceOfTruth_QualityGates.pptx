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B44"/>
                </a:solidFill>
                <a:latin typeface="Aptos Display"/>
              </a:rPr>
              <a:t>From Source of Truth to Implementation-Ready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76656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766"/>
                </a:solidFill>
                <a:latin typeface="Aptos"/>
              </a:rPr>
              <a:t>What we gave Spec Kit, where it came from, and how the feature context was established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42415"/>
            <a:ext cx="2148840" cy="658368"/>
          </a:xfrm>
          <a:prstGeom prst="roundRect">
            <a:avLst/>
          </a:prstGeom>
          <a:solidFill>
            <a:srgbClr val="F6F3FC"/>
          </a:solidFill>
          <a:ln>
            <a:solidFill>
              <a:srgbClr val="5B4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82B44"/>
                </a:solidFill>
                <a:latin typeface="Aptos"/>
              </a:rPr>
              <a:t>Project Constitution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Project-level engineering principles &amp;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16352" y="1042415"/>
            <a:ext cx="2834640" cy="65836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82B44"/>
                </a:solidFill>
                <a:latin typeface="Aptos"/>
              </a:rPr>
              <a:t>Existing Adaptive Workflow Codebase</a:t>
            </a:r>
          </a:p>
          <a:p>
            <a:pPr algn="ctr"/>
            <a:r>
              <a:rPr sz="850">
                <a:solidFill>
                  <a:srgbClr val="4B5766"/>
                </a:solidFill>
                <a:latin typeface="Aptos"/>
              </a:rPr>
              <a:t>WorkflowActivities contracts, patterns and project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5584" y="1042415"/>
            <a:ext cx="2606040" cy="658368"/>
          </a:xfrm>
          <a:prstGeom prst="roundRect">
            <a:avLst/>
          </a:prstGeom>
          <a:solidFill>
            <a:srgbClr val="EFF8F3"/>
          </a:solidFill>
          <a:ln>
            <a:solidFill>
              <a:srgbClr val="2C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82B44"/>
                </a:solidFill>
                <a:latin typeface="Aptos"/>
              </a:rPr>
              <a:t>DocNav Documentation</a:t>
            </a:r>
          </a:p>
          <a:p>
            <a:pPr algn="ctr"/>
            <a:r>
              <a:rPr sz="850">
                <a:solidFill>
                  <a:srgbClr val="4B5766"/>
                </a:solidFill>
                <a:latin typeface="Aptos"/>
              </a:rPr>
              <a:t>API/reference documentation used as external-service source of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6216" y="1042415"/>
            <a:ext cx="3090672" cy="658368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82B44"/>
                </a:solidFill>
                <a:latin typeface="Aptos"/>
              </a:rPr>
              <a:t>Pilot Activity Requirement</a:t>
            </a:r>
          </a:p>
          <a:p>
            <a:pPr algn="ctr"/>
            <a:r>
              <a:rPr sz="850">
                <a:solidFill>
                  <a:srgbClr val="4B5766"/>
                </a:solidFill>
                <a:latin typeface="Aptos"/>
              </a:rPr>
              <a:t>Develop a locally testable external-service workflow activity</a:t>
            </a:r>
          </a:p>
        </p:txBody>
      </p:sp>
      <p:sp>
        <p:nvSpPr>
          <p:cNvPr id="8" name="Down Arrow 7"/>
          <p:cNvSpPr/>
          <p:nvPr/>
        </p:nvSpPr>
        <p:spPr>
          <a:xfrm>
            <a:off x="1508760" y="1773936"/>
            <a:ext cx="164592" cy="274320"/>
          </a:xfrm>
          <a:prstGeom prst="down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4160520" y="1773936"/>
            <a:ext cx="164592" cy="274320"/>
          </a:xfrm>
          <a:prstGeom prst="down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7040880" y="1773936"/>
            <a:ext cx="164592" cy="274320"/>
          </a:xfrm>
          <a:prstGeom prst="down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0058400" y="1773936"/>
            <a:ext cx="164592" cy="274320"/>
          </a:xfrm>
          <a:prstGeom prst="down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2148840"/>
            <a:ext cx="9921240" cy="841248"/>
          </a:xfrm>
          <a:prstGeom prst="roundRect">
            <a:avLst/>
          </a:prstGeom>
          <a:solidFill>
            <a:srgbClr val="F9FAFC"/>
          </a:solidFill>
          <a:ln>
            <a:solidFill>
              <a:srgbClr val="18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182B44"/>
                </a:solidFill>
                <a:latin typeface="Aptos"/>
              </a:rPr>
              <a:t>Input provided to /speckit.specify</a:t>
            </a:r>
          </a:p>
          <a:p>
            <a:pPr algn="ctr"/>
            <a:r>
              <a:rPr sz="1019">
                <a:solidFill>
                  <a:srgbClr val="4B5766"/>
                </a:solidFill>
                <a:latin typeface="Aptos"/>
              </a:rPr>
              <a:t>Feature intent + relevant existing-project context + DocNav reference/source-of-truth context + pilot boundary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9320" y="3054096"/>
            <a:ext cx="201168" cy="274320"/>
          </a:xfrm>
          <a:prstGeom prst="down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520440"/>
            <a:ext cx="2176272" cy="111556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/speckit.specify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Generate spec.md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97479" y="3986784"/>
            <a:ext cx="137160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62072" y="3520440"/>
            <a:ext cx="2176272" cy="1115568"/>
          </a:xfrm>
          <a:prstGeom prst="roundRect">
            <a:avLst/>
          </a:prstGeom>
          <a:solidFill>
            <a:srgbClr val="EFF8F3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Review spec.md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Requirements / user scenarios /
success criteria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56631" y="3986784"/>
            <a:ext cx="137160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21224" y="3520440"/>
            <a:ext cx="2176272" cy="111556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/speckit.clarify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Resolve missing or
ambiguous details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15783" y="3986784"/>
            <a:ext cx="137160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6" y="3520440"/>
            <a:ext cx="2176272" cy="111556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/speckit.plan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Technical plan aligned with
constitution &amp; project context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74936" y="3986784"/>
            <a:ext cx="137160" cy="155448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39528" y="3520440"/>
            <a:ext cx="2176272" cy="1115568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70" b="1">
                <a:solidFill>
                  <a:srgbClr val="182B44"/>
                </a:solidFill>
                <a:latin typeface="Aptos"/>
              </a:rPr>
              <a:t>/speckit.tasks</a:t>
            </a:r>
          </a:p>
          <a:p>
            <a:pPr algn="ctr"/>
            <a:r>
              <a:rPr sz="869">
                <a:solidFill>
                  <a:srgbClr val="4B5766"/>
                </a:solidFill>
                <a:latin typeface="Aptos"/>
              </a:rPr>
              <a:t>Implementation-ready
tasks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83480"/>
            <a:ext cx="10652760" cy="758952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30" b="1">
                <a:solidFill>
                  <a:srgbClr val="182B44"/>
                </a:solidFill>
                <a:latin typeface="Aptos"/>
              </a:rPr>
              <a:t>Pilot boundary</a:t>
            </a:r>
          </a:p>
          <a:p>
            <a:pPr algn="ctr"/>
            <a:r>
              <a:rPr sz="950">
                <a:solidFill>
                  <a:srgbClr val="4B5766"/>
                </a:solidFill>
                <a:latin typeface="Aptos"/>
              </a:rPr>
              <a:t>Local/no-network stub validation only. Production DocNav authentication, onboarding and consuming-team business logic are outside this demonstration.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925312"/>
            <a:ext cx="10652760" cy="438912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Aptos"/>
              </a:rPr>
              <a:t>Result: source-grounded requirement → reviewed spec → constitution-aligned plan → implementation-ready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B44"/>
                </a:solidFill>
                <a:latin typeface="Aptos Display"/>
              </a:rPr>
              <a:t>Spec Kit Delivery Flow and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76656"/>
            <a:ext cx="11064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766"/>
                </a:solidFill>
                <a:latin typeface="Aptos"/>
              </a:rPr>
              <a:t>Separate the normal feature flow from the verification gates used before and after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6995160" cy="502920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SPEC KIT FEATURE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225296" cy="100584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182B44"/>
                </a:solidFill>
                <a:latin typeface="Aptos"/>
              </a:rPr>
              <a:t>/specify</a:t>
            </a:r>
          </a:p>
          <a:p>
            <a:pPr algn="ctr"/>
            <a:r>
              <a:rPr sz="770">
                <a:solidFill>
                  <a:srgbClr val="4B5766"/>
                </a:solidFill>
                <a:latin typeface="Aptos"/>
              </a:rPr>
              <a:t>Define &amp; generate spec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37944" y="2249424"/>
            <a:ext cx="118872" cy="146304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1828800"/>
            <a:ext cx="1225296" cy="100584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182B44"/>
                </a:solidFill>
                <a:latin typeface="Aptos"/>
              </a:rPr>
              <a:t>/clarify</a:t>
            </a:r>
          </a:p>
          <a:p>
            <a:pPr algn="ctr"/>
            <a:r>
              <a:rPr sz="770">
                <a:solidFill>
                  <a:srgbClr val="4B5766"/>
                </a:solidFill>
                <a:latin typeface="Aptos"/>
              </a:rPr>
              <a:t>Optional requirement verification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18688" y="2249424"/>
            <a:ext cx="118872" cy="146304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1225296" cy="100584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182B44"/>
                </a:solidFill>
                <a:latin typeface="Aptos"/>
              </a:rPr>
              <a:t>/plan</a:t>
            </a:r>
          </a:p>
          <a:p>
            <a:pPr algn="ctr"/>
            <a:r>
              <a:rPr sz="770">
                <a:solidFill>
                  <a:srgbClr val="4B5766"/>
                </a:solidFill>
                <a:latin typeface="Aptos"/>
              </a:rPr>
              <a:t>Technical approach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99431" y="2249424"/>
            <a:ext cx="118872" cy="146304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36592" y="1828800"/>
            <a:ext cx="1225296" cy="100584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182B44"/>
                </a:solidFill>
                <a:latin typeface="Aptos"/>
              </a:rPr>
              <a:t>/tasks</a:t>
            </a:r>
          </a:p>
          <a:p>
            <a:pPr algn="ctr"/>
            <a:r>
              <a:rPr sz="770">
                <a:solidFill>
                  <a:srgbClr val="4B5766"/>
                </a:solidFill>
                <a:latin typeface="Aptos"/>
              </a:rPr>
              <a:t>Implementation tasks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6" y="2249424"/>
            <a:ext cx="118872" cy="146304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17336" y="1828800"/>
            <a:ext cx="1225296" cy="100584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182B44"/>
                </a:solidFill>
                <a:latin typeface="Aptos"/>
              </a:rPr>
              <a:t>/implement</a:t>
            </a:r>
          </a:p>
          <a:p>
            <a:pPr algn="ctr"/>
            <a:r>
              <a:rPr sz="770">
                <a:solidFill>
                  <a:srgbClr val="4B5766"/>
                </a:solidFill>
                <a:latin typeface="Aptos"/>
              </a:rPr>
              <a:t>Generate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078992"/>
            <a:ext cx="3950208" cy="502920"/>
          </a:xfrm>
          <a:prstGeom prst="roundRect">
            <a:avLst/>
          </a:prstGeom>
          <a:solidFill>
            <a:srgbClr val="5B4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QUALITY 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810512"/>
            <a:ext cx="3584448" cy="1051560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30" b="1">
                <a:solidFill>
                  <a:srgbClr val="182B44"/>
                </a:solidFill>
                <a:latin typeface="Aptos"/>
              </a:rPr>
              <a:t>/speckit.analyze — BEFORE implementation</a:t>
            </a:r>
          </a:p>
          <a:p>
            <a:pPr algn="ctr"/>
            <a:r>
              <a:rPr sz="850">
                <a:solidFill>
                  <a:srgbClr val="4B5766"/>
                </a:solidFill>
                <a:latin typeface="Aptos"/>
              </a:rPr>
              <a:t>Checks Spec ↔ Plan ↔ Tasks for ambiguity, inconsistency and coverage.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3090672"/>
            <a:ext cx="3584448" cy="1051560"/>
          </a:xfrm>
          <a:prstGeom prst="roundRect">
            <a:avLst/>
          </a:prstGeom>
          <a:solidFill>
            <a:srgbClr val="EFF8F3"/>
          </a:solidFill>
          <a:ln>
            <a:solidFill>
              <a:srgbClr val="2C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30" b="1">
                <a:solidFill>
                  <a:srgbClr val="182B44"/>
                </a:solidFill>
                <a:latin typeface="Aptos"/>
              </a:rPr>
              <a:t>/speckit.converge — AFTER implementation</a:t>
            </a:r>
          </a:p>
          <a:p>
            <a:pPr algn="ctr"/>
            <a:r>
              <a:rPr sz="850">
                <a:solidFill>
                  <a:srgbClr val="4B5766"/>
                </a:solidFill>
                <a:latin typeface="Aptos"/>
              </a:rPr>
              <a:t>Checks implementation alignment against Spec + Plan + Tasks.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82112"/>
            <a:ext cx="6812280" cy="1078992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30" b="1">
                <a:solidFill>
                  <a:srgbClr val="182B44"/>
                </a:solidFill>
                <a:latin typeface="Aptos"/>
              </a:rPr>
              <a:t>Actual pilot evidence</a:t>
            </a:r>
          </a:p>
          <a:p>
            <a:pPr algn="ctr"/>
            <a:r>
              <a:rPr sz="950">
                <a:solidFill>
                  <a:srgbClr val="4B5766"/>
                </a:solidFill>
                <a:latin typeface="Aptos"/>
              </a:rPr>
              <a:t>Analyze found G1 requirement-to-task coverage gap → task corrected → Analyze rerun → gap remediated.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462272"/>
            <a:ext cx="6812280" cy="868680"/>
          </a:xfrm>
          <a:prstGeom prst="roundRect">
            <a:avLst/>
          </a:prstGeom>
          <a:solidFill>
            <a:srgbClr val="EFF8F3"/>
          </a:solidFill>
          <a:ln>
            <a:solidFill>
              <a:srgbClr val="2C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182B44"/>
                </a:solidFill>
                <a:latin typeface="Aptos"/>
              </a:rPr>
              <a:t>Final validation</a:t>
            </a:r>
          </a:p>
          <a:p>
            <a:pPr algn="ctr"/>
            <a:r>
              <a:rPr sz="919">
                <a:solidFill>
                  <a:srgbClr val="4B5766"/>
                </a:solidFill>
                <a:latin typeface="Aptos"/>
              </a:rPr>
              <a:t>Implement generated code → Converge reported no remaining identified gaps → build succeeded → local stub test succeeded.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4416552"/>
            <a:ext cx="3794760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182B44"/>
                </a:solidFill>
                <a:latin typeface="Aptos"/>
              </a:rPr>
              <a:t>Think of the gates as checkpoints around implementation:</a:t>
            </a:r>
          </a:p>
          <a:p>
            <a:pPr algn="ctr"/>
            <a:r>
              <a:rPr sz="1500" b="1">
                <a:solidFill>
                  <a:srgbClr val="5B4891"/>
                </a:solidFill>
                <a:latin typeface="Aptos"/>
              </a:rPr>
              <a:t>Analyze → Implement → Converge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806440"/>
            <a:ext cx="10652760" cy="502920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Feature flow drives delivery; quality gates verify coverage and alignment at key checkpoints.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