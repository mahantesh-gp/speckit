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JetBrains Mono"/>
      <p:bold r:id="rId13"/>
    </p:embeddedFon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438626"/>
            <a:ext cx="10668000" cy="809625"/>
          </a:xfrm>
          <a:prstGeom prst="roundRect">
            <a:avLst>
              <a:gd name="adj" fmla="val 1411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4045148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850" y="5752951"/>
            <a:ext cx="2457450" cy="180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05850" y="5752951"/>
            <a:ext cx="9525" cy="1809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2190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155477"/>
            <a:ext cx="97012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From AI-Assisted Coding to a Repeatable SDD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85108"/>
            <a:ext cx="11430000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Brownfield evidence, team discoveries, and a practical enterprise adoption blueprint.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619125"/>
            <a:ext cx="328017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JetBrains Mono"/>
              </a:rPr>
              <a:t>ENGINEERING PRACTICE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4300" y="619125"/>
            <a:ext cx="704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0" y="619125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619125"/>
            <a:ext cx="1047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619125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400" y="619125"/>
            <a:ext cx="942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87025" y="619125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5625" y="619125"/>
            <a:ext cx="1000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3975" y="5752951"/>
            <a:ext cx="2774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Focus: Operational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5629126"/>
            <a:ext cx="2940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CORE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5838676"/>
            <a:ext cx="2940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Why should leadership care?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275" y="5629126"/>
            <a:ext cx="3024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4275" y="5838676"/>
            <a:ext cx="3024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Proven in brownfield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5629126"/>
            <a:ext cx="2774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5838676"/>
            <a:ext cx="27741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Repeatable team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800725"/>
            <a:ext cx="10668000" cy="5238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113657"/>
            <a:ext cx="2011709" cy="2764035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26109" y="2113657"/>
            <a:ext cx="2011709" cy="2764035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90219" y="2113657"/>
            <a:ext cx="2011709" cy="2764035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54329" y="2113657"/>
            <a:ext cx="2011709" cy="2764035"/>
          </a:xfrm>
          <a:prstGeom prst="roundRect">
            <a:avLst>
              <a:gd name="adj" fmla="val 568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439" y="2113657"/>
            <a:ext cx="2011709" cy="2764035"/>
          </a:xfrm>
          <a:prstGeom prst="roundRect">
            <a:avLst>
              <a:gd name="adj" fmla="val 56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800725"/>
            <a:ext cx="38100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2025" y="4315717"/>
            <a:ext cx="1611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26134" y="4315717"/>
            <a:ext cx="1611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90244" y="4315717"/>
            <a:ext cx="1611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4354" y="4315717"/>
            <a:ext cx="1611659" cy="9525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18464" y="4315717"/>
            <a:ext cx="1611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EVOLUTION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8105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The Journey to Structured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5953125"/>
            <a:ext cx="11163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The Paradigm Shift: Transitioning from individual developer prompt hacks to an audited, repeatable engineering discipline.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351782"/>
            <a:ext cx="1706909" cy="1544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PHASE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430017"/>
            <a:ext cx="170690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Individual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6134" y="2351782"/>
            <a:ext cx="1706909" cy="1544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PHASE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6134" y="4430017"/>
            <a:ext cx="170690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Context to 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0244" y="2351782"/>
            <a:ext cx="1706909" cy="1773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PHASE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0244" y="4430017"/>
            <a:ext cx="170690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Lifecycle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4354" y="2351782"/>
            <a:ext cx="1706909" cy="1544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PHASE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354" y="4430017"/>
            <a:ext cx="170690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Brownfield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8464" y="2351782"/>
            <a:ext cx="1706909" cy="1773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PHASE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8464" y="4430017"/>
            <a:ext cx="170690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Reusable 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025" y="2666107"/>
            <a:ext cx="21153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AI Ad-Hoc 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025" y="2970907"/>
            <a:ext cx="1706909" cy="92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Developer productivity gains without uniform team controls.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6134" y="2666107"/>
            <a:ext cx="21153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BMAD Brownfield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6134" y="2970907"/>
            <a:ext cx="1706909" cy="92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Brownfield experience — exact facts to be confirmed with Satish / Mani.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0244" y="2666107"/>
            <a:ext cx="1792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Spec Kit Greenfield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0244" y="3199507"/>
            <a:ext cx="1706909" cy="92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Todo pilot mapped the complete end-to-end SDD lifecycle.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4354" y="2666107"/>
            <a:ext cx="21153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369A1"/>
                </a:solidFill>
                <a:latin typeface="Plus Jakarta Sans"/>
              </a:rPr>
              <a:t>Enterprise 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354" y="2970907"/>
            <a:ext cx="1706909" cy="92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0C4A6E"/>
                </a:solidFill>
                <a:latin typeface="Plus Jakarta Sans"/>
              </a:rPr>
              <a:t>DocNav integration exercised real constraints and APIs.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8464" y="2666107"/>
            <a:ext cx="1792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Reusable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8464" y="3199507"/>
            <a:ext cx="1706909" cy="92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Practical guidance built from pilots, brownfield work, and team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05475"/>
            <a:ext cx="10668000" cy="619125"/>
          </a:xfrm>
          <a:prstGeom prst="roundRect">
            <a:avLst>
              <a:gd name="adj" fmla="val 184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108001"/>
            <a:ext cx="5200650" cy="2680096"/>
          </a:xfrm>
          <a:prstGeom prst="roundRect">
            <a:avLst>
              <a:gd name="adj" fmla="val 42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108001"/>
            <a:ext cx="5200650" cy="2680096"/>
          </a:xfrm>
          <a:prstGeom prst="roundRect">
            <a:avLst>
              <a:gd name="adj" fmla="val 426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5919787"/>
            <a:ext cx="1428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5" y="2450901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075" y="2450901"/>
            <a:ext cx="26670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62604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959423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4292798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626048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959423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292798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BROWNFIELD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8105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Beyond the Demo: Greenfield to Brownfield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4655" y="5905500"/>
            <a:ext cx="1976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Architecture Intact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1998" y="5915025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3916" y="5905500"/>
            <a:ext cx="2738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 Build Errors / 0 Warnings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0859" y="5915025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2777" y="5905500"/>
            <a:ext cx="2190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Clean Converge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2860476"/>
            <a:ext cx="47434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Isolated sandbox testing the end-to-end SDD mechanics without legacy drag.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2860476"/>
            <a:ext cx="47434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0C4A6E"/>
                </a:solidFill>
                <a:latin typeface="Plus Jakarta Sans"/>
              </a:rPr>
              <a:t>Existing enterprise Durable Functions system with multi-project boundaries.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5915025"/>
            <a:ext cx="20062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EVIDENCE METRICS: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225" y="2422326"/>
            <a:ext cx="288786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Greenfield: Todo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2422326"/>
            <a:ext cx="3503588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369A1"/>
                </a:solidFill>
                <a:latin typeface="Plus Jakarta Sans"/>
              </a:rPr>
              <a:t>Brownfield: Adaptive</a:t>
            </a:r>
            <a:r>
              <a:rPr lang="en-IN" sz="1650" b="1" i="0" u="none" dirty="0">
                <a:solidFill>
                  <a:srgbClr val="0369A1"/>
                </a:solidFill>
                <a:latin typeface="Plus Jakarta Sans"/>
              </a:rPr>
              <a:t> Workflow Engine</a:t>
            </a:r>
            <a:endParaRPr sz="1650" b="1" i="0" u="none" dirty="0">
              <a:solidFill>
                <a:srgbClr val="0369A1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85875" y="3587948"/>
            <a:ext cx="3952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Mapped specification to code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75" y="3921323"/>
            <a:ext cx="4310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Preserved existing Scrum &amp; ADO cadences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5875" y="4254698"/>
            <a:ext cx="4214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Proved process value over CLI commands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3587948"/>
            <a:ext cx="4536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Preserved existing orchestration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3921323"/>
            <a:ext cx="4214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Handled real Blob, auth, and multipart APIs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4254698"/>
            <a:ext cx="4500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lus Jakarta Sans"/>
              </a:rPr>
              <a:t>Respected authoritative contracts and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504354"/>
            <a:ext cx="3429000" cy="1977330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1504354"/>
            <a:ext cx="3429000" cy="1977330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0" y="1504354"/>
            <a:ext cx="3429000" cy="1977330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795414"/>
            <a:ext cx="3429000" cy="1977330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1500" y="3795414"/>
            <a:ext cx="3429000" cy="1977330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3795414"/>
            <a:ext cx="3429000" cy="1977330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0125" y="2653010"/>
            <a:ext cx="2952750" cy="590550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19625" y="2853035"/>
            <a:ext cx="2952750" cy="390525"/>
          </a:xfrm>
          <a:prstGeom prst="roundRect">
            <a:avLst>
              <a:gd name="adj" fmla="val 1463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39125" y="2653010"/>
            <a:ext cx="2952750" cy="590550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0125" y="4944070"/>
            <a:ext cx="2952750" cy="590550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9625" y="4944070"/>
            <a:ext cx="2952750" cy="590550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39125" y="4944070"/>
            <a:ext cx="2952750" cy="590550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66292"/>
            <a:ext cx="1905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766292"/>
            <a:ext cx="1905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5" y="1766292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057352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25" y="4057352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4057352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PRACTICAL ADOPTION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78105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What the Team Walkthrough Exposed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85750" y="6124575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4748B"/>
                </a:solidFill>
                <a:latin typeface="Plus Jakarta Sans"/>
              </a:rPr>
              <a:t>Strategic Value:</a:t>
            </a:r>
            <a:r>
              <a:rPr sz="1200" b="0" i="0" u="none">
                <a:solidFill>
                  <a:srgbClr val="64748B"/>
                </a:solidFill>
                <a:latin typeface="Plus Jakarta Sans"/>
              </a:rPr>
              <a:t> Real questions converted into repeatable team guidelines rather than academic theory.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" y="2075854"/>
            <a:ext cx="3048000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Where does SDD initialize in monorepos?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2075854"/>
            <a:ext cx="3048000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Single document or split per domain?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9125" y="2075854"/>
            <a:ext cx="3048000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Does every discrepancy update the rules?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4366914"/>
            <a:ext cx="3048000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Do defects belong in the Constitution?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9625" y="4366914"/>
            <a:ext cx="3048000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Who approves exceptions and amendments?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9125" y="4366914"/>
            <a:ext cx="3048000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Are blocked runs tool failures or policy gates?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5875" y="1742479"/>
            <a:ext cx="16877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Repo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475" y="2748260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Clarify the repo / workspace boundary.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5375" y="1742479"/>
            <a:ext cx="21502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Constitution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2975" y="2948285"/>
            <a:ext cx="3357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Make governance scope and ownership explicit.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5825" y="1742479"/>
            <a:ext cx="18627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Analyze Findings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2475" y="2748260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Separate durable rules from feature scope.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6825" y="4033539"/>
            <a:ext cx="19377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Testing 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475" y="5039320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Defects stay with stories unless universal.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86325" y="4033539"/>
            <a:ext cx="24503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Governance Authority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2975" y="5039320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Clarify who owns amendments, approvals, and exceptions.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5825" y="4033539"/>
            <a:ext cx="19127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Gated 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2475" y="5039320"/>
            <a:ext cx="2781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Recognize governance gates rather than treating them as tool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953000"/>
            <a:ext cx="10668000" cy="13716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379464"/>
            <a:ext cx="3403550" cy="1384696"/>
          </a:xfrm>
          <a:prstGeom prst="roundRect">
            <a:avLst>
              <a:gd name="adj" fmla="val 82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379464"/>
            <a:ext cx="3403550" cy="1384696"/>
          </a:xfrm>
          <a:prstGeom prst="roundRect">
            <a:avLst>
              <a:gd name="adj" fmla="val 82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379464"/>
            <a:ext cx="3403550" cy="1384696"/>
          </a:xfrm>
          <a:prstGeom prst="roundRect">
            <a:avLst>
              <a:gd name="adj" fmla="val 82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1237" y="5591175"/>
            <a:ext cx="9525" cy="381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257800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679501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375" y="2679501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525" y="2679501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BROWNFIELD DISCOVERIES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Core Principles for Governed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008114"/>
            <a:ext cx="29463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AI adapts to existing contracts, dependencies, and interfaces.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375" y="3008114"/>
            <a:ext cx="29463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Expose conflicts early; human leads make material tradeoffs.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3008114"/>
            <a:ext cx="29463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PR reviews, QA, security scanning, and sign-offs remain mandatory.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7325" y="5257800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OPERATIONAL RULE OF THUMB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3975" y="2655689"/>
            <a:ext cx="20877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Architecture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125" y="2655689"/>
            <a:ext cx="276284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Analyze as 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5900" y="2655689"/>
            <a:ext cx="2600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Human Control Intact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543550"/>
            <a:ext cx="57090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Reusable System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819775"/>
            <a:ext cx="57090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Consider for Constitution / reusable project guidance.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1762" y="5543550"/>
            <a:ext cx="57090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One-Off Feature Nuance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1762" y="5819775"/>
            <a:ext cx="570904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Keep within the feature / story and normal engineering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F70C1"/>
                </a:solidFill>
                <a:latin typeface="Aptos"/>
              </a:rPr>
              <a:t>PROCESS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D32"/>
                </a:solidFill>
                <a:latin typeface="Aptos"/>
              </a:rPr>
              <a:t>We Already Have Scrum — Where Does SDD 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7080"/>
                </a:solidFill>
                <a:latin typeface="Aptos"/>
              </a:rPr>
              <a:t>Very little changes in delivery. SDD adds structured clarification and engineering checks at selected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184708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011680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1D32"/>
                </a:solidFill>
                <a:latin typeface="Aptos"/>
              </a:rPr>
              <a:t>ADO 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2148840"/>
            <a:ext cx="237744" cy="0"/>
          </a:xfrm>
          <a:prstGeom prst="line">
            <a:avLst/>
          </a:prstGeom>
          <a:ln w="1905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2928" y="1847088"/>
            <a:ext cx="1847088" cy="603504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2011680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Refinement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36592" y="2148840"/>
            <a:ext cx="237744" cy="0"/>
          </a:xfrm>
          <a:prstGeom prst="line">
            <a:avLst/>
          </a:prstGeom>
          <a:ln w="1905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47488" y="1847088"/>
            <a:ext cx="184708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3207" y="2011680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1D32"/>
                </a:solidFill>
                <a:latin typeface="Aptos"/>
              </a:rPr>
              <a:t>Sprint Planning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31152" y="2148840"/>
            <a:ext cx="237744" cy="0"/>
          </a:xfrm>
          <a:prstGeom prst="line">
            <a:avLst/>
          </a:prstGeom>
          <a:ln w="1905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42048" y="1847088"/>
            <a:ext cx="1847088" cy="603504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87768" y="2011680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Development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25712" y="2148840"/>
            <a:ext cx="237744" cy="0"/>
          </a:xfrm>
          <a:prstGeom prst="line">
            <a:avLst/>
          </a:prstGeom>
          <a:ln w="1905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36608" y="1847088"/>
            <a:ext cx="184708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2011680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1D32"/>
                </a:solidFill>
                <a:latin typeface="Aptos"/>
              </a:rPr>
              <a:t>Test / Review / PR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33472" y="2670048"/>
            <a:ext cx="2514600" cy="987552"/>
          </a:xfrm>
          <a:prstGeom prst="roundRect">
            <a:avLst/>
          </a:prstGeom>
          <a:solidFill>
            <a:srgbClr val="ECF7EF"/>
          </a:solidFill>
          <a:ln>
            <a:solidFill>
              <a:srgbClr val="BE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16352" y="281635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68F53"/>
                </a:solidFill>
                <a:latin typeface="Aptos"/>
              </a:rPr>
              <a:t>SDD adds clarity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3108960"/>
            <a:ext cx="21214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1F2A37"/>
                </a:solidFill>
                <a:latin typeface="Aptos"/>
              </a:rPr>
              <a:t>Define expected behavior and resolve material ambiguity before commitment.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76472" y="2468880"/>
            <a:ext cx="0" cy="182880"/>
          </a:xfrm>
          <a:prstGeom prst="line">
            <a:avLst/>
          </a:prstGeom>
          <a:ln w="1905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67728" y="2670048"/>
            <a:ext cx="2852928" cy="987552"/>
          </a:xfrm>
          <a:prstGeom prst="roundRect">
            <a:avLst/>
          </a:prstGeom>
          <a:solidFill>
            <a:srgbClr val="ECF7EF"/>
          </a:solidFill>
          <a:ln>
            <a:solidFill>
              <a:srgbClr val="BE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50608" y="2816352"/>
            <a:ext cx="2487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68F53"/>
                </a:solidFill>
                <a:latin typeface="Aptos"/>
              </a:rPr>
              <a:t>SDD adds structure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10896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1F2A37"/>
                </a:solidFill>
                <a:latin typeface="Aptos"/>
              </a:rPr>
              <a:t>Plan, analyze consistency, implement and validate against the agreed intent.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65592" y="2468880"/>
            <a:ext cx="0" cy="182880"/>
          </a:xfrm>
          <a:prstGeom prst="line">
            <a:avLst/>
          </a:prstGeom>
          <a:ln w="19050">
            <a:solidFill>
              <a:srgbClr val="60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40050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68F53"/>
                </a:solidFill>
                <a:latin typeface="Aptos"/>
              </a:rPr>
              <a:t>For an SDD-selected 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07408"/>
            <a:ext cx="24871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95528" y="4553712"/>
            <a:ext cx="365760" cy="365760"/>
          </a:xfrm>
          <a:prstGeom prst="roundRect">
            <a:avLst/>
          </a:prstGeom>
          <a:solidFill>
            <a:srgbClr val="36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462686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26280"/>
            <a:ext cx="17007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F1D32"/>
                </a:solidFill>
                <a:latin typeface="Aptos"/>
              </a:rPr>
              <a:t>Refine + clarify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91947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07080"/>
                </a:solidFill>
                <a:latin typeface="Aptos"/>
              </a:rPr>
              <a:t>Make behavior / edge cases explicit.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407408"/>
            <a:ext cx="24871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566160" y="4553712"/>
            <a:ext cx="365760" cy="365760"/>
          </a:xfrm>
          <a:prstGeom prst="roundRect">
            <a:avLst/>
          </a:prstGeom>
          <a:solidFill>
            <a:srgbClr val="36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6160" y="462686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0791" y="4526280"/>
            <a:ext cx="17007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F1D32"/>
                </a:solidFill>
                <a:latin typeface="Aptos"/>
              </a:rPr>
              <a:t>Story becomes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3592" y="491947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07080"/>
                </a:solidFill>
                <a:latin typeface="Aptos"/>
              </a:rPr>
              <a:t>Enter sprint planning with clearer intent.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1" y="4407408"/>
            <a:ext cx="24871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36792" y="4553712"/>
            <a:ext cx="365760" cy="365760"/>
          </a:xfrm>
          <a:prstGeom prst="roundRect">
            <a:avLst/>
          </a:prstGeom>
          <a:solidFill>
            <a:srgbClr val="36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6792" y="462686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1423" y="4526280"/>
            <a:ext cx="17007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F1D32"/>
                </a:solidFill>
                <a:latin typeface="Aptos"/>
              </a:rPr>
              <a:t>Plan + analyze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3" y="491947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07080"/>
                </a:solidFill>
                <a:latin typeface="Aptos"/>
              </a:rPr>
              <a:t>Check technical approach against project constraints.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0264" y="4407408"/>
            <a:ext cx="24871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107424" y="4553712"/>
            <a:ext cx="365760" cy="365760"/>
          </a:xfrm>
          <a:prstGeom prst="roundRect">
            <a:avLst/>
          </a:prstGeom>
          <a:solidFill>
            <a:srgbClr val="368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07424" y="462686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92056" y="4526280"/>
            <a:ext cx="17007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F1D32"/>
                </a:solidFill>
                <a:latin typeface="Aptos"/>
              </a:rPr>
              <a:t>Implement + validate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4856" y="491947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607080"/>
                </a:solidFill>
                <a:latin typeface="Aptos"/>
              </a:rPr>
              <a:t>Use normal tests, review, PR and security controls.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641848"/>
            <a:ext cx="10881360" cy="5760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797296"/>
            <a:ext cx="10469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Scrum stays  •  ADO stays  •  BA/PO/QA roles stay  •  Git/PR &amp; security controls stay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291072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1">
                <a:solidFill>
                  <a:srgbClr val="607080"/>
                </a:solidFill>
                <a:latin typeface="Aptos"/>
              </a:rPr>
              <a:t>No separate SDD sprint. No replacement for ADO. No requirement to use the full SDD path for every story.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8368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07080"/>
                </a:solidFill>
                <a:latin typeface="Aptos"/>
              </a:rPr>
              <a:t>SDD ADOPTION • MANAGER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65562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070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62476"/>
            <a:ext cx="10668000" cy="561975"/>
          </a:xfrm>
          <a:prstGeom prst="roundRect">
            <a:avLst>
              <a:gd name="adj" fmla="val 169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543621"/>
            <a:ext cx="1666875" cy="1865858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62225" y="2543621"/>
            <a:ext cx="1666875" cy="1865858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62450" y="2543621"/>
            <a:ext cx="1666875" cy="1865858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62675" y="2543621"/>
            <a:ext cx="1666875" cy="1865858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62900" y="2543621"/>
            <a:ext cx="1666875" cy="1865858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63125" y="2543621"/>
            <a:ext cx="1666875" cy="1865858"/>
          </a:xfrm>
          <a:prstGeom prst="roundRect">
            <a:avLst>
              <a:gd name="adj" fmla="val 571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5972026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5972026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825" y="5972026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5" y="5972026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EXECUTION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8105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The 6-Step Team Adoption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5952976"/>
            <a:ext cx="3012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EXISTING CONTROLS PRESERVED: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743646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JetBrains Mono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019871"/>
            <a:ext cx="1510188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Understand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515171"/>
            <a:ext cx="1438275" cy="694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Map existing architecture and contracts.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150" y="2743646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JetBrains Mono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150" y="3019871"/>
            <a:ext cx="176272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Set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150" y="3305621"/>
            <a:ext cx="1438275" cy="694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Establish durable project guardrails / Constitution.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75" y="2743646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JetBrains Mono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4375" y="3019871"/>
            <a:ext cx="176272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Choose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4375" y="3305621"/>
            <a:ext cx="1438275" cy="694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Select stories with ambiguity or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600" y="2743646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JetBrains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600" y="3019871"/>
            <a:ext cx="176272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Specify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600" y="3305621"/>
            <a:ext cx="1438275" cy="694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Make requirements explicit up front.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4825" y="2743646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JetBrains Mono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4825" y="3019871"/>
            <a:ext cx="176272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Analyze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4825" y="3305621"/>
            <a:ext cx="1438275" cy="694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Pre-check consistency before code.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5050" y="2743646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JetBrains Mono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5050" y="3019871"/>
            <a:ext cx="176272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lus Jakarta Sans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5050" y="3305621"/>
            <a:ext cx="1438275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0C4A6E"/>
                </a:solidFill>
                <a:latin typeface="Plus Jakarta Sans"/>
              </a:rPr>
              <a:t>Run tests, review PR, and follow normal delivery controls.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1600" y="5943451"/>
            <a:ext cx="1643062" cy="2000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Scrum / Sprints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6550" y="5943451"/>
            <a:ext cx="1559718" cy="2000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Azure DevOps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4825" y="5943451"/>
            <a:ext cx="1690687" cy="2000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BA/PO Sign-off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7875" y="5943451"/>
            <a:ext cx="1857375" cy="2000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Git &amp; Security PRs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819775"/>
            <a:ext cx="10668000" cy="504825"/>
          </a:xfrm>
          <a:prstGeom prst="roundRect">
            <a:avLst>
              <a:gd name="adj" fmla="val 1886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323975"/>
            <a:ext cx="5694015" cy="4362450"/>
          </a:xfrm>
          <a:prstGeom prst="roundRect">
            <a:avLst>
              <a:gd name="adj" fmla="val 26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84615" y="1323975"/>
            <a:ext cx="4745384" cy="4362450"/>
          </a:xfrm>
          <a:prstGeom prst="roundRect">
            <a:avLst>
              <a:gd name="adj" fmla="val 26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0125" y="5114925"/>
            <a:ext cx="5217765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22740" y="5114925"/>
            <a:ext cx="4269134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0125" y="5114925"/>
            <a:ext cx="52177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22740" y="5114925"/>
            <a:ext cx="42691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0125" y="1990725"/>
            <a:ext cx="5217765" cy="878085"/>
          </a:xfrm>
          <a:prstGeom prst="roundRect">
            <a:avLst>
              <a:gd name="adj" fmla="val 867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22740" y="1990725"/>
            <a:ext cx="4269134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22740" y="3038475"/>
            <a:ext cx="4269134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22740" y="4086225"/>
            <a:ext cx="4269134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624012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740" y="1624012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40" y="5267325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2143125"/>
            <a:ext cx="1428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3068835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3554610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4040385"/>
            <a:ext cx="1524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OPERATIONAL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781050"/>
            <a:ext cx="4355936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What Evidence </a:t>
            </a:r>
            <a:r>
              <a:rPr lang="en-IN" sz="2550" b="1" dirty="0">
                <a:solidFill>
                  <a:srgbClr val="0F172A"/>
                </a:solidFill>
                <a:latin typeface="Plus Jakarta Sans"/>
              </a:rPr>
              <a:t>T</a:t>
            </a:r>
            <a:r>
              <a:rPr lang="en-IN" sz="2550" b="1" i="0" u="none" dirty="0">
                <a:solidFill>
                  <a:srgbClr val="0F172A"/>
                </a:solidFill>
                <a:latin typeface="Plus Jakarta Sans"/>
              </a:rPr>
              <a:t>eam</a:t>
            </a: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 Can Expect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36921" y="5962650"/>
            <a:ext cx="12465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Plus Jakarta Sans"/>
              </a:rPr>
              <a:t>Managers do not need to master AI commands; they need confidence that key engineering checkpoints and evidence are visible.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" y="5238750"/>
            <a:ext cx="65222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Zero tool-specific CLI mechanics required by managers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740" y="5238750"/>
            <a:ext cx="5269259" cy="1714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Full engineering accountability preserved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1600200"/>
            <a:ext cx="408801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Evidence Managers Can Expect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8490" y="1600200"/>
            <a:ext cx="27753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What Leadership Gains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2050" y="2114550"/>
            <a:ext cx="6117394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Plus Jakarta Sans"/>
              </a:rPr>
              <a:t>What NOT to do: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050" y="2333625"/>
            <a:ext cx="4989165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 i="0" u="none">
                <a:solidFill>
                  <a:srgbClr val="7F1D1D"/>
                </a:solidFill>
                <a:latin typeface="Plus Jakarta Sans"/>
              </a:rPr>
              <a:t>Do not parse raw AI/terminal logs. Do not assume compliance simply because the UI looks working.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4665" y="2133600"/>
            <a:ext cx="510733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Assumption-Free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4665" y="2362200"/>
            <a:ext cx="404053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Ambiguities are flushed out in planning, preventing late-stage rework.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4665" y="3181350"/>
            <a:ext cx="510733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Architectural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4665" y="3409950"/>
            <a:ext cx="404053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AI adheres strictly to enterprise boundaries without silent drift.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4665" y="4229100"/>
            <a:ext cx="510733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Skill-Agnostic 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4665" y="4457700"/>
            <a:ext cx="404053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Replaces individual prompt variations with team-standard quality gates.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7775" y="3040260"/>
            <a:ext cx="5572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Requirements / Scope Clarity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7775" y="3249810"/>
            <a:ext cx="5572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Material requirements and ambiguities are clarified before implementation.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7775" y="3526035"/>
            <a:ext cx="60245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Analysis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3735585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Significant architecture or requirement conflicts are resolved or consciously accepted.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7775" y="4011810"/>
            <a:ext cx="579834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Normal Engineering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7775" y="4221360"/>
            <a:ext cx="5798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Tests, PR review, security, and existing quality controls remain in 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463778"/>
            <a:ext cx="10668000" cy="86082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152054"/>
            <a:ext cx="2524125" cy="2350293"/>
          </a:xfrm>
          <a:prstGeom prst="roundRect">
            <a:avLst>
              <a:gd name="adj" fmla="val 48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6625" y="2152054"/>
            <a:ext cx="2524125" cy="2350293"/>
          </a:xfrm>
          <a:prstGeom prst="roundRect">
            <a:avLst>
              <a:gd name="adj" fmla="val 48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152054"/>
            <a:ext cx="2524125" cy="2350293"/>
          </a:xfrm>
          <a:prstGeom prst="roundRect">
            <a:avLst>
              <a:gd name="adj" fmla="val 48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05875" y="2152054"/>
            <a:ext cx="2524125" cy="2350293"/>
          </a:xfrm>
          <a:prstGeom prst="roundRect">
            <a:avLst>
              <a:gd name="adj" fmla="val 48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463778"/>
            <a:ext cx="38100" cy="86082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428279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2428279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428279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428279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2533054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050" y="2533054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533054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8775" y="2533054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REUSABLE ADOPTION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8105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What We Can Reuse Across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5654278"/>
            <a:ext cx="101917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Strategic Objective: Reuse real brownfield learning and project-team questions so other teams can adopt SDD with less repeated discovery.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1" y="2923579"/>
            <a:ext cx="2343149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Plus Jakarta Sans"/>
              </a:rPr>
              <a:t>Brownfield Walkthrough </a:t>
            </a:r>
            <a:endParaRPr lang="en-IN" sz="1425" b="1" i="0" u="none" dirty="0">
              <a:solidFill>
                <a:srgbClr val="0F172A"/>
              </a:solidFill>
              <a:latin typeface="Plus Jakarta Sans"/>
            </a:endParaRPr>
          </a:p>
          <a:p>
            <a:pPr algn="l"/>
            <a:r>
              <a:rPr sz="1425" b="1" i="0" u="none" dirty="0">
                <a:solidFill>
                  <a:srgbClr val="0F172A"/>
                </a:solidFill>
                <a:latin typeface="Plus Jakarta Sans"/>
              </a:rPr>
              <a:t>&amp;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345137"/>
            <a:ext cx="2143125" cy="9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Adaptive Workflow /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DocNav</a:t>
            </a:r>
            <a:r>
              <a:rPr lang="en-IN" sz="1350" b="0" i="0" u="none" dirty="0">
                <a:solidFill>
                  <a:srgbClr val="475569"/>
                </a:solidFill>
                <a:latin typeface="Plus Jakarta Sans"/>
              </a:rPr>
              <a:t> API integration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experience provides a real brownfield reference.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750" y="2923579"/>
            <a:ext cx="26878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Adoption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4750" y="3266479"/>
            <a:ext cx="2143125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Greenfield and brownfield lessons are being consolidated into practical usage guidance.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2923579"/>
            <a:ext cx="26878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Real Team FAQ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3266479"/>
            <a:ext cx="2143125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Questions from the team’s own hands-on usage capture the adoption issues teams actually encounter.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923579"/>
            <a:ext cx="26878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ADO Integration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66479"/>
            <a:ext cx="2143125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Explored options for connecting SDD artifacts with existing ADO processes.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62200"/>
            <a:ext cx="52197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257550"/>
            <a:ext cx="52197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152900"/>
            <a:ext cx="52197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362200"/>
            <a:ext cx="52197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257550"/>
            <a:ext cx="52197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152900"/>
            <a:ext cx="52197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DISCUSSION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680699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2550" b="1" dirty="0">
                <a:solidFill>
                  <a:srgbClr val="0F172A"/>
                </a:solidFill>
                <a:latin typeface="Plus Jakarta Sans"/>
              </a:rPr>
              <a:t>FAQs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85750" y="6143625"/>
            <a:ext cx="12763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0F172A"/>
                </a:solidFill>
                <a:latin typeface="Plus Jakarta Sans"/>
              </a:rPr>
              <a:t>Reference: SDD Adoption Operating Model • Engineering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2524125"/>
            <a:ext cx="6024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Full SDD path for every bug or story?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781300"/>
            <a:ext cx="6024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No. Selective use based on ambiguity, scope, or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419475"/>
            <a:ext cx="6024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Who approves Constitution guardrail edits?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676650"/>
            <a:ext cx="49078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Ownership should be explicit for the project; approval model must follow the team’s governance.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314825"/>
            <a:ext cx="6024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What if requirements change post-planning?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572000"/>
            <a:ext cx="6024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Update spec first; re-run analyze to expose conflicts.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2524125"/>
            <a:ext cx="5781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How to prevent AI hallucinating decisions?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2781300"/>
            <a:ext cx="49459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Architecture, project guardrails, and human owners remain authoritative; AI should not silently invent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419475"/>
            <a:ext cx="5781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What artifact should managers review?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676650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Scope/requirement clarity, analysis evidence, and normal engineering 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4314825"/>
            <a:ext cx="5781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Can the CLI tool change later?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4572000"/>
            <a:ext cx="5781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Yes. The SDD lifecycle and contracts are tool-agnostic.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810250"/>
            <a:ext cx="106680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81025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466058"/>
            <a:ext cx="2921049" cy="1381125"/>
          </a:xfrm>
          <a:prstGeom prst="roundRect">
            <a:avLst>
              <a:gd name="adj" fmla="val 689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73549" y="3466058"/>
            <a:ext cx="2921049" cy="1381125"/>
          </a:xfrm>
          <a:prstGeom prst="roundRect">
            <a:avLst>
              <a:gd name="adj" fmla="val 689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85099" y="3466058"/>
            <a:ext cx="2921049" cy="1381125"/>
          </a:xfrm>
          <a:prstGeom prst="roundRect">
            <a:avLst>
              <a:gd name="adj" fmla="val 689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4704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FROM EXPERIMENT TO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67925" y="609600"/>
            <a:ext cx="1702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REUSABLE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44116"/>
            <a:ext cx="11430000" cy="525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8FAFC"/>
                </a:solidFill>
                <a:latin typeface="Plus Jakarta Sans"/>
              </a:rPr>
              <a:t>From Experiment to Reusable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36477"/>
            <a:ext cx="9239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We now have greenfield learning, real brownfield evidence, project-team questions, and practical adoption guidance to share with other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048375"/>
            <a:ext cx="82881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SDD Practice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656558"/>
            <a:ext cx="3127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STARTED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866108"/>
            <a:ext cx="3127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AI-Assisted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113758"/>
            <a:ext cx="25971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Individual productivity, but inconsistent ways of working.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3099" y="3656558"/>
            <a:ext cx="3127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VALIDATED 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3099" y="3866108"/>
            <a:ext cx="3127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Greenfield + Brownfield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3099" y="4113758"/>
            <a:ext cx="25971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Lifecycle learning plus real architecture and integration constraints.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4649" y="3656558"/>
            <a:ext cx="3127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NOW REUSABLE 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4649" y="3866108"/>
            <a:ext cx="3127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Practical Adoption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4649" y="4113758"/>
            <a:ext cx="259719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A repeatable path teams can use within existing engineering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1165</Words>
  <Application>Microsoft Office PowerPoint</Application>
  <PresentationFormat>Widescreen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JetBrains Mono</vt:lpstr>
      <vt:lpstr>Aptos</vt:lpstr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Mahantesh Pujar</dc:creator>
  <cp:keywords/>
  <dc:description>generated using python-pptx</dc:description>
  <cp:lastModifiedBy>Mahantesh Pujar</cp:lastModifiedBy>
  <cp:revision>10</cp:revision>
  <dcterms:created xsi:type="dcterms:W3CDTF">2013-01-27T09:14:16Z</dcterms:created>
  <dcterms:modified xsi:type="dcterms:W3CDTF">2026-10-07T12:23:52Z</dcterms:modified>
  <cp:category/>
</cp:coreProperties>
</file>