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outcome: EA has completed hands-on exploration and can now help teams start. This is an enablement proposal, not a claim of enterprise-wide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WorkflowActivities is one project inside AdaptiveWorkflowEngine. The successful 202 demonstrates a live reference path, not a finished Commitment Typing business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Kit adds structure, not automatic approval. Human review, coding standards, testing and pull request checks remain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show 27 existing tests to preserve and experimental T022–T041. Do not imply AMD-001 was implemented. 100% is task mapping, not test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conflate Adaptive Workflow orchestration, Commitment Typing consumer and external DocNav service. Mention earlier Azure CLI/Blob URL setup issues were resolved before successful live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team still owns design choices, acceptance criteria, review, tests and deployment. Spec Kit is a structured assistant, not an SDLC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this as a proposed enablement package. Do not imply every asset has been formally approved or every nominated team onboarded.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projects were nominated across three DR groups; nominations are not adoption. Propose selecting two or three. Ask for a bounded feature, accountable owner, and explicit outcome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EA ENABLEMENT |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From Spec Kit exploration to team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A practical starting path for greenfield and brownfield delivery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77440"/>
            <a:ext cx="10972800" cy="19202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t>We tried it.  We documented it.  We can help teams start.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92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C9CD"/>
                </a:solidFill>
                <a:latin typeface="Aptos"/>
              </a:defRPr>
            </a:pPr>
            <a:r>
              <a:t>Decision sought: sponsor a small number of guided, feature-level pilots.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EVIDENCE | WHAT EA HAS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Practical groundwork—not just a tool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Two different existing-project examples show how the approach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5349240" cy="32918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0292" cy="3291840"/>
          </a:xfrm>
          <a:prstGeom prst="rect">
            <a:avLst/>
          </a:prstGeom>
          <a:solidFill>
            <a:srgbClr val="2A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41448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Todo SDD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90088"/>
            <a:ext cx="49194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Existing Flask / SQLite application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ADO user story 904672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Spec → plan → tasks → analyze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Test-first and regression safeguards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40280"/>
            <a:ext cx="5440680" cy="32918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240280"/>
            <a:ext cx="50292" cy="329184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441448"/>
            <a:ext cx="5056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Adaptive Workflow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990088"/>
            <a:ext cx="501091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Existing multi-project .NET solution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Reference DocNav submission activity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Spec Kit walkthrough for Commitment Typing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Live integration: HTTP 202 + request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704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BC53"/>
                </a:solidFill>
                <a:latin typeface="Aptos"/>
              </a:defRPr>
            </a:pPr>
            <a:r>
              <a:t>Evidence supports a repeatable starting approach; neither example establishes production readiness or measured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DEVELOPER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One ADO story → a structured development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Keep the existing delivery process; add reviewable artifacts and explicit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3865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8895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One bounded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40280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865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Specify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8895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Requirements +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2240280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3865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8895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04488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50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5537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File-level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904488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050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5537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Find gaps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0456" y="3904488"/>
            <a:ext cx="3675887" cy="14173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6C9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4050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45537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6B9CF"/>
                </a:solidFill>
                <a:latin typeface="Aptos"/>
              </a:defRPr>
            </a:pPr>
            <a:r>
              <a:t>Review +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TODO PILOT | CONCRETE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Traceability and quality checks in an existing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A small UX / pagination story made the workflow observable.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212848"/>
            <a:ext cx="3493008" cy="3218688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212848"/>
            <a:ext cx="50292" cy="3218688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140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16 / 16 mapped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62656"/>
            <a:ext cx="3063239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Analysis reported 100% requirement-to-task mapping for the approved baseline. This is NOT test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212848"/>
            <a:ext cx="3502152" cy="3218688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212848"/>
            <a:ext cx="50292" cy="3218688"/>
          </a:xfrm>
          <a:prstGeom prst="rect">
            <a:avLst/>
          </a:prstGeom>
          <a:solidFill>
            <a:srgbClr val="2A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414016"/>
            <a:ext cx="3118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21 baseline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62656"/>
            <a:ext cx="307238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T001–T021 covered setup, feature work, tests and final checks. The task list captured dependencies.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212848"/>
            <a:ext cx="3749039" cy="3218688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2212848"/>
            <a:ext cx="50292" cy="3218688"/>
          </a:xfrm>
          <a:prstGeom prst="rect">
            <a:avLst/>
          </a:prstGeom>
          <a:solidFill>
            <a:srgbClr val="F8B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6" y="2414016"/>
            <a:ext cx="33649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Findings surfaced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962656"/>
            <a:ext cx="331927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Zero critical issues reported; ambiguity in subjective UX wording and specification/plan consistency remained.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1500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6B9CF"/>
                </a:solidFill>
                <a:latin typeface="Aptos"/>
              </a:defRPr>
            </a:pPr>
            <a:r>
              <a:t>Separate experiment: AMD-001 (10 / 20 / 50 items per page) was hypothetical, not ADO-approved; its tasks were not shown as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BROWNFIELD | CONCRETE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Spec Kit can start inside a real enterprise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AdaptiveWorkflowEngine remained the host solution—not a new standalone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5257800" cy="32461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0292" cy="3246120"/>
          </a:xfrm>
          <a:prstGeom prst="rect">
            <a:avLst/>
          </a:prstGeom>
          <a:solidFill>
            <a:srgbClr val="2A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4144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EA 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90088"/>
            <a:ext cx="4828032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Feature specification and clarification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Implementation tasks and review gates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Reference WorkflowActivities integration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Error handling and credential redaction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240280"/>
            <a:ext cx="5532120" cy="32461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2240280"/>
            <a:ext cx="50292" cy="324612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441448"/>
            <a:ext cx="5148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What was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990088"/>
            <a:ext cx="5102352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Build and local smoke checks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Live DocNav submission returned 202 Accepted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Request ID returned to orchestration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Team has a starting pattern to carry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8BC53"/>
                </a:solidFill>
                <a:latin typeface="Aptos"/>
              </a:defRPr>
            </a:pPr>
            <a:r>
              <a:t>Boundary: reference implementation and enablement walkthrough—not a production-ready Commitment Typing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LOW DISRUPTION | TEAM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ADO and Scrum stay. Spec Kit adds clarity between story and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The adoption path should fit existing engineering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11296" cy="297180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86000"/>
            <a:ext cx="50292" cy="2971800"/>
          </a:xfrm>
          <a:prstGeom prst="rect">
            <a:avLst/>
          </a:prstGeom>
          <a:solidFill>
            <a:srgbClr val="2A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487168"/>
            <a:ext cx="3127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035808"/>
            <a:ext cx="308152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Backlog, sprint planning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ADO user stories and IDs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Code review / PR approvals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Existing test and release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3511296" cy="297180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286000"/>
            <a:ext cx="50292" cy="29718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487168"/>
            <a:ext cx="3127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035808"/>
            <a:ext cx="308152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Reviewed spec.md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Technical plan and task list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Cross-artifact analysis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Traceable implementation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286000"/>
            <a:ext cx="3511296" cy="297180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286000"/>
            <a:ext cx="50292" cy="2971800"/>
          </a:xfrm>
          <a:prstGeom prst="rect">
            <a:avLst/>
          </a:prstGeom>
          <a:solidFill>
            <a:srgbClr val="F8B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487168"/>
            <a:ext cx="3127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08152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Unapproved scope changes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Blind AI-generated code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Replacing team ownership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Claims of automatic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PROPOSED EA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A guided first-feature adoption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Small enough for a team to try; concrete enough to assess.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3502152" cy="32918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50292" cy="3291840"/>
          </a:xfrm>
          <a:prstGeom prst="rect">
            <a:avLst/>
          </a:prstGeom>
          <a:solidFill>
            <a:srgbClr val="2A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14016"/>
            <a:ext cx="3118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1.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62656"/>
            <a:ext cx="3072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Choose one suitable story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Check repo readiness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Review architecture context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Confirm owners and success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212848"/>
            <a:ext cx="3502152" cy="32918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212848"/>
            <a:ext cx="50292" cy="329184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414016"/>
            <a:ext cx="3118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2. Work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62656"/>
            <a:ext cx="3072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Run Specify → Plan → Tasks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Review Analyze findings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Support first implementation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Capture blockers and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2212848"/>
            <a:ext cx="3767328" cy="329184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90688" y="2212848"/>
            <a:ext cx="50292" cy="3291840"/>
          </a:xfrm>
          <a:prstGeom prst="rect">
            <a:avLst/>
          </a:prstGeom>
          <a:solidFill>
            <a:srgbClr val="F8B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41401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3. Hand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962656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Practical job aid and examples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Team-owned review and testing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Reusable lessons and FAQ</a:t>
            </a:r>
          </a:p>
          <a:p>
            <a:pPr>
              <a:spcAft>
                <a:spcPts val="800"/>
              </a:spcAft>
              <a:defRPr sz="1500" b="0">
                <a:solidFill>
                  <a:srgbClr val="A6B9CF"/>
                </a:solidFill>
                <a:latin typeface="Aptos"/>
              </a:defRPr>
            </a:pPr>
            <a:r>
              <a:t>Outcome assessment—not invented ROI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C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6C9CD"/>
                </a:solidFill>
                <a:latin typeface="Aptos"/>
              </a:defRPr>
            </a:pPr>
            <a:r>
              <a:t>EXECUTIVE ASK |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Start with 2–3 guided pilots from nominated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6B9CF"/>
                </a:solidFill>
                <a:latin typeface="Aptos"/>
              </a:defRPr>
            </a:pPr>
            <a:r>
              <a:t>A measured rollout, not a broad adoption mandate.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405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562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ENTERPRISE ARCHITECTURE  •  GITHUB SPEC KIT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3796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6B9CF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67712"/>
            <a:ext cx="6903720" cy="32461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7860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8FAFD"/>
                </a:solidFill>
                <a:latin typeface="Aptos"/>
              </a:defRPr>
            </a:pPr>
            <a:r>
              <a:t>What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63824"/>
            <a:ext cx="621792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6B9CF"/>
                </a:solidFill>
                <a:latin typeface="Aptos"/>
              </a:defRPr>
            </a:pPr>
            <a:r>
              <a:t>• DR sponsorship and a named team contact</a:t>
            </a:r>
          </a:p>
          <a:p>
            <a:pPr>
              <a:spcAft>
                <a:spcPts val="800"/>
              </a:spcAft>
              <a:defRPr sz="1800" b="0">
                <a:solidFill>
                  <a:srgbClr val="A6B9CF"/>
                </a:solidFill>
                <a:latin typeface="Aptos"/>
              </a:defRPr>
            </a:pPr>
            <a:r>
              <a:t>• One bounded, reviewable feature per team</a:t>
            </a:r>
          </a:p>
          <a:p>
            <a:pPr>
              <a:spcAft>
                <a:spcPts val="800"/>
              </a:spcAft>
              <a:defRPr sz="1800" b="0">
                <a:solidFill>
                  <a:srgbClr val="A6B9CF"/>
                </a:solidFill>
                <a:latin typeface="Aptos"/>
              </a:defRPr>
            </a:pPr>
            <a:r>
              <a:t>• Time for an EA-guided working session</a:t>
            </a:r>
          </a:p>
          <a:p>
            <a:pPr>
              <a:spcAft>
                <a:spcPts val="800"/>
              </a:spcAft>
              <a:defRPr sz="1800" b="0">
                <a:solidFill>
                  <a:srgbClr val="A6B9CF"/>
                </a:solidFill>
                <a:latin typeface="Aptos"/>
              </a:defRPr>
            </a:pPr>
            <a:r>
              <a:t>• Agreement on baseline and outcome measures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267712"/>
            <a:ext cx="3840480" cy="3246120"/>
          </a:xfrm>
          <a:prstGeom prst="roundRect">
            <a:avLst/>
          </a:prstGeom>
          <a:solidFill>
            <a:srgbClr val="1A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5968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6C9CD"/>
                </a:solidFill>
                <a:latin typeface="Aptos"/>
              </a:defRPr>
            </a:pPr>
            <a:r>
              <a:t>What we will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0040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6B9CF"/>
                </a:solidFill>
                <a:latin typeface="Aptos"/>
              </a:defRPr>
            </a:pPr>
            <a:r>
              <a:t>Time to first usable spec</a:t>
            </a:r>
          </a:p>
          <a:p>
            <a:pPr>
              <a:spcAft>
                <a:spcPts val="800"/>
              </a:spcAft>
              <a:defRPr sz="1700" b="0">
                <a:solidFill>
                  <a:srgbClr val="A6B9CF"/>
                </a:solidFill>
                <a:latin typeface="Aptos"/>
              </a:defRPr>
            </a:pPr>
            <a:r>
              <a:t>Review findings and rework</a:t>
            </a:r>
          </a:p>
          <a:p>
            <a:pPr>
              <a:spcAft>
                <a:spcPts val="800"/>
              </a:spcAft>
              <a:defRPr sz="1700" b="0">
                <a:solidFill>
                  <a:srgbClr val="A6B9CF"/>
                </a:solidFill>
                <a:latin typeface="Aptos"/>
              </a:defRPr>
            </a:pPr>
            <a:r>
              <a:t>Test / PR completion</a:t>
            </a:r>
          </a:p>
          <a:p>
            <a:pPr>
              <a:spcAft>
                <a:spcPts val="800"/>
              </a:spcAft>
              <a:defRPr sz="1700" b="0">
                <a:solidFill>
                  <a:srgbClr val="A6B9CF"/>
                </a:solidFill>
                <a:latin typeface="Aptos"/>
              </a:defRPr>
            </a:pPr>
            <a:r>
              <a:t>Team feedback and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79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8FAFD"/>
                </a:solidFill>
                <a:latin typeface="Aptos"/>
              </a:defRPr>
            </a:pPr>
            <a:r>
              <a:t>Proposed decision: nominate the first pilot teams and schedule kickoff.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