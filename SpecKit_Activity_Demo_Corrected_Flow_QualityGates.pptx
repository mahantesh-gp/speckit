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B44"/>
                </a:solidFill>
                <a:latin typeface="Aptos Display"/>
              </a:rPr>
              <a:t>From Source of Truth to Implementation-Ready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76656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766"/>
                </a:solidFill>
                <a:latin typeface="Aptos"/>
              </a:rPr>
              <a:t>What we gave Spec Kit, where it came from, and how the feature context was established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42415"/>
            <a:ext cx="2148840" cy="658368"/>
          </a:xfrm>
          <a:prstGeom prst="roundRect">
            <a:avLst/>
          </a:prstGeom>
          <a:solidFill>
            <a:srgbClr val="F6F3FC"/>
          </a:solidFill>
          <a:ln>
            <a:solidFill>
              <a:srgbClr val="5B4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Project Constitution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Project-level engineering principles &amp;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16352" y="1042415"/>
            <a:ext cx="28346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Existing Adaptive Workflow Codebase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WorkflowActivities contracts, patterns and project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5584" y="1042415"/>
            <a:ext cx="2606040" cy="658368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DocNav Documentation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API/reference documentation used as external-service source of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6216" y="1042415"/>
            <a:ext cx="3090672" cy="658368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Pilot Activity Requirement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Develop a locally testable external-service workflow activity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150876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16052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704088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005840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2148840"/>
            <a:ext cx="9921240" cy="841248"/>
          </a:xfrm>
          <a:prstGeom prst="roundRect">
            <a:avLst/>
          </a:prstGeom>
          <a:solidFill>
            <a:srgbClr val="F9FAFC"/>
          </a:solidFill>
          <a:ln>
            <a:solidFill>
              <a:srgbClr val="18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182B44"/>
                </a:solidFill>
                <a:latin typeface="Aptos"/>
              </a:rPr>
              <a:t>Input provided to /speckit.specify</a:t>
            </a:r>
          </a:p>
          <a:p>
            <a:pPr algn="ctr"/>
            <a:r>
              <a:rPr sz="1019">
                <a:solidFill>
                  <a:srgbClr val="4B5766"/>
                </a:solidFill>
                <a:latin typeface="Aptos"/>
              </a:rPr>
              <a:t>Feature intent + relevant existing-project context + DocNav reference/source-of-truth context + pilot boundary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9320" y="3054096"/>
            <a:ext cx="201168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/speckit.specify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Generate spec.md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97479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3520440"/>
            <a:ext cx="2176272" cy="1115568"/>
          </a:xfrm>
          <a:prstGeom prst="roundRect">
            <a:avLst/>
          </a:prstGeom>
          <a:solidFill>
            <a:srgbClr val="EFF8F3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Review spec.md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Requirements / user scenarios /
success criteria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56631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1224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/speckit.clarify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Resolve missing or
ambiguous details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15783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/speckit.plan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Technical plan aligned with
constitution &amp; project context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74936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39528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/speckit.tasks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Implementation-ready
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10652760" cy="75895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30" b="1">
                <a:solidFill>
                  <a:srgbClr val="182B44"/>
                </a:solidFill>
                <a:latin typeface="Aptos"/>
              </a:rPr>
              <a:t>Pilot boundary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Local/no-network stub validation only. Production DocNav authentication, onboarding and consuming-team business logic are outside this demonstration.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25312"/>
            <a:ext cx="10652760" cy="438912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Result: source-grounded requirement → reviewed spec → constitution-aligned plan → implementation-ready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82B44"/>
                </a:solidFill>
                <a:latin typeface="Aptos"/>
              </a:rPr>
              <a:t>Spec Kit Core Flow and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76656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B5766"/>
                </a:solidFill>
                <a:latin typeface="Aptos"/>
              </a:rPr>
              <a:t>Core delivery commands are separated from optional / verification quality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6995160" cy="50292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SPEC KIT CORE DELIVERY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490472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/specify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Define requirement &amp;
generate spec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59" y="2304287"/>
            <a:ext cx="146304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728" y="1874519"/>
            <a:ext cx="1490472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/plan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Generate technical
implementation plan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2304287"/>
            <a:ext cx="146304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33087" y="1874519"/>
            <a:ext cx="1490472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/tasks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Create implementation-
ready tasks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79" y="2304287"/>
            <a:ext cx="146304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70447" y="1874519"/>
            <a:ext cx="1490472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/implement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Generate
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078992"/>
            <a:ext cx="3950208" cy="502920"/>
          </a:xfrm>
          <a:prstGeom prst="roundRect">
            <a:avLst/>
          </a:prstGeom>
          <a:solidFill>
            <a:srgbClr val="5B4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QUALITY / VERIFICATION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1764792"/>
            <a:ext cx="3639312" cy="941832"/>
          </a:xfrm>
          <a:prstGeom prst="roundRect">
            <a:avLst/>
          </a:prstGeom>
          <a:solidFill>
            <a:srgbClr val="F6F3FC"/>
          </a:solidFill>
          <a:ln>
            <a:solidFill>
              <a:srgbClr val="5B4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82B44"/>
                </a:solidFill>
                <a:latin typeface="Aptos"/>
              </a:rPr>
              <a:t>/clarify — requirement verification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Optional: detects missing / ambiguous requirement details before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880360"/>
            <a:ext cx="3639312" cy="94183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82B44"/>
                </a:solidFill>
                <a:latin typeface="Aptos"/>
              </a:rPr>
              <a:t>/analyze — pre-implementation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Checks Spec ↔ Plan ↔ Tasks for ambiguity, inconsistency and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995928"/>
            <a:ext cx="3639312" cy="941832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82B44"/>
                </a:solidFill>
                <a:latin typeface="Aptos"/>
              </a:rPr>
              <a:t>/converge — post-implementation</a:t>
            </a:r>
          </a:p>
          <a:p>
            <a:pPr algn="ctr"/>
            <a:r>
              <a:rPr sz="819">
                <a:solidFill>
                  <a:srgbClr val="4B5766"/>
                </a:solidFill>
                <a:latin typeface="Aptos"/>
              </a:rPr>
              <a:t>Checks implementation alignment against Spec + Plan +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46120"/>
            <a:ext cx="6629400" cy="960120"/>
          </a:xfrm>
          <a:prstGeom prst="roundRect">
            <a:avLst/>
          </a:prstGeom>
          <a:solidFill>
            <a:srgbClr val="F9FAFC"/>
          </a:solidFill>
          <a:ln>
            <a:solidFill>
              <a:srgbClr val="5B4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82B44"/>
                </a:solidFill>
                <a:latin typeface="Aptos"/>
              </a:rPr>
              <a:t>How the gates fit around the core flow</a:t>
            </a:r>
          </a:p>
          <a:p>
            <a:pPr algn="ctr"/>
            <a:r>
              <a:rPr sz="1000">
                <a:solidFill>
                  <a:srgbClr val="4B5766"/>
                </a:solidFill>
                <a:latin typeface="Aptos"/>
              </a:rPr>
              <a:t>Specify → [Clarify if needed] → Plan → Tasks → [Analyze] → Implement → [Converge]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462272"/>
            <a:ext cx="6629400" cy="85039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Actual pilot evidence</a:t>
            </a:r>
          </a:p>
          <a:p>
            <a:pPr algn="ctr"/>
            <a:r>
              <a:rPr sz="890">
                <a:solidFill>
                  <a:srgbClr val="4B5766"/>
                </a:solidFill>
                <a:latin typeface="Aptos"/>
              </a:rPr>
              <a:t>Clarify resolved requirement questions. Analyze found G1 → corrected and rerun. Converge reported no remaining identified gaps.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52760" cy="530352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Core flow drives delivery; Clarify, Analyze and Converge provide verification at different checkpoints.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