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0E2A47"/>
                </a:solidFill>
                <a:latin typeface="Aptos"/>
              </a:rPr>
              <a:t>Spec Kit SDD — Practical Adoption Within Existing Scrum / 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0">
                <a:solidFill>
                  <a:srgbClr val="53606E"/>
                </a:solidFill>
                <a:latin typeface="Aptos"/>
              </a:rPr>
              <a:t>Purpose: introduce specification-driven development into the development lifecycle without replacing the project’s existing delivery process.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658368"/>
          </a:xfrm>
          <a:prstGeom prst="roundRect">
            <a:avLst/>
          </a:prstGeom>
          <a:solidFill>
            <a:srgbClr val="EAF6ED"/>
          </a:solidFill>
          <a:ln>
            <a:solidFill>
              <a:srgbClr val="91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87748"/>
                </a:solidFill>
                <a:latin typeface="Aptos"/>
              </a:rPr>
              <a:t>Scrum / ADO / BA / PO / QA / Git remain unchanged  •  Spec Kit adds structured clarification and development artifacts where they add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93392"/>
            <a:ext cx="2103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1">
                <a:solidFill>
                  <a:srgbClr val="2469AD"/>
                </a:solidFill>
                <a:latin typeface="Aptos"/>
              </a:rPr>
              <a:t>HOW IT 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1353312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E2A47"/>
                </a:solidFill>
                <a:latin typeface="Aptos"/>
              </a:rPr>
              <a:t>ADO User Story</a:t>
            </a:r>
          </a:p>
          <a:p>
            <a:pPr algn="ctr"/>
            <a:r>
              <a:rPr sz="780">
                <a:solidFill>
                  <a:srgbClr val="53606E"/>
                </a:solidFill>
                <a:latin typeface="Aptos"/>
              </a:rPr>
              <a:t>system of record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20240" y="2560320"/>
            <a:ext cx="164592" cy="118872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84831" y="2286000"/>
            <a:ext cx="1261872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E2A47"/>
                </a:solidFill>
                <a:latin typeface="Aptos"/>
              </a:rPr>
              <a:t>Refinement</a:t>
            </a:r>
          </a:p>
          <a:p>
            <a:pPr algn="ctr"/>
            <a:r>
              <a:rPr sz="780">
                <a:solidFill>
                  <a:srgbClr val="53606E"/>
                </a:solidFill>
                <a:latin typeface="Aptos"/>
              </a:rPr>
              <a:t>normal Scrum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10711" y="2560320"/>
            <a:ext cx="164592" cy="118872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286000"/>
            <a:ext cx="1444752" cy="694944"/>
          </a:xfrm>
          <a:prstGeom prst="roundRect">
            <a:avLst/>
          </a:prstGeom>
          <a:solidFill>
            <a:srgbClr val="EBF4FC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E2A47"/>
                </a:solidFill>
                <a:latin typeface="Aptos"/>
              </a:rPr>
              <a:t>Specify + Clarify</a:t>
            </a:r>
          </a:p>
          <a:p>
            <a:pPr algn="ctr"/>
            <a:r>
              <a:rPr sz="780">
                <a:solidFill>
                  <a:srgbClr val="53606E"/>
                </a:solidFill>
                <a:latin typeface="Aptos"/>
              </a:rPr>
              <a:t>SDD assist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74920" y="2560320"/>
            <a:ext cx="164592" cy="118872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30368" y="2286000"/>
            <a:ext cx="1353312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E2A47"/>
                </a:solidFill>
                <a:latin typeface="Aptos"/>
              </a:rPr>
              <a:t>Sprint Planning</a:t>
            </a:r>
          </a:p>
          <a:p>
            <a:pPr algn="ctr"/>
            <a:r>
              <a:rPr sz="780">
                <a:solidFill>
                  <a:srgbClr val="53606E"/>
                </a:solidFill>
                <a:latin typeface="Aptos"/>
              </a:rPr>
              <a:t>existing process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47688" y="2560320"/>
            <a:ext cx="164592" cy="118872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03136" y="2286000"/>
            <a:ext cx="1325880" cy="694944"/>
          </a:xfrm>
          <a:prstGeom prst="roundRect">
            <a:avLst/>
          </a:prstGeom>
          <a:solidFill>
            <a:srgbClr val="EBF4FC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E2A47"/>
                </a:solidFill>
                <a:latin typeface="Aptos"/>
              </a:rPr>
              <a:t>Plan + Tasks</a:t>
            </a:r>
          </a:p>
          <a:p>
            <a:pPr algn="ctr"/>
            <a:r>
              <a:rPr sz="780">
                <a:solidFill>
                  <a:srgbClr val="53606E"/>
                </a:solidFill>
                <a:latin typeface="Aptos"/>
              </a:rPr>
              <a:t>SDD assist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93024" y="2560320"/>
            <a:ext cx="164592" cy="118872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48472" y="2286000"/>
            <a:ext cx="1261872" cy="694944"/>
          </a:xfrm>
          <a:prstGeom prst="roundRect">
            <a:avLst/>
          </a:prstGeom>
          <a:solidFill>
            <a:srgbClr val="EBF4FC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E2A47"/>
                </a:solidFill>
                <a:latin typeface="Aptos"/>
              </a:rPr>
              <a:t>Implement</a:t>
            </a:r>
          </a:p>
          <a:p>
            <a:pPr algn="ctr"/>
            <a:r>
              <a:rPr sz="780">
                <a:solidFill>
                  <a:srgbClr val="53606E"/>
                </a:solidFill>
                <a:latin typeface="Aptos"/>
              </a:rPr>
              <a:t>normal branches / PRs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674352" y="2560320"/>
            <a:ext cx="164592" cy="118872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29800" y="2286000"/>
            <a:ext cx="1417320" cy="694944"/>
          </a:xfrm>
          <a:prstGeom prst="roundRect">
            <a:avLst/>
          </a:prstGeom>
          <a:solidFill>
            <a:srgbClr val="EBF4FC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E2A47"/>
                </a:solidFill>
                <a:latin typeface="Aptos"/>
              </a:rPr>
              <a:t>Converge</a:t>
            </a:r>
          </a:p>
          <a:p>
            <a:pPr algn="ctr"/>
            <a:r>
              <a:rPr sz="780">
                <a:solidFill>
                  <a:srgbClr val="53606E"/>
                </a:solidFill>
                <a:latin typeface="Aptos"/>
              </a:rPr>
              <a:t>alignment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73552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ctr"/>
            <a:r>
              <a:rPr sz="1250" b="1">
                <a:solidFill>
                  <a:srgbClr val="0E2A47"/>
                </a:solidFill>
                <a:latin typeface="Aptos"/>
              </a:rPr>
              <a:t>1  Selective SDD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53606E"/>
                </a:solidFill>
                <a:latin typeface="Aptos"/>
              </a:rPr>
              <a:t>Not every User Story needs Spec Kit. Use it where ambiguity, complexity, dependencies or shared reasoning justify the additional structure.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273552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ctr"/>
            <a:r>
              <a:rPr sz="1250" b="1">
                <a:solidFill>
                  <a:srgbClr val="0E2A47"/>
                </a:solidFill>
                <a:latin typeface="Aptos"/>
              </a:rPr>
              <a:t>2  Developer / Team Model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53606E"/>
                </a:solidFill>
                <a:latin typeface="Aptos"/>
              </a:rPr>
              <a:t>ADO stays authoritative. For parallel work, keep stories independently implementable and minimally overlapping; share spec/plan/tasks only for one cohesive capability.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273552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ctr"/>
            <a:r>
              <a:rPr sz="1250" b="1">
                <a:solidFill>
                  <a:srgbClr val="0E2A47"/>
                </a:solidFill>
                <a:latin typeface="Aptos"/>
              </a:rPr>
              <a:t>3  What the Pilot Established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53606E"/>
                </a:solidFill>
                <a:latin typeface="Aptos"/>
              </a:rPr>
              <a:t>A working Todo-based brownfield reference, developer usage guidance, refinement/clarification flow, traceability approach and multi-developer/convergence guidance.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864608"/>
            <a:ext cx="5349240" cy="960120"/>
          </a:xfrm>
          <a:prstGeom prst="roundRect">
            <a:avLst/>
          </a:prstGeom>
          <a:solidFill>
            <a:srgbClr val="FFF6E0"/>
          </a:solidFill>
          <a:ln>
            <a:solidFill>
              <a:srgbClr val="DAB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ctr"/>
            <a:r>
              <a:rPr sz="1250" b="1">
                <a:solidFill>
                  <a:srgbClr val="B57D14"/>
                </a:solidFill>
                <a:latin typeface="Aptos"/>
              </a:rPr>
              <a:t>ADO Integration &amp; Automation — Exploration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53606E"/>
                </a:solidFill>
                <a:latin typeface="Aptos"/>
              </a:rPr>
              <a:t>Explore automation to reduce manual User Story handoffs and improve traceability. This is an enhancement opportunity, not a prerequisite for the operating model.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864608"/>
            <a:ext cx="5349240" cy="960120"/>
          </a:xfrm>
          <a:prstGeom prst="roundRect">
            <a:avLst/>
          </a:prstGeom>
          <a:solidFill>
            <a:srgbClr val="EBF4FC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ctr"/>
            <a:r>
              <a:rPr sz="1250" b="1">
                <a:solidFill>
                  <a:srgbClr val="2469AD"/>
                </a:solidFill>
                <a:latin typeface="Aptos"/>
              </a:rPr>
              <a:t>Next Validation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53606E"/>
                </a:solidFill>
                <a:latin typeface="Aptos"/>
              </a:rPr>
              <a:t>Apply the approach in real project teams and normal mixed sprints to validate developer experience, parallel work, dependencies, overhead and practical adoption.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53328"/>
            <a:ext cx="9921240" cy="45720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Outcome: a low-disruption path to introduce SDD into existing projects, with ADO retained as the delivery system of record.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