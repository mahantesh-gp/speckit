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F4C"/>
                </a:solidFill>
                <a:latin typeface="Aptos"/>
              </a:rPr>
              <a:t>Developer Flow — Using Spec Kit Inside Our Existing Scrum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52606E"/>
                </a:solidFill>
                <a:latin typeface="Aptos"/>
              </a:rPr>
              <a:t>Start from the ADO User Story. Use SDD selectively during refinement and development; the existing project process remains intact.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469AD"/>
                </a:solidFill>
                <a:latin typeface="Aptos"/>
              </a:rPr>
              <a:t>BEFORE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D6F41"/>
                </a:solidFill>
                <a:latin typeface="Aptos"/>
              </a:rPr>
              <a:t>DURING SPRINT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7D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ADO User Story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Authoritative requirement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83664" y="1965960"/>
            <a:ext cx="164592" cy="128016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29968" y="1645920"/>
            <a:ext cx="1325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7D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Refinement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BA / PO / Dev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10712" y="1965960"/>
            <a:ext cx="164592" cy="128016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47872" y="1645920"/>
            <a:ext cx="1417320" cy="822960"/>
          </a:xfrm>
          <a:prstGeom prst="roundRect">
            <a:avLst/>
          </a:prstGeom>
          <a:solidFill>
            <a:srgbClr val="FFF5DD"/>
          </a:solidFill>
          <a:ln>
            <a:solidFill>
              <a:srgbClr val="C7D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Assess SDD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Use only if it adds value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20055" y="1965960"/>
            <a:ext cx="164592" cy="128016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60" y="1645920"/>
            <a:ext cx="1600200" cy="822960"/>
          </a:xfrm>
          <a:prstGeom prst="roundRect">
            <a:avLst/>
          </a:prstGeom>
          <a:solidFill>
            <a:srgbClr val="E8F2FB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Requirement Context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Refined story file / project context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21424" y="1965960"/>
            <a:ext cx="164592" cy="128016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67728" y="1645920"/>
            <a:ext cx="1508760" cy="822960"/>
          </a:xfrm>
          <a:prstGeom prst="roundRect">
            <a:avLst/>
          </a:prstGeom>
          <a:solidFill>
            <a:srgbClr val="E8F2FB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Specify → Clarify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Surface gaps / questions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531352" y="1965960"/>
            <a:ext cx="164592" cy="128016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77656" y="1645920"/>
            <a:ext cx="1737360" cy="822960"/>
          </a:xfrm>
          <a:prstGeom prst="roundRect">
            <a:avLst/>
          </a:prstGeom>
          <a:solidFill>
            <a:srgbClr val="E8F5EB"/>
          </a:solidFill>
          <a:ln>
            <a:solidFill>
              <a:srgbClr val="C7D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Resolve &amp; Update ADO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BA/PO decision → AC/spec aligned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907792"/>
            <a:ext cx="2971800" cy="658368"/>
          </a:xfrm>
          <a:prstGeom prst="roundRect">
            <a:avLst/>
          </a:prstGeom>
          <a:solidFill>
            <a:srgbClr val="E8F5EB"/>
          </a:solidFill>
          <a:ln>
            <a:solidFill>
              <a:srgbClr val="8BB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100" b="1">
                <a:solidFill>
                  <a:srgbClr val="162F4C"/>
                </a:solidFill>
                <a:latin typeface="Aptos"/>
              </a:rPr>
              <a:t>Ready for Sprint Planning</a:t>
            </a:r>
          </a:p>
          <a:p>
            <a:pPr algn="ctr">
              <a:spcBef>
                <a:spcPts val="300"/>
              </a:spcBef>
            </a:pPr>
            <a:r>
              <a:rPr sz="860">
                <a:solidFill>
                  <a:srgbClr val="52606E"/>
                </a:solidFill>
                <a:latin typeface="Aptos"/>
              </a:rPr>
              <a:t>Requirement decisions resolved; supporting spec is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886200"/>
            <a:ext cx="1417320" cy="786384"/>
          </a:xfrm>
          <a:prstGeom prst="roundRect">
            <a:avLst/>
          </a:prstGeom>
          <a:solidFill>
            <a:srgbClr val="E8F2FB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Plan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Technical approach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24328" y="4178808"/>
            <a:ext cx="201168" cy="137160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88920" y="3886200"/>
            <a:ext cx="1417320" cy="786384"/>
          </a:xfrm>
          <a:prstGeom prst="roundRect">
            <a:avLst/>
          </a:prstGeom>
          <a:solidFill>
            <a:srgbClr val="E8F2FB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Tasks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Story-oriented breakdown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270248" y="4178808"/>
            <a:ext cx="201168" cy="137160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26280" y="3886200"/>
            <a:ext cx="1417320" cy="786384"/>
          </a:xfrm>
          <a:prstGeom prst="roundRect">
            <a:avLst/>
          </a:prstGeom>
          <a:solidFill>
            <a:srgbClr val="E8F2FB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Implement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Code + tests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07608" y="4178808"/>
            <a:ext cx="201168" cy="137160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3886200"/>
            <a:ext cx="1417320" cy="786384"/>
          </a:xfrm>
          <a:prstGeom prst="roundRect">
            <a:avLst/>
          </a:prstGeom>
          <a:solidFill>
            <a:srgbClr val="E8F2FB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Converge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Check implementation vs intent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44967" y="4178808"/>
            <a:ext cx="201168" cy="137160"/>
          </a:xfrm>
          <a:prstGeom prst="right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3886200"/>
            <a:ext cx="14173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7D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050" b="1">
                <a:solidFill>
                  <a:srgbClr val="162F4C"/>
                </a:solidFill>
                <a:latin typeface="Aptos"/>
              </a:rPr>
              <a:t>PR / QA</a:t>
            </a:r>
          </a:p>
          <a:p>
            <a:pPr algn="ctr">
              <a:spcBef>
                <a:spcPts val="300"/>
              </a:spcBef>
            </a:pPr>
            <a:r>
              <a:rPr sz="830">
                <a:solidFill>
                  <a:srgbClr val="52606E"/>
                </a:solidFill>
                <a:latin typeface="Aptos"/>
              </a:rPr>
              <a:t>Normal project controls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38928"/>
            <a:ext cx="5257800" cy="932688"/>
          </a:xfrm>
          <a:prstGeom prst="roundRect">
            <a:avLst/>
          </a:prstGeom>
          <a:solidFill>
            <a:srgbClr val="FFF5DD"/>
          </a:solidFill>
          <a:ln>
            <a:solidFill>
              <a:srgbClr val="CF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150" b="1">
                <a:solidFill>
                  <a:srgbClr val="162F4C"/>
                </a:solidFill>
                <a:latin typeface="Aptos"/>
              </a:rPr>
              <a:t>Architect Guidance — Requirement Input</a:t>
            </a:r>
          </a:p>
          <a:p>
            <a:pPr algn="ctr">
              <a:spcBef>
                <a:spcPts val="300"/>
              </a:spcBef>
            </a:pPr>
            <a:r>
              <a:rPr sz="919">
                <a:solidFill>
                  <a:srgbClr val="52606E"/>
                </a:solidFill>
                <a:latin typeface="Aptos"/>
              </a:rPr>
              <a:t>Do not repeat a long User Story inline with /speckit.specify. Keep the refined requirement in a project file/context and use that as the working input.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5138928"/>
            <a:ext cx="5257800" cy="932688"/>
          </a:xfrm>
          <a:prstGeom prst="roundRect">
            <a:avLst/>
          </a:prstGeom>
          <a:solidFill>
            <a:srgbClr val="E8F5EB"/>
          </a:solidFill>
          <a:ln>
            <a:solidFill>
              <a:srgbClr val="8BB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150" b="1">
                <a:solidFill>
                  <a:srgbClr val="162F4C"/>
                </a:solidFill>
                <a:latin typeface="Aptos"/>
              </a:rPr>
              <a:t>Developer Guardrail</a:t>
            </a:r>
          </a:p>
          <a:p>
            <a:pPr algn="ctr">
              <a:spcBef>
                <a:spcPts val="300"/>
              </a:spcBef>
            </a:pPr>
            <a:r>
              <a:rPr sz="919">
                <a:solidFill>
                  <a:srgbClr val="52606E"/>
                </a:solidFill>
                <a:latin typeface="Aptos"/>
              </a:rPr>
              <a:t>ADO remains the system of record. AI can identify ambiguity and propose questions, but it must not invent the business decision.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093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62F4C"/>
                </a:solidFill>
                <a:latin typeface="Aptos"/>
              </a:rPr>
              <a:t>Simple/localized story? Normal development without Spec Kit is valid.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F4C"/>
                </a:solidFill>
                <a:latin typeface="Aptos"/>
              </a:rPr>
              <a:t>Developer Team Model — Mapping, Parallel Work &amp;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52606E"/>
                </a:solidFill>
                <a:latin typeface="Aptos"/>
              </a:rPr>
              <a:t>Keep stories independently implementable for parallel development; share Spec Kit context only when the stories form one cohesive capability.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520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7D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200" b="1">
                <a:solidFill>
                  <a:srgbClr val="162F4C"/>
                </a:solidFill>
                <a:latin typeface="Aptos"/>
              </a:rPr>
              <a:t>Default Mapping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52606E"/>
                </a:solidFill>
                <a:latin typeface="Aptos"/>
              </a:rPr>
              <a:t>1 User Story → 1 Spec Kit feature
Preferred when the story is cohesive and independently testable.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5112" y="1234440"/>
            <a:ext cx="3520440" cy="914400"/>
          </a:xfrm>
          <a:prstGeom prst="roundRect">
            <a:avLst/>
          </a:prstGeom>
          <a:solidFill>
            <a:srgbClr val="E8F2FB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200" b="1">
                <a:solidFill>
                  <a:srgbClr val="162F4C"/>
                </a:solidFill>
                <a:latin typeface="Aptos"/>
              </a:rPr>
              <a:t>Related Stories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52606E"/>
                </a:solidFill>
                <a:latin typeface="Aptos"/>
              </a:rPr>
              <a:t>Multiple User Stories → 1 feature only when they share one cohesive capability and common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7304" y="1234440"/>
            <a:ext cx="3520440" cy="914400"/>
          </a:xfrm>
          <a:prstGeom prst="roundRect">
            <a:avLst/>
          </a:prstGeom>
          <a:solidFill>
            <a:srgbClr val="FFF5DD"/>
          </a:solidFill>
          <a:ln>
            <a:solidFill>
              <a:srgbClr val="CF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200" b="1">
                <a:solidFill>
                  <a:srgbClr val="162F4C"/>
                </a:solidFill>
                <a:latin typeface="Aptos"/>
              </a:rPr>
              <a:t>Parallel-Work Rule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52606E"/>
                </a:solidFill>
                <a:latin typeface="Aptos"/>
              </a:rPr>
              <a:t>Structure stories as independent, non-overlapping work with clear ownership and minimal implementation overlap.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2487168"/>
            <a:ext cx="3794760" cy="685800"/>
          </a:xfrm>
          <a:prstGeom prst="roundRect">
            <a:avLst/>
          </a:prstGeom>
          <a:solidFill>
            <a:srgbClr val="E8F2FB"/>
          </a:solidFill>
          <a:ln>
            <a:solidFill>
              <a:srgbClr val="2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200" b="1">
                <a:solidFill>
                  <a:srgbClr val="162F4C"/>
                </a:solidFill>
                <a:latin typeface="Aptos"/>
              </a:rPr>
              <a:t>Shared Feature Context — when appropriate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52606E"/>
                </a:solidFill>
                <a:latin typeface="Aptos"/>
              </a:rPr>
              <a:t>spec.md  +  plan.md  +  tasks.md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42900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7D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150" b="1">
                <a:solidFill>
                  <a:srgbClr val="162F4C"/>
                </a:solidFill>
                <a:latin typeface="Aptos"/>
              </a:rPr>
              <a:t>Developer A — US1: Complete Todo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52606E"/>
                </a:solidFill>
                <a:latin typeface="Aptos"/>
              </a:rPr>
              <a:t>Own ADO story → branch → implement → tests → PR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79792" y="342900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7D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150" b="1">
                <a:solidFill>
                  <a:srgbClr val="162F4C"/>
                </a:solidFill>
                <a:latin typeface="Aptos"/>
              </a:rPr>
              <a:t>Developer B — US2: Delete Todo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52606E"/>
                </a:solidFill>
                <a:latin typeface="Aptos"/>
              </a:rPr>
              <a:t>Own ADO story → branch → implement → tests → PR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743200" y="4443984"/>
            <a:ext cx="384048" cy="347472"/>
          </a:xfrm>
          <a:prstGeom prst="down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9144000" y="4443984"/>
            <a:ext cx="384048" cy="347472"/>
          </a:xfrm>
          <a:prstGeom prst="down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4709160"/>
            <a:ext cx="397763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7D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150" b="1">
                <a:solidFill>
                  <a:srgbClr val="162F4C"/>
                </a:solidFill>
                <a:latin typeface="Aptos"/>
              </a:rPr>
              <a:t>Integrate the In-Scope Changes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52606E"/>
                </a:solidFill>
                <a:latin typeface="Aptos"/>
              </a:rPr>
              <a:t>Normal merge / rebase / PR process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16168" y="5394960"/>
            <a:ext cx="384048" cy="310896"/>
          </a:xfrm>
          <a:prstGeom prst="downArrow">
            <a:avLst/>
          </a:prstGeom>
          <a:solidFill>
            <a:srgbClr val="2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5687568"/>
            <a:ext cx="5349240" cy="658368"/>
          </a:xfrm>
          <a:prstGeom prst="roundRect">
            <a:avLst/>
          </a:prstGeom>
          <a:solidFill>
            <a:srgbClr val="E8F5EB"/>
          </a:solidFill>
          <a:ln>
            <a:solidFill>
              <a:srgbClr val="8BB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150" b="1">
                <a:solidFill>
                  <a:srgbClr val="162F4C"/>
                </a:solidFill>
                <a:latin typeface="Aptos"/>
              </a:rPr>
              <a:t>Feature-Level Converge</a:t>
            </a:r>
          </a:p>
          <a:p>
            <a:pPr algn="ctr">
              <a:spcBef>
                <a:spcPts val="300"/>
              </a:spcBef>
            </a:pPr>
            <a:r>
              <a:rPr sz="869">
                <a:solidFill>
                  <a:srgbClr val="52606E"/>
                </a:solidFill>
                <a:latin typeface="Aptos"/>
              </a:rPr>
              <a:t>Run after the in-scope implementations are integrated; validate the combined result against the shared feature intent.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194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0" b="0">
                <a:solidFill>
                  <a:srgbClr val="52606E"/>
                </a:solidFill>
                <a:latin typeface="Aptos"/>
              </a:rPr>
              <a:t>If Dev A finishes first:
Do not block the normal PR flow. The shared feature is simply not fully converged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9194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0" b="0">
                <a:solidFill>
                  <a:srgbClr val="52606E"/>
                </a:solidFill>
                <a:latin typeface="Aptos"/>
              </a:rPr>
              <a:t>If Converge finds a gap:
Update only the impacted spec/tasks/tests/code and re-check alignment.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