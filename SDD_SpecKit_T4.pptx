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7" r:id="rId18"/>
    <p:sldId id="266" r:id="rId17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9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2F4C"/>
                </a:solidFill>
                <a:latin typeface="Aptos"/>
              </a:rPr>
              <a:t>We Already Have Scrum. Where Does SDD Fit?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977"/>
                </a:solidFill>
                <a:latin typeface="Aptos"/>
              </a:rPr>
              <a:t>A practical view from the Todo pilot — for teams that already work comfortably with ADO, Scrum, Git and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F4C"/>
                </a:solidFill>
                <a:latin typeface="Aptos"/>
              </a:rPr>
              <a:t>ADO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198424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9659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F4C"/>
                </a:solidFill>
                <a:latin typeface="Aptos"/>
              </a:rPr>
              <a:t>Refinement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18688" y="198424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1572768"/>
            <a:ext cx="192024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00784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SDD can help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39696"/>
            <a:ext cx="159105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Clarify behavior before commitment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98424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965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F4C"/>
                </a:solidFill>
                <a:latin typeface="Aptos"/>
              </a:rPr>
              <a:t>Sprint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198424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4927" y="1572768"/>
            <a:ext cx="192024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1700784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SDD can help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139696"/>
            <a:ext cx="159105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Plan, implement and check 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98424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19659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F4C"/>
                </a:solidFill>
                <a:latin typeface="Aptos"/>
              </a:rPr>
              <a:t>Test / Review /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9476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A2F4C"/>
                </a:solidFill>
                <a:latin typeface="Aptos"/>
              </a:rPr>
              <a:t>Scrum stays. ADO stays. Git/PR stays. BA/PO/QA roles stay.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617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62D"/>
                </a:solidFill>
                <a:latin typeface="Aptos"/>
              </a:rPr>
              <a:t>The question is not “How do we replace Scrum with SDD?”  It is “Where can SDD reduce ambiguity and rework inside the Scrum process we already use?”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2F4C"/>
                </a:solidFill>
                <a:latin typeface="Aptos"/>
              </a:rPr>
              <a:t>What Actually Changes for My Team?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977"/>
                </a:solidFill>
                <a:latin typeface="Aptos"/>
              </a:rPr>
              <a:t>Very little in the delivery process — SDD adds structured reasoning at selected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66360" cy="416052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45336"/>
            <a:ext cx="4837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What we already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84248"/>
            <a:ext cx="4837176" cy="3465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ADO User Story</a:t>
            </a:r>
            <a:br/>
            <a:r>
              <a:t>↓</a:t>
            </a:r>
            <a:br/>
            <a:r>
              <a:t>Backlog Refinement</a:t>
            </a:r>
            <a:br/>
            <a:r>
              <a:t>↓</a:t>
            </a:r>
            <a:br/>
            <a:r>
              <a:t>Sprint Planning</a:t>
            </a:r>
            <a:br/>
            <a:r>
              <a:t>↓</a:t>
            </a:r>
            <a:br/>
            <a:r>
              <a:t>Development</a:t>
            </a:r>
            <a:br/>
            <a:r>
              <a:t>↓</a:t>
            </a:r>
            <a:br/>
            <a:r>
              <a:t>Testing / Review / PR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166360" cy="416052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545336"/>
            <a:ext cx="4837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For an SDD-selected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984248"/>
            <a:ext cx="4837176" cy="3465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ADO User Story</a:t>
            </a:r>
            <a:br/>
            <a:r>
              <a:t>↓</a:t>
            </a:r>
            <a:br/>
            <a:r>
              <a:t>Refinement + structured Specify / Clarify</a:t>
            </a:r>
            <a:br/>
            <a:r>
              <a:t>↓</a:t>
            </a:r>
            <a:br/>
            <a:r>
              <a:t>Story becomes ready</a:t>
            </a:r>
            <a:br/>
            <a:r>
              <a:t>↓</a:t>
            </a:r>
            <a:br/>
            <a:r>
              <a:t>Sprint Planning</a:t>
            </a:r>
            <a:br/>
            <a:r>
              <a:t>↓</a:t>
            </a:r>
            <a:br/>
            <a:r>
              <a:t>Plan / Tasks / Analyze / Implement / Converge</a:t>
            </a:r>
            <a:br/>
            <a:r>
              <a:t>↓</a:t>
            </a:r>
            <a:br/>
            <a:r>
              <a:t>Testing / Review / 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F4C"/>
                </a:solidFill>
                <a:latin typeface="Aptos"/>
              </a:rPr>
              <a:t>No separate SDD sprint. No replacement for ADO. No requirement to use the full SDD path for every 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2F4C"/>
                </a:solidFill>
                <a:latin typeface="Aptos"/>
              </a:rPr>
              <a:t>Why Would I Use It? — One Real Todo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977"/>
                </a:solidFill>
                <a:latin typeface="Aptos"/>
              </a:rPr>
              <a:t>US-904672 • Improve Todo List UX &amp; Pagination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508760" cy="310896"/>
          </a:xfrm>
          <a:prstGeom prst="roundRect">
            <a:avLst/>
          </a:prstGeom>
          <a:solidFill>
            <a:srgbClr val="2D7A54"/>
          </a:solidFill>
          <a:ln>
            <a:solidFill>
              <a:srgbClr val="2D7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4732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OBSERVED IN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246120" cy="356616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65376"/>
            <a:ext cx="29169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The story looked understandable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04288"/>
            <a:ext cx="29169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Clean Todo list</a:t>
            </a:r>
            <a:br/>
            <a:r>
              <a:t>CRUD actions</a:t>
            </a:r>
            <a:br/>
            <a:r>
              <a:t>Pagination</a:t>
            </a:r>
            <a:br/>
            <a:r>
              <a:t>Pending / Completed states</a:t>
            </a:r>
            <a:br/>
            <a:br/>
            <a:r>
              <a:t>At first glance, a developer could start coding.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737360"/>
            <a:ext cx="3246120" cy="356616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1865376"/>
            <a:ext cx="29169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SDD clarification exposed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304288"/>
            <a:ext cx="29169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What is the page size?</a:t>
            </a:r>
            <a:br/>
            <a:br/>
            <a:r>
              <a:t>What happens if Delete/Complete leaves the current page empty?</a:t>
            </a:r>
            <a:br/>
            <a:br/>
            <a:r>
              <a:t>What should page 0 / negative / beyond-last do?</a:t>
            </a:r>
            <a:br/>
            <a:br/>
            <a:r>
              <a:t>What pagination information is shown?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37360"/>
            <a:ext cx="3246120" cy="356616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865376"/>
            <a:ext cx="29169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Decisions became explicit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304288"/>
            <a:ext cx="291693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10 items per page</a:t>
            </a:r>
            <a:br/>
            <a:br/>
            <a:r>
              <a:t>Move to previous page when required</a:t>
            </a:r>
            <a:br/>
            <a:br/>
            <a:r>
              <a:t>Clamp to nearest valid page</a:t>
            </a:r>
            <a:br/>
            <a:br/>
            <a:r>
              <a:t>Show current page + total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50992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F4C"/>
                </a:solidFill>
                <a:latin typeface="Aptos"/>
              </a:rPr>
              <a:t>Pilot learning: SDD changed the quality of the conversation before coding — not just the number of documents generated.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2F4C"/>
                </a:solidFill>
                <a:latin typeface="Aptos"/>
              </a:rPr>
              <a:t>What Does Each Role Get From SDD?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977"/>
                </a:solidFill>
                <a:latin typeface="Aptos"/>
              </a:rPr>
              <a:t>Same Scrum roles — clearer information at the point each role needs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2212848" cy="429768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545336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984248"/>
            <a:ext cx="1883664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Less guessing before coding.</a:t>
            </a:r>
            <a:br/>
            <a:r>
              <a:t>Raises gaps instead of silently choosing behavior.</a:t>
            </a:r>
            <a:br/>
            <a:br/>
            <a:r>
              <a:t>Todo reference:</a:t>
            </a:r>
            <a:br/>
            <a:r>
              <a:t>UX/Pagination: last-item-on-page behavior clarified before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5768" y="1417320"/>
            <a:ext cx="2212848" cy="429768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545336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984248"/>
            <a:ext cx="1883664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AI-assisted questions can expose missing business behavior.</a:t>
            </a:r>
            <a:br/>
            <a:br/>
            <a:r>
              <a:t>Todo reference:</a:t>
            </a:r>
            <a:br/>
            <a:r>
              <a:t>Due Date: unresolved overdue behavior remains an Outstanding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0056" y="1417320"/>
            <a:ext cx="2212848" cy="429768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4648" y="1545336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QA /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1984248"/>
            <a:ext cx="1883664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Clarified behavior becomes concrete test scenarios earlier.</a:t>
            </a:r>
            <a:br/>
            <a:br/>
            <a:r>
              <a:t>Todo reference:</a:t>
            </a:r>
            <a:br/>
            <a:r>
              <a:t>Pagination: page 0, negative and beyond-last now have expected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344" y="1417320"/>
            <a:ext cx="2212848" cy="429768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88936" y="1545336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PO / 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8936" y="1984248"/>
            <a:ext cx="1883664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Keeps authority over material business decisions.</a:t>
            </a:r>
            <a:br/>
            <a:br/>
            <a:r>
              <a:t>Todo reference:</a:t>
            </a:r>
            <a:br/>
            <a:r>
              <a:t>Outstanding question → PO/business answer → ADO/AC → spec update.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28632" y="1417320"/>
            <a:ext cx="2212848" cy="429768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93224" y="1545336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Manager /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3224" y="1984248"/>
            <a:ext cx="1883664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Can apply SDD selectively where the expected value is higher.</a:t>
            </a:r>
            <a:br/>
            <a:br/>
            <a:r>
              <a:t>Todo reference:</a:t>
            </a:r>
            <a:br/>
            <a:r>
              <a:t>Icon-only UI change stays normal development; complex stories can use SDD.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92531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F4C"/>
                </a:solidFill>
                <a:latin typeface="Aptos"/>
              </a:rPr>
              <a:t>AI assists. It does not become the BA, PO, tester or architecture authority.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2F4C"/>
                </a:solidFill>
                <a:latin typeface="Aptos"/>
              </a:rPr>
              <a:t>Do I Need SDD for Every Story? — No.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977"/>
                </a:solidFill>
                <a:latin typeface="Aptos"/>
              </a:rPr>
              <a:t>Use it where structured reasoning adds value; keep simple work simple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120640" cy="416052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545336"/>
            <a:ext cx="47914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Good SDD candidate — UX &amp; Pagination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984248"/>
            <a:ext cx="4791455" cy="3465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Why?</a:t>
            </a:r>
            <a:br/>
            <a:r>
              <a:t>• Multiple behavior scenarios</a:t>
            </a:r>
            <a:br/>
            <a:r>
              <a:t>• Missing edge-case decisions</a:t>
            </a:r>
            <a:br/>
            <a:r>
              <a:t>• CRUD + pagination interaction</a:t>
            </a:r>
            <a:br/>
            <a:r>
              <a:t>• Clear QA implications</a:t>
            </a:r>
            <a:br/>
            <a:br/>
            <a:r>
              <a:t>Result: four important decisions were made explicit before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120640" cy="416052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545336"/>
            <a:ext cx="47914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Normal development — Replace Action Text with Icons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984248"/>
            <a:ext cx="4791455" cy="3465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Why not full SDD?</a:t>
            </a:r>
            <a:br/>
            <a:r>
              <a:t>• Localized UI change</a:t>
            </a:r>
            <a:br/>
            <a:r>
              <a:t>• Expected behavior already clear</a:t>
            </a:r>
            <a:br/>
            <a:r>
              <a:t>• Low reasoning value from a full feature specification</a:t>
            </a:r>
            <a:br/>
            <a:br/>
            <a:r>
              <a:t>Result: normal development is the proportionate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F4C"/>
                </a:solidFill>
                <a:latin typeface="Aptos"/>
              </a:rPr>
              <a:t>During normal refinement, the team makes a lightweight suitability decision — not another approval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2F4C"/>
                </a:solidFill>
                <a:latin typeface="Aptos"/>
              </a:rPr>
              <a:t>What If Nobody in Refinement Knows the Answer?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977"/>
                </a:solidFill>
                <a:latin typeface="Aptos"/>
              </a:rPr>
              <a:t>US-904674 • Due Date &amp; Overdue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057400" cy="310896"/>
          </a:xfrm>
          <a:prstGeom prst="roundRect">
            <a:avLst/>
          </a:prstGeom>
          <a:solidFill>
            <a:srgbClr val="2D7A54"/>
          </a:solidFill>
          <a:ln>
            <a:solidFill>
              <a:srgbClr val="2D7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4732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OBSERVED + REVIEW REFINEMENT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828800"/>
            <a:ext cx="1481328" cy="251460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956816"/>
            <a:ext cx="1152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Dev + 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395728"/>
            <a:ext cx="115214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Gap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78892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4248" y="1828800"/>
            <a:ext cx="1481328" cy="251460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1956816"/>
            <a:ext cx="1152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spec.md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395728"/>
            <a:ext cx="115214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Outstanding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78892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48456" y="1828800"/>
            <a:ext cx="1481328" cy="251460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3048" y="1956816"/>
            <a:ext cx="1152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ADO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2395728"/>
            <a:ext cx="115214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Question 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278892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12664" y="1828800"/>
            <a:ext cx="1481328" cy="251460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77256" y="1956816"/>
            <a:ext cx="1152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PO / 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7256" y="2395728"/>
            <a:ext cx="115214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Authoritative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278892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76872" y="1828800"/>
            <a:ext cx="1481328" cy="251460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41464" y="1956816"/>
            <a:ext cx="1152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ADO / 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2395728"/>
            <a:ext cx="115214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Decision recorded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78892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1828800"/>
            <a:ext cx="1481328" cy="251460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5672" y="1956816"/>
            <a:ext cx="1152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Spec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5672" y="2395728"/>
            <a:ext cx="115214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Decision synchronized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278892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05288" y="1828800"/>
            <a:ext cx="1481328" cy="251460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1956816"/>
            <a:ext cx="1152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80" y="2395728"/>
            <a:ext cx="115214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Proceed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0060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F4C"/>
                </a:solidFill>
                <a:latin typeface="Aptos"/>
              </a:rPr>
              <a:t>Real Todo example: “When exactly does a calendar due date become overdue?” was retained as an Outstanding Question rather than guessed.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44068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F262D"/>
                </a:solidFill>
                <a:latin typeface="Aptos"/>
              </a:rPr>
              <a:t>Rule: a material unanswered business question remains open until the appropriate stakeholder decides 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870448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5C6977"/>
                </a:solidFill>
                <a:latin typeface="Aptos"/>
              </a:rPr>
              <a:t>Mani / Satish review: approach aligned; asynchronous stakeholder clarification was the key operating-model refinement.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2F4C"/>
                </a:solidFill>
                <a:latin typeface="Aptos"/>
              </a:rPr>
              <a:t>What Will I Actually Do on an SDD-Selected Story?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977"/>
                </a:solidFill>
                <a:latin typeface="Aptos"/>
              </a:rPr>
              <a:t>Same Scrum journey — now showing who acts, when SDD helps, and when the developer consumes the refined specification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25296"/>
            <a:ext cx="1645920" cy="310896"/>
          </a:xfrm>
          <a:prstGeom prst="roundRect">
            <a:avLst/>
          </a:prstGeom>
          <a:solidFill>
            <a:srgbClr val="2D7A54"/>
          </a:solidFill>
          <a:ln>
            <a:solidFill>
              <a:srgbClr val="2D7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558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BEFORE SPRINT 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1627632"/>
            <a:ext cx="1700784" cy="1938528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ADO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3716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Existing requirement</a:t>
            </a:r>
            <a:br/>
            <a:br/>
            <a:r>
              <a:t>Who: BA / 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2536" y="2468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31136" y="1627632"/>
            <a:ext cx="1700784" cy="1938528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8" y="1755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Refinement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2194560"/>
            <a:ext cx="13716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Discuss story + assess SDD</a:t>
            </a:r>
            <a:br/>
            <a:br/>
            <a:r>
              <a:t>Who: BA + Dev +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1064" y="2468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9664" y="1627632"/>
            <a:ext cx="1700784" cy="1938528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1755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Specify / Clarify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2194560"/>
            <a:ext cx="13716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Structure behavior + surface gaps</a:t>
            </a:r>
            <a:br/>
            <a:br/>
            <a:r>
              <a:t>Who: AI assists; team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2468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1627632"/>
            <a:ext cx="1700784" cy="1938528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1755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Business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194560"/>
            <a:ext cx="13716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Resolve material questions</a:t>
            </a:r>
            <a:br/>
            <a:br/>
            <a:r>
              <a:t>Who: BA / PO / stakeholder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468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627632"/>
            <a:ext cx="1700784" cy="1938528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1755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ADO + Spec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194560"/>
            <a:ext cx="13716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Record decision + synchronize</a:t>
            </a:r>
            <a:br/>
            <a:br/>
            <a:r>
              <a:t>Who: Team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2468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85248" y="1627632"/>
            <a:ext cx="1700784" cy="1938528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1755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Sprint 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194560"/>
            <a:ext cx="13716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Estimate / commit</a:t>
            </a:r>
            <a:br/>
            <a:br/>
            <a:r>
              <a:t>Who: Existing Scrum team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822191"/>
            <a:ext cx="914400" cy="310896"/>
          </a:xfrm>
          <a:prstGeom prst="roundRect">
            <a:avLst/>
          </a:prstGeom>
          <a:solidFill>
            <a:srgbClr val="3069A4"/>
          </a:solidFill>
          <a:ln>
            <a:solidFill>
              <a:srgbClr val="30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872483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 SPRINT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" y="4187952"/>
            <a:ext cx="1700784" cy="1353312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159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5488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Technical approach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02536" y="4663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31136" y="4187952"/>
            <a:ext cx="1700784" cy="1353312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95728" y="43159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Tasks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5728" y="475488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Implementation breakdown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41064" y="4663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9664" y="4187952"/>
            <a:ext cx="1700784" cy="1353312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34256" y="43159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Analyze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475488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Pre-code consistency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79592" y="4663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08192" y="4187952"/>
            <a:ext cx="1700784" cy="1353312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2784" y="43159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Implement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2784" y="475488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Build the story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4663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4187952"/>
            <a:ext cx="1700784" cy="1353312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11312" y="43159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Converge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1312" y="475488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Intent ↔ code check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56648" y="4663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C6977"/>
                </a:solidFill>
                <a:latin typeface="Aptos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85248" y="4187952"/>
            <a:ext cx="1700784" cy="1353312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43159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QA / Review / PR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475488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Existing completion flow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806440"/>
            <a:ext cx="10652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20" b="1">
                <a:solidFill>
                  <a:srgbClr val="1A2F4C"/>
                </a:solidFill>
                <a:latin typeface="Aptos"/>
              </a:rPr>
              <a:t>Developer consumes the reviewed/refined story + supporting spec after sprint commitment; unresolved material business questions should not be silently assumed.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2F4C"/>
                </a:solidFill>
                <a:latin typeface="Aptos"/>
              </a:rPr>
              <a:t>Multi-Developer SDD: Ownership &amp; Branching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6977"/>
                </a:solidFill>
                <a:latin typeface="Aptos"/>
              </a:rPr>
              <a:t>Keep normal ADO and Git responsibilities; use the specification as a shared behavioral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44200" cy="713232"/>
          </a:xfrm>
          <a:prstGeom prst="roundRect">
            <a:avLst/>
          </a:prstGeom>
          <a:solidFill>
            <a:srgbClr val="EBF4EF"/>
          </a:solidFill>
          <a:ln>
            <a:solidFill>
              <a:srgbClr val="C7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9047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D7A54"/>
                </a:solidFill>
                <a:latin typeface="Aptos"/>
              </a:rPr>
              <a:t>Todo Lifecycle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72184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4C"/>
                </a:solidFill>
                <a:latin typeface="Aptos"/>
              </a:rPr>
              <a:t>Dev A → Complete a Todo     •     Dev B → Delete a Todo     •     Shared feature/spec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5074920" cy="297180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496312"/>
            <a:ext cx="46725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7A54"/>
                </a:solidFill>
                <a:latin typeface="Aptos"/>
              </a:rPr>
              <a:t>1. Clear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017520"/>
            <a:ext cx="4672583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1F262D"/>
                </a:solidFill>
                <a:latin typeface="Aptos"/>
              </a:rPr>
              <a:t>ADO story → owned by the assigned developer.</a:t>
            </a:r>
            <a:br/>
            <a:br/>
            <a:r>
              <a:t>Feature/spec → shared project artifact for the capability.</a:t>
            </a:r>
            <a:br/>
            <a:br/>
            <a:r>
              <a:t>A developer may maintain the spec, but BA/PO/business stakeholders remain authority for business behavior.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331720"/>
            <a:ext cx="5074920" cy="297180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496312"/>
            <a:ext cx="46725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69A4"/>
                </a:solidFill>
                <a:latin typeface="Aptos"/>
              </a:rPr>
              <a:t>2. Branching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3017520"/>
            <a:ext cx="4672583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1F262D"/>
                </a:solidFill>
                <a:latin typeface="Aptos"/>
              </a:rPr>
              <a:t>Dev A and Dev B continue using normal feature branches.</a:t>
            </a:r>
            <a:br/>
            <a:br/>
            <a:r>
              <a:t>Parallel work starts from the same reviewed/refined specification baseline.</a:t>
            </a:r>
            <a:br/>
            <a:br/>
            <a:r>
              <a:t>Existing PR, rebase, merge and code-review practices remain unchanged.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F4C"/>
                </a:solidFill>
                <a:latin typeface="Aptos"/>
              </a:rPr>
              <a:t>Shared specification does not mean shared ownership of every task. ADO keeps individual assignment; the spec keeps both developers aligned on intended behavior.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61447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57820"/>
                </a:solidFill>
                <a:latin typeface="Aptos"/>
              </a:rPr>
              <a:t>MODEL TO VALIDATE WITH REAL PROJECT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2F4C"/>
                </a:solidFill>
                <a:latin typeface="Aptos"/>
              </a:rPr>
              <a:t>How Should My ADO Story Map to SDD?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977"/>
                </a:solidFill>
                <a:latin typeface="Aptos"/>
              </a:rPr>
              <a:t>Use the simplest mapping that preserves story ownership, capability cohesion and sprint clarity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337560" cy="388620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91056"/>
            <a:ext cx="3008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One Story → One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029968"/>
            <a:ext cx="3008376" cy="319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Todo example:</a:t>
            </a:r>
            <a:br/>
            <a:r>
              <a:t>US-904672 — Improve Todo List UX &amp; Pagination</a:t>
            </a:r>
            <a:br/>
            <a:br/>
            <a:r>
              <a:t>A substantial, independent behavior with its own clarification decisions.</a:t>
            </a:r>
            <a:br/>
            <a:br/>
            <a:r>
              <a:t>Preferred/default mapping when the story stands on its 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63040"/>
            <a:ext cx="3337560" cy="388620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1591056"/>
            <a:ext cx="3008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Related Stories → One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2029968"/>
            <a:ext cx="3008376" cy="319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Todo example:</a:t>
            </a:r>
            <a:br/>
            <a:r>
              <a:t>900332 Complete + 900328 Delete</a:t>
            </a:r>
            <a:br/>
            <a:r>
              <a:t>→ Todo Lifecycle Operations</a:t>
            </a:r>
            <a:br/>
            <a:br/>
            <a:r>
              <a:t>Valid when stories form one coherent capability and remain separately visible/testable in 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63040"/>
            <a:ext cx="3337560" cy="388620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591056"/>
            <a:ext cx="3008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Simple Story → No SDD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2029968"/>
            <a:ext cx="3008376" cy="319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Todo example:</a:t>
            </a:r>
            <a:br/>
            <a:r>
              <a:t>Replace Todo Action Text with Icons</a:t>
            </a:r>
            <a:br/>
            <a:br/>
            <a:r>
              <a:t>Small/localized change with little extra reasoning value.</a:t>
            </a:r>
            <a:br/>
            <a:br/>
            <a:r>
              <a:t>Normal development is a valid outcome.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77840"/>
            <a:ext cx="10469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A2F4C"/>
                </a:solidFill>
                <a:latin typeface="Aptos"/>
              </a:rPr>
              <a:t>If one broad ADO story reveals multiple independently valuable capabilities during clarification, return to refinement and consider splitting the ADO story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19088"/>
            <a:ext cx="658368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2F4C"/>
                </a:solidFill>
                <a:latin typeface="Aptos"/>
              </a:rPr>
              <a:t>What We Learned So You Don't Have to Rediscover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977"/>
                </a:solidFill>
                <a:latin typeface="Aptos"/>
              </a:rPr>
              <a:t>Pilot-earned guidance for another Scrum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84048" cy="310896"/>
          </a:xfrm>
          <a:prstGeom prst="roundRect">
            <a:avLst/>
          </a:prstGeom>
          <a:solidFill>
            <a:srgbClr val="3069A4"/>
          </a:solidFill>
          <a:ln>
            <a:solidFill>
              <a:srgbClr val="30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4732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21615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4C"/>
                </a:solidFill>
                <a:latin typeface="Aptos"/>
              </a:rPr>
              <a:t>Don't use SDD for every 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216152"/>
            <a:ext cx="6903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Icon-only change showed that simple work should stay simple.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29968"/>
            <a:ext cx="384048" cy="310896"/>
          </a:xfrm>
          <a:prstGeom prst="roundRect">
            <a:avLst/>
          </a:prstGeom>
          <a:solidFill>
            <a:srgbClr val="3069A4"/>
          </a:solidFill>
          <a:ln>
            <a:solidFill>
              <a:srgbClr val="30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80260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116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4C"/>
                </a:solidFill>
                <a:latin typeface="Aptos"/>
              </a:rPr>
              <a:t>Clarify before coding where possible.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6903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UX/Pagination exposed four decisions before implementation.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25496"/>
            <a:ext cx="384048" cy="310896"/>
          </a:xfrm>
          <a:prstGeom prst="roundRect">
            <a:avLst/>
          </a:prstGeom>
          <a:solidFill>
            <a:srgbClr val="3069A4"/>
          </a:solidFill>
          <a:ln>
            <a:solidFill>
              <a:srgbClr val="30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75788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0720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4C"/>
                </a:solidFill>
                <a:latin typeface="Aptos"/>
              </a:rPr>
              <a:t>Never let AI invent missing business behavior.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07208"/>
            <a:ext cx="6903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Due Date kept unanswered behavior as Outstanding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21024"/>
            <a:ext cx="384048" cy="310896"/>
          </a:xfrm>
          <a:prstGeom prst="roundRect">
            <a:avLst/>
          </a:prstGeom>
          <a:solidFill>
            <a:srgbClr val="3069A4"/>
          </a:solidFill>
          <a:ln>
            <a:solidFill>
              <a:srgbClr val="30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71316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02736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4C"/>
                </a:solidFill>
                <a:latin typeface="Aptos"/>
              </a:rPr>
              <a:t>Keep ADO authoritative.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02736"/>
            <a:ext cx="6903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Business decisions / Acceptance Criteria remain visible in the existing work system.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16552"/>
            <a:ext cx="384048" cy="310896"/>
          </a:xfrm>
          <a:prstGeom prst="roundRect">
            <a:avLst/>
          </a:prstGeom>
          <a:solidFill>
            <a:srgbClr val="3069A4"/>
          </a:solidFill>
          <a:ln>
            <a:solidFill>
              <a:srgbClr val="30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66844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39826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4C"/>
                </a:solidFill>
                <a:latin typeface="Aptos"/>
              </a:rPr>
              <a:t>A shared feature does not mean one developer.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398264"/>
            <a:ext cx="6903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Complete + Delete can share capability context while ADO keeps separate ownership.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12080"/>
            <a:ext cx="384048" cy="310896"/>
          </a:xfrm>
          <a:prstGeom prst="roundRect">
            <a:avLst/>
          </a:prstGeom>
          <a:solidFill>
            <a:srgbClr val="3069A4"/>
          </a:solidFill>
          <a:ln>
            <a:solidFill>
              <a:srgbClr val="306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62372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19379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F4C"/>
                </a:solidFill>
                <a:latin typeface="Aptos"/>
              </a:rPr>
              <a:t>Don't redesign Scrum around the tool.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193792"/>
            <a:ext cx="6903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62D"/>
                </a:solidFill>
                <a:latin typeface="Aptos"/>
              </a:rPr>
              <a:t>SDD should fit into refinement and development with minimum process disruption.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5332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5C6977"/>
                </a:solidFill>
                <a:latin typeface="Aptos"/>
              </a:rPr>
              <a:t>These are working pilot conclusions — real project teams should validate and refine them.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19088"/>
            <a:ext cx="658368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19088"/>
            <a:ext cx="658368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A2F4C"/>
                </a:solidFill>
                <a:latin typeface="Aptos"/>
              </a:rPr>
              <a:t>If Your Team Tries SDD Next Sprint...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977"/>
                </a:solidFill>
                <a:latin typeface="Aptos"/>
              </a:rPr>
              <a:t>Start small, stay inside normal Scrum, and use the pilot material so the team does not have to rediscover the same lessons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2651760" cy="3977639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499616"/>
            <a:ext cx="23225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7A54"/>
                </a:solidFill>
                <a:latin typeface="Aptos"/>
              </a:rPr>
              <a:t>1. Pick one suitable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2322576" cy="3282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Choose a story with meaningful ambiguity, business rules, dependencies, cross-component impact or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651760" cy="3977639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499616"/>
            <a:ext cx="23225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2. Get lightweight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1938528"/>
            <a:ext cx="2322576" cy="3282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Use the SDD Operating Guide, Todo worked example, one-page quick reference and short walkthrough. Initial teams can use mentor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2651760" cy="3977639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99616"/>
            <a:ext cx="23225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69A4"/>
                </a:solidFill>
                <a:latin typeface="Aptos"/>
              </a:rPr>
              <a:t>3. Run the normal sprint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2322576" cy="3282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Refine → Sprint Planning → Development → QA → PR remain. Apply SDD only to the selected story where it adds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371600"/>
            <a:ext cx="2651760" cy="3977639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5712" y="1499616"/>
            <a:ext cx="23225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7820"/>
                </a:solidFill>
                <a:latin typeface="Aptos"/>
              </a:rPr>
              <a:t>4. Capture what happened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1938528"/>
            <a:ext cx="2322576" cy="3282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1F262D"/>
                </a:solidFill>
                <a:latin typeface="Aptos"/>
              </a:rPr>
              <a:t>What was clarified? What overhead appeared? What rework was avoided or not avoided? What should the team change next time?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59552"/>
            <a:ext cx="1508760" cy="310896"/>
          </a:xfrm>
          <a:prstGeom prst="roundRect">
            <a:avLst/>
          </a:prstGeom>
          <a:solidFill>
            <a:srgbClr val="B57820"/>
          </a:solidFill>
          <a:ln>
            <a:solidFill>
              <a:srgbClr val="B5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609844"/>
            <a:ext cx="1508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PROPOSED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559552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A2F4C"/>
                </a:solidFill>
                <a:latin typeface="Aptos"/>
              </a:rPr>
              <a:t>Selected real teams → approximately 2–3 normal sprint cycles as a starting proposal → refine guidance from evidence. Exact cadence is to be validated, not treated as an SLA.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80760"/>
            <a:ext cx="10561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A2F4C"/>
                </a:solidFill>
                <a:latin typeface="Aptos"/>
              </a:rPr>
              <a:t>We are not asking teams to replace Scrum with SDD. We are testing where SDD can make the Scrum work we already do clearer before we code.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19088"/>
            <a:ext cx="658368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2F4C"/>
                </a:solidFill>
                <a:latin typeface="Aptos"/>
              </a:rPr>
              <a:t>Multi-Developer SDD: Change &amp; Conflict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6977"/>
                </a:solidFill>
                <a:latin typeface="Aptos"/>
              </a:rPr>
              <a:t>When parallel work exposes a gap, separate requirement change from normal Git conflict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16052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4855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7820"/>
                </a:solidFill>
                <a:latin typeface="Aptos"/>
              </a:rPr>
              <a:t>3. Change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4855464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1F262D"/>
                </a:solidFill>
                <a:latin typeface="Aptos"/>
              </a:rPr>
              <a:t>Developer finds a gap or change</a:t>
            </a:r>
            <a:br/>
            <a:r>
              <a:t>↓</a:t>
            </a:r>
            <a:br/>
            <a:r>
              <a:t>Classify the impact</a:t>
            </a:r>
            <a:br/>
            <a:br/>
            <a:r>
              <a:t>BUSINESS BEHAVIOR</a:t>
            </a:r>
            <a:br/>
            <a:r>
              <a:t>Clarification → BA/PO decision → update ADO/AC → update shared spec → identify impacted tasks/tests/code → notify affected developers.</a:t>
            </a:r>
            <a:br/>
            <a:br/>
            <a:r>
              <a:t>TECHNICAL ONLY</a:t>
            </a:r>
            <a:br/>
            <a:r>
              <a:t>Engineering decision → update plan/design if needed → notify affected developers → continue.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160520"/>
          </a:xfrm>
          <a:prstGeom prst="roundRect">
            <a:avLst/>
          </a:prstGeom>
          <a:solidFill>
            <a:srgbClr val="F3F6F9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581912"/>
            <a:ext cx="4855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69A4"/>
                </a:solidFill>
                <a:latin typeface="Aptos"/>
              </a:rPr>
              <a:t>4. Conflict 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103120"/>
            <a:ext cx="4855464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1F262D"/>
                </a:solidFill>
                <a:latin typeface="Aptos"/>
              </a:rPr>
              <a:t>CODE CONFLICT</a:t>
            </a:r>
            <a:br/>
            <a:r>
              <a:t>Two developers changed overlapping code.</a:t>
            </a:r>
            <a:br/>
            <a:r>
              <a:t>→ Resolve through normal Git merge/rebase/PR and review.</a:t>
            </a:r>
            <a:br/>
            <a:br/>
            <a:r>
              <a:t>BEHAVIOR / SPEC CONFLICT</a:t>
            </a:r>
            <a:br/>
            <a:r>
              <a:t>Developers interpret expected behavior differently.</a:t>
            </a:r>
            <a:br/>
            <a:r>
              <a:t>→ Resolve expected behavior with BA/PO or technical owner as applicable → update shared baseline → align implementations.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F4C"/>
                </a:solidFill>
                <a:latin typeface="Aptos"/>
              </a:rPr>
              <a:t>Key distinction: Git conflict ≠ specification conflict. Resolve the behavior first when the disagreement is about what the system should 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61996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57820"/>
                </a:solidFill>
                <a:latin typeface="Aptos"/>
              </a:rPr>
              <a:t>MODEL TO VALIDATE WITH REAL PROJECT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SDD / Spec Kit Todo Pilot • Scrum Team Perspective •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