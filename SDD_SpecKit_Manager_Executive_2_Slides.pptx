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82E4A"/>
                </a:solidFill>
                <a:latin typeface="Aptos Display"/>
              </a:rPr>
              <a:t>Introducing SDD Without Disrupting the Existing Delivery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95528"/>
            <a:ext cx="10972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5C6874"/>
                </a:solidFill>
                <a:latin typeface="Aptos"/>
              </a:rPr>
              <a:t>Spec Kit is introduced as a selective engineering layer within the existing Scrum / ADO model.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123444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C2C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4008"/>
          <a:lstStyle/>
          <a:p>
            <a:pPr algn="ctr"/>
            <a:r>
              <a:rPr sz="1100" b="1">
                <a:solidFill>
                  <a:srgbClr val="182E4A"/>
                </a:solidFill>
                <a:latin typeface="Aptos"/>
              </a:rPr>
              <a:t>Requirement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810512" y="1591056"/>
            <a:ext cx="256032" cy="182880"/>
          </a:xfrm>
          <a:prstGeom prst="rightArrow">
            <a:avLst/>
          </a:prstGeom>
          <a:solidFill>
            <a:srgbClr val="3168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965960" y="1417320"/>
            <a:ext cx="14173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C2C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4008"/>
          <a:lstStyle/>
          <a:p>
            <a:pPr algn="ctr"/>
            <a:r>
              <a:rPr sz="1100" b="1">
                <a:solidFill>
                  <a:srgbClr val="182E4A"/>
                </a:solidFill>
                <a:latin typeface="Aptos"/>
              </a:rPr>
              <a:t>ADO User Story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456432" y="1591056"/>
            <a:ext cx="256032" cy="182880"/>
          </a:xfrm>
          <a:prstGeom prst="rightArrow">
            <a:avLst/>
          </a:prstGeom>
          <a:solidFill>
            <a:srgbClr val="3168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11880" y="1417320"/>
            <a:ext cx="123444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C2C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4008"/>
          <a:lstStyle/>
          <a:p>
            <a:pPr algn="ctr"/>
            <a:r>
              <a:rPr sz="1100" b="1">
                <a:solidFill>
                  <a:srgbClr val="182E4A"/>
                </a:solidFill>
                <a:latin typeface="Aptos"/>
              </a:rPr>
              <a:t>Refinement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919472" y="1591056"/>
            <a:ext cx="256032" cy="182880"/>
          </a:xfrm>
          <a:prstGeom prst="rightArrow">
            <a:avLst/>
          </a:prstGeom>
          <a:solidFill>
            <a:srgbClr val="3168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74920" y="1417320"/>
            <a:ext cx="14173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C2C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4008"/>
          <a:lstStyle/>
          <a:p>
            <a:pPr algn="ctr"/>
            <a:r>
              <a:rPr sz="1100" b="1">
                <a:solidFill>
                  <a:srgbClr val="182E4A"/>
                </a:solidFill>
                <a:latin typeface="Aptos"/>
              </a:rPr>
              <a:t>Sprint Planning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565392" y="1591056"/>
            <a:ext cx="256032" cy="182880"/>
          </a:xfrm>
          <a:prstGeom prst="rightArrow">
            <a:avLst/>
          </a:prstGeom>
          <a:solidFill>
            <a:srgbClr val="3168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720840" y="1417320"/>
            <a:ext cx="13258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C2C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4008"/>
          <a:lstStyle/>
          <a:p>
            <a:pPr algn="ctr"/>
            <a:r>
              <a:rPr sz="1100" b="1">
                <a:solidFill>
                  <a:srgbClr val="182E4A"/>
                </a:solidFill>
                <a:latin typeface="Aptos"/>
              </a:rPr>
              <a:t>Development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119871" y="1591056"/>
            <a:ext cx="256032" cy="182880"/>
          </a:xfrm>
          <a:prstGeom prst="rightArrow">
            <a:avLst/>
          </a:prstGeom>
          <a:solidFill>
            <a:srgbClr val="3168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75320" y="1417320"/>
            <a:ext cx="123444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C2C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4008"/>
          <a:lstStyle/>
          <a:p>
            <a:pPr algn="ctr"/>
            <a:r>
              <a:rPr sz="1100" b="1">
                <a:solidFill>
                  <a:srgbClr val="182E4A"/>
                </a:solidFill>
                <a:latin typeface="Aptos"/>
              </a:rPr>
              <a:t>QA / Review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582912" y="1591056"/>
            <a:ext cx="256032" cy="182880"/>
          </a:xfrm>
          <a:prstGeom prst="rightArrow">
            <a:avLst/>
          </a:prstGeom>
          <a:solidFill>
            <a:srgbClr val="3168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738360" y="1417320"/>
            <a:ext cx="11430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C2C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4008"/>
          <a:lstStyle/>
          <a:p>
            <a:pPr algn="ctr"/>
            <a:r>
              <a:rPr sz="1100" b="1">
                <a:solidFill>
                  <a:srgbClr val="182E4A"/>
                </a:solidFill>
                <a:latin typeface="Aptos"/>
              </a:rPr>
              <a:t>Release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10128" y="2331720"/>
            <a:ext cx="2697480" cy="1024128"/>
          </a:xfrm>
          <a:prstGeom prst="roundRect">
            <a:avLst/>
          </a:prstGeom>
          <a:solidFill>
            <a:srgbClr val="F1F6FB"/>
          </a:solidFill>
          <a:ln>
            <a:solidFill>
              <a:srgbClr val="3168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4008"/>
          <a:lstStyle/>
          <a:p>
            <a:pPr algn="ctr"/>
            <a:r>
              <a:rPr sz="1300" b="1">
                <a:solidFill>
                  <a:srgbClr val="182E4A"/>
                </a:solidFill>
                <a:latin typeface="Aptos"/>
              </a:rPr>
              <a:t>Refinement with SDD</a:t>
            </a:r>
          </a:p>
          <a:p>
            <a:pPr algn="ctr">
              <a:spcBef>
                <a:spcPts val="300"/>
              </a:spcBef>
            </a:pPr>
            <a:r>
              <a:rPr sz="1000">
                <a:solidFill>
                  <a:srgbClr val="5C6874"/>
                </a:solidFill>
                <a:latin typeface="Aptos"/>
              </a:rPr>
              <a:t>Assess suitability
Specify → Clarify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27648" y="2331720"/>
            <a:ext cx="2880360" cy="1024128"/>
          </a:xfrm>
          <a:prstGeom prst="roundRect">
            <a:avLst/>
          </a:prstGeom>
          <a:solidFill>
            <a:srgbClr val="F1F6FB"/>
          </a:solidFill>
          <a:ln>
            <a:solidFill>
              <a:srgbClr val="3168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4008"/>
          <a:lstStyle/>
          <a:p>
            <a:pPr algn="ctr"/>
            <a:r>
              <a:rPr sz="1300" b="1">
                <a:solidFill>
                  <a:srgbClr val="182E4A"/>
                </a:solidFill>
                <a:latin typeface="Aptos"/>
              </a:rPr>
              <a:t>Development with SDD</a:t>
            </a:r>
          </a:p>
          <a:p>
            <a:pPr algn="ctr">
              <a:spcBef>
                <a:spcPts val="300"/>
              </a:spcBef>
            </a:pPr>
            <a:r>
              <a:rPr sz="1000">
                <a:solidFill>
                  <a:srgbClr val="5C6874"/>
                </a:solidFill>
                <a:latin typeface="Aptos"/>
              </a:rPr>
              <a:t>Plan → Tasks → Implement → Converge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617720" y="1993392"/>
            <a:ext cx="0" cy="338328"/>
          </a:xfrm>
          <a:prstGeom prst="line">
            <a:avLst/>
          </a:prstGeom>
          <a:ln w="25400">
            <a:solidFill>
              <a:srgbClr val="3168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360920" y="1993392"/>
            <a:ext cx="0" cy="338328"/>
          </a:xfrm>
          <a:prstGeom prst="line">
            <a:avLst/>
          </a:prstGeom>
          <a:ln w="25400">
            <a:solidFill>
              <a:srgbClr val="3168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94360" y="3794760"/>
            <a:ext cx="26517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C2C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4008"/>
          <a:lstStyle/>
          <a:p>
            <a:pPr algn="l"/>
            <a:r>
              <a:rPr sz="1200" b="1">
                <a:solidFill>
                  <a:srgbClr val="182E4A"/>
                </a:solidFill>
                <a:latin typeface="Aptos"/>
              </a:rPr>
              <a:t>Existing process remains</a:t>
            </a:r>
          </a:p>
          <a:p>
            <a:pPr algn="l">
              <a:spcBef>
                <a:spcPts val="300"/>
              </a:spcBef>
            </a:pPr>
            <a:r>
              <a:rPr sz="950">
                <a:solidFill>
                  <a:srgbClr val="5C6874"/>
                </a:solidFill>
                <a:latin typeface="Aptos"/>
              </a:rPr>
              <a:t>Scrum • ADO • BA/PO • QA • Git/PR • Governance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29000" y="3794760"/>
            <a:ext cx="26517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C2C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4008"/>
          <a:lstStyle/>
          <a:p>
            <a:pPr algn="l"/>
            <a:r>
              <a:rPr sz="1200" b="1">
                <a:solidFill>
                  <a:srgbClr val="182E4A"/>
                </a:solidFill>
                <a:latin typeface="Aptos"/>
              </a:rPr>
              <a:t>ADO stays authoritative</a:t>
            </a:r>
          </a:p>
          <a:p>
            <a:pPr algn="l">
              <a:spcBef>
                <a:spcPts val="300"/>
              </a:spcBef>
            </a:pPr>
            <a:r>
              <a:rPr sz="950">
                <a:solidFill>
                  <a:srgbClr val="5C6874"/>
                </a:solidFill>
                <a:latin typeface="Aptos"/>
              </a:rPr>
              <a:t>Stories, AC, ownership and business decisions remain in ADO.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3794760"/>
            <a:ext cx="26517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C2C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4008"/>
          <a:lstStyle/>
          <a:p>
            <a:pPr algn="l"/>
            <a:r>
              <a:rPr sz="1200" b="1">
                <a:solidFill>
                  <a:srgbClr val="182E4A"/>
                </a:solidFill>
                <a:latin typeface="Aptos"/>
              </a:rPr>
              <a:t>Selective adoption</a:t>
            </a:r>
          </a:p>
          <a:p>
            <a:pPr algn="l">
              <a:spcBef>
                <a:spcPts val="300"/>
              </a:spcBef>
            </a:pPr>
            <a:r>
              <a:rPr sz="930">
                <a:solidFill>
                  <a:srgbClr val="5C6874"/>
                </a:solidFill>
                <a:latin typeface="Aptos"/>
              </a:rPr>
              <a:t>Use SDD where it adds value; simple stories can follow normal development.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98280" y="3794760"/>
            <a:ext cx="246888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C2C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4008"/>
          <a:lstStyle/>
          <a:p>
            <a:pPr algn="l"/>
            <a:r>
              <a:rPr sz="1200" b="1">
                <a:solidFill>
                  <a:srgbClr val="182E4A"/>
                </a:solidFill>
                <a:latin typeface="Aptos"/>
              </a:rPr>
              <a:t>Human decision authority</a:t>
            </a:r>
          </a:p>
          <a:p>
            <a:pPr algn="l">
              <a:spcBef>
                <a:spcPts val="300"/>
              </a:spcBef>
            </a:pPr>
            <a:r>
              <a:rPr sz="919">
                <a:solidFill>
                  <a:srgbClr val="5C6874"/>
                </a:solidFill>
                <a:latin typeface="Aptos"/>
              </a:rPr>
              <a:t>AI surfaces gaps; BA/PO/business resolves behavioral decisions.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257800"/>
            <a:ext cx="10744200" cy="713232"/>
          </a:xfrm>
          <a:prstGeom prst="roundRect">
            <a:avLst/>
          </a:prstGeom>
          <a:solidFill>
            <a:srgbClr val="E8F5EB"/>
          </a:solidFill>
          <a:ln>
            <a:solidFill>
              <a:srgbClr val="80A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4008"/>
          <a:lstStyle/>
          <a:p>
            <a:pPr algn="ctr"/>
            <a:r>
              <a:rPr sz="1400" b="1">
                <a:solidFill>
                  <a:srgbClr val="182E4A"/>
                </a:solidFill>
                <a:latin typeface="Aptos"/>
              </a:rPr>
              <a:t>Operating principle</a:t>
            </a:r>
          </a:p>
          <a:p>
            <a:pPr algn="ctr">
              <a:spcBef>
                <a:spcPts val="300"/>
              </a:spcBef>
            </a:pPr>
            <a:r>
              <a:rPr sz="1050">
                <a:solidFill>
                  <a:srgbClr val="5C6874"/>
                </a:solidFill>
                <a:latin typeface="Aptos"/>
              </a:rPr>
              <a:t>SDD augments the engineering workflow — it does not replace the project delivery process.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82E4A"/>
                </a:solidFill>
                <a:latin typeface="Aptos Display"/>
              </a:rPr>
              <a:t>Practical SDD Operating Model — Validated Through the Todo 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95528"/>
            <a:ext cx="10972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5C6874"/>
                </a:solidFill>
                <a:latin typeface="Aptos"/>
              </a:rPr>
              <a:t>A lightweight brownfield reference used to establish the workflow; real-project validation is the next step.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4572000" cy="438912"/>
          </a:xfrm>
          <a:prstGeom prst="roundRect">
            <a:avLst/>
          </a:prstGeom>
          <a:solidFill>
            <a:srgbClr val="F1F6FB"/>
          </a:solidFill>
          <a:ln>
            <a:solidFill>
              <a:srgbClr val="3168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4008"/>
          <a:lstStyle/>
          <a:p>
            <a:pPr algn="l"/>
            <a:r>
              <a:rPr sz="1300" b="1">
                <a:solidFill>
                  <a:srgbClr val="182E4A"/>
                </a:solidFill>
                <a:latin typeface="Aptos"/>
              </a:rPr>
              <a:t>1  Practical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847088"/>
            <a:ext cx="786384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C2C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4008"/>
          <a:lstStyle/>
          <a:p>
            <a:pPr algn="ctr"/>
            <a:r>
              <a:rPr sz="850" b="1">
                <a:solidFill>
                  <a:srgbClr val="182E4A"/>
                </a:solidFill>
                <a:latin typeface="Aptos"/>
              </a:rPr>
              <a:t>ADO Story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444752" y="2020824"/>
            <a:ext cx="109728" cy="155448"/>
          </a:xfrm>
          <a:prstGeom prst="rightArrow">
            <a:avLst/>
          </a:prstGeom>
          <a:solidFill>
            <a:srgbClr val="3168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54480" y="1847088"/>
            <a:ext cx="786384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C2C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4008"/>
          <a:lstStyle/>
          <a:p>
            <a:pPr algn="ctr"/>
            <a:r>
              <a:rPr sz="850" b="1">
                <a:solidFill>
                  <a:srgbClr val="182E4A"/>
                </a:solidFill>
                <a:latin typeface="Aptos"/>
              </a:rPr>
              <a:t>Refine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377440" y="2020824"/>
            <a:ext cx="109728" cy="155448"/>
          </a:xfrm>
          <a:prstGeom prst="rightArrow">
            <a:avLst/>
          </a:prstGeom>
          <a:solidFill>
            <a:srgbClr val="3168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487168" y="1847088"/>
            <a:ext cx="786384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C2C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4008"/>
          <a:lstStyle/>
          <a:p>
            <a:pPr algn="ctr"/>
            <a:r>
              <a:rPr sz="850" b="1">
                <a:solidFill>
                  <a:srgbClr val="182E4A"/>
                </a:solidFill>
                <a:latin typeface="Aptos"/>
              </a:rPr>
              <a:t>Assess SDD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310128" y="2020824"/>
            <a:ext cx="109728" cy="155448"/>
          </a:xfrm>
          <a:prstGeom prst="rightArrow">
            <a:avLst/>
          </a:prstGeom>
          <a:solidFill>
            <a:srgbClr val="3168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19856" y="1847088"/>
            <a:ext cx="1078992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C2C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4008"/>
          <a:lstStyle/>
          <a:p>
            <a:pPr algn="ctr"/>
            <a:r>
              <a:rPr sz="850" b="1">
                <a:solidFill>
                  <a:srgbClr val="182E4A"/>
                </a:solidFill>
                <a:latin typeface="Aptos"/>
              </a:rPr>
              <a:t>Specify / Clarify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535424" y="2020824"/>
            <a:ext cx="109728" cy="155448"/>
          </a:xfrm>
          <a:prstGeom prst="rightArrow">
            <a:avLst/>
          </a:prstGeom>
          <a:solidFill>
            <a:srgbClr val="3168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45152" y="1847088"/>
            <a:ext cx="1078992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C2C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4008"/>
          <a:lstStyle/>
          <a:p>
            <a:pPr algn="ctr"/>
            <a:r>
              <a:rPr sz="850" b="1">
                <a:solidFill>
                  <a:srgbClr val="182E4A"/>
                </a:solidFill>
                <a:latin typeface="Aptos"/>
              </a:rPr>
              <a:t>Resolve Decisions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760720" y="2020824"/>
            <a:ext cx="109728" cy="155448"/>
          </a:xfrm>
          <a:prstGeom prst="rightArrow">
            <a:avLst/>
          </a:prstGeom>
          <a:solidFill>
            <a:srgbClr val="3168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870448" y="1847088"/>
            <a:ext cx="658368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C2C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4008"/>
          <a:lstStyle/>
          <a:p>
            <a:pPr algn="ctr"/>
            <a:r>
              <a:rPr sz="850" b="1">
                <a:solidFill>
                  <a:srgbClr val="182E4A"/>
                </a:solidFill>
                <a:latin typeface="Aptos"/>
              </a:rPr>
              <a:t>Ready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2578608"/>
            <a:ext cx="96012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C2C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4008"/>
          <a:lstStyle/>
          <a:p>
            <a:pPr algn="ctr"/>
            <a:r>
              <a:rPr sz="900" b="1">
                <a:solidFill>
                  <a:srgbClr val="182E4A"/>
                </a:solidFill>
                <a:latin typeface="Aptos"/>
              </a:rPr>
              <a:t>Plan / Tasks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1856232" y="2752344"/>
            <a:ext cx="201168" cy="155448"/>
          </a:xfrm>
          <a:prstGeom prst="rightArrow">
            <a:avLst/>
          </a:prstGeom>
          <a:solidFill>
            <a:srgbClr val="3168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139696" y="2578608"/>
            <a:ext cx="96012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C2C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4008"/>
          <a:lstStyle/>
          <a:p>
            <a:pPr algn="ctr"/>
            <a:r>
              <a:rPr sz="900" b="1">
                <a:solidFill>
                  <a:srgbClr val="182E4A"/>
                </a:solidFill>
                <a:latin typeface="Aptos"/>
              </a:rPr>
              <a:t>Implement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3154679" y="2752344"/>
            <a:ext cx="201168" cy="155448"/>
          </a:xfrm>
          <a:prstGeom prst="rightArrow">
            <a:avLst/>
          </a:prstGeom>
          <a:solidFill>
            <a:srgbClr val="3168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438144" y="2578608"/>
            <a:ext cx="96012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C2C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4008"/>
          <a:lstStyle/>
          <a:p>
            <a:pPr algn="ctr"/>
            <a:r>
              <a:rPr sz="900" b="1">
                <a:solidFill>
                  <a:srgbClr val="182E4A"/>
                </a:solidFill>
                <a:latin typeface="Aptos"/>
              </a:rPr>
              <a:t>Converge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310128"/>
            <a:ext cx="4251960" cy="850392"/>
          </a:xfrm>
          <a:prstGeom prst="roundRect">
            <a:avLst/>
          </a:prstGeom>
          <a:solidFill>
            <a:srgbClr val="FFF6E0"/>
          </a:solidFill>
          <a:ln>
            <a:solidFill>
              <a:srgbClr val="CDA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4008"/>
          <a:lstStyle/>
          <a:p>
            <a:pPr algn="l"/>
            <a:r>
              <a:rPr sz="1150" b="1">
                <a:solidFill>
                  <a:srgbClr val="182E4A"/>
                </a:solidFill>
                <a:latin typeface="Aptos"/>
              </a:rPr>
              <a:t>Observed value — UX &amp; Pagination</a:t>
            </a:r>
          </a:p>
          <a:p>
            <a:pPr algn="l">
              <a:spcBef>
                <a:spcPts val="300"/>
              </a:spcBef>
            </a:pPr>
            <a:r>
              <a:rPr sz="940">
                <a:solidFill>
                  <a:srgbClr val="5C6874"/>
                </a:solidFill>
                <a:latin typeface="Aptos"/>
              </a:rPr>
              <a:t>Clarification surfaced page size, last-page behavior and invalid-page handling before coding.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21808" y="1234440"/>
            <a:ext cx="6355080" cy="438912"/>
          </a:xfrm>
          <a:prstGeom prst="roundRect">
            <a:avLst/>
          </a:prstGeom>
          <a:solidFill>
            <a:srgbClr val="F1F6FB"/>
          </a:solidFill>
          <a:ln>
            <a:solidFill>
              <a:srgbClr val="3168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4008"/>
          <a:lstStyle/>
          <a:p>
            <a:pPr algn="l"/>
            <a:r>
              <a:rPr sz="1300" b="1">
                <a:solidFill>
                  <a:srgbClr val="182E4A"/>
                </a:solidFill>
                <a:latin typeface="Aptos"/>
              </a:rPr>
              <a:t>2  Team / multi-developer model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95160" y="1828800"/>
            <a:ext cx="306324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C2C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4008"/>
          <a:lstStyle/>
          <a:p>
            <a:pPr algn="ctr"/>
            <a:r>
              <a:rPr sz="1100" b="1">
                <a:solidFill>
                  <a:srgbClr val="182E4A"/>
                </a:solidFill>
                <a:latin typeface="Aptos"/>
              </a:rPr>
              <a:t>Shared feature context where appropriate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5C6874"/>
                </a:solidFill>
                <a:latin typeface="Aptos"/>
              </a:rPr>
              <a:t>Spec + Plan + Tasks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40680" y="2679192"/>
            <a:ext cx="2423160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C2C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4008"/>
          <a:lstStyle/>
          <a:p>
            <a:pPr algn="ctr"/>
            <a:r>
              <a:rPr sz="1050" b="1">
                <a:solidFill>
                  <a:srgbClr val="182E4A"/>
                </a:solidFill>
                <a:latin typeface="Aptos"/>
              </a:rPr>
              <a:t>Developer A — US1</a:t>
            </a:r>
          </a:p>
          <a:p>
            <a:pPr algn="ctr">
              <a:spcBef>
                <a:spcPts val="300"/>
              </a:spcBef>
            </a:pPr>
            <a:r>
              <a:rPr sz="880">
                <a:solidFill>
                  <a:srgbClr val="5C6874"/>
                </a:solidFill>
                <a:latin typeface="Aptos"/>
              </a:rPr>
              <a:t>Independent story • branch • tests • PR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0" y="2679192"/>
            <a:ext cx="2423160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C2C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4008"/>
          <a:lstStyle/>
          <a:p>
            <a:pPr algn="ctr"/>
            <a:r>
              <a:rPr sz="1050" b="1">
                <a:solidFill>
                  <a:srgbClr val="182E4A"/>
                </a:solidFill>
                <a:latin typeface="Aptos"/>
              </a:rPr>
              <a:t>Developer B — US2</a:t>
            </a:r>
          </a:p>
          <a:p>
            <a:pPr algn="ctr">
              <a:spcBef>
                <a:spcPts val="300"/>
              </a:spcBef>
            </a:pPr>
            <a:r>
              <a:rPr sz="880">
                <a:solidFill>
                  <a:srgbClr val="5C6874"/>
                </a:solidFill>
                <a:latin typeface="Aptos"/>
              </a:rPr>
              <a:t>Independent story • branch • tests • PR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86600" y="3675887"/>
            <a:ext cx="2880360" cy="621792"/>
          </a:xfrm>
          <a:prstGeom prst="roundRect">
            <a:avLst/>
          </a:prstGeom>
          <a:solidFill>
            <a:srgbClr val="E8F5EB"/>
          </a:solidFill>
          <a:ln>
            <a:solidFill>
              <a:srgbClr val="80A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4008"/>
          <a:lstStyle/>
          <a:p>
            <a:pPr algn="ctr"/>
            <a:r>
              <a:rPr sz="1050" b="1">
                <a:solidFill>
                  <a:srgbClr val="182E4A"/>
                </a:solidFill>
                <a:latin typeface="Aptos"/>
              </a:rPr>
              <a:t>Integration → Feature Converge</a:t>
            </a:r>
          </a:p>
          <a:p>
            <a:pPr algn="ctr">
              <a:spcBef>
                <a:spcPts val="300"/>
              </a:spcBef>
            </a:pPr>
            <a:r>
              <a:rPr sz="860">
                <a:solidFill>
                  <a:srgbClr val="5C6874"/>
                </a:solidFill>
                <a:latin typeface="Aptos"/>
              </a:rPr>
              <a:t>Combined implementation checked against shared intent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40680" y="4526280"/>
            <a:ext cx="612648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C2C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4008"/>
          <a:lstStyle/>
          <a:p>
            <a:pPr algn="l"/>
            <a:r>
              <a:rPr sz="1050" b="1">
                <a:solidFill>
                  <a:srgbClr val="182E4A"/>
                </a:solidFill>
                <a:latin typeface="Aptos"/>
              </a:rPr>
              <a:t>Parallel-work rule</a:t>
            </a:r>
          </a:p>
          <a:p>
            <a:pPr algn="l">
              <a:spcBef>
                <a:spcPts val="300"/>
              </a:spcBef>
            </a:pPr>
            <a:r>
              <a:rPr sz="860">
                <a:solidFill>
                  <a:srgbClr val="5C6874"/>
                </a:solidFill>
                <a:latin typeface="Aptos"/>
              </a:rPr>
              <a:t>Stories should be independently implementable, clearly owned and minimally overlapping. 1 US → 1 feature is the default; related stories may share a cohesive feature.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440680"/>
            <a:ext cx="3611880" cy="841248"/>
          </a:xfrm>
          <a:prstGeom prst="roundRect">
            <a:avLst/>
          </a:prstGeom>
          <a:solidFill>
            <a:srgbClr val="E8F5EB"/>
          </a:solidFill>
          <a:ln>
            <a:solidFill>
              <a:srgbClr val="80A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4008"/>
          <a:lstStyle/>
          <a:p>
            <a:pPr algn="l"/>
            <a:r>
              <a:rPr sz="1150" b="1">
                <a:solidFill>
                  <a:srgbClr val="182E4A"/>
                </a:solidFill>
                <a:latin typeface="Aptos"/>
              </a:rPr>
              <a:t>Validated</a:t>
            </a:r>
          </a:p>
          <a:p>
            <a:pPr algn="l">
              <a:spcBef>
                <a:spcPts val="300"/>
              </a:spcBef>
            </a:pPr>
            <a:r>
              <a:rPr sz="850">
                <a:solidFill>
                  <a:srgbClr val="5C6874"/>
                </a:solidFill>
                <a:latin typeface="Aptos"/>
              </a:rPr>
              <a:t>Selective SDD • refinement/clarification • Todo implementation • traceability approach • team model • guidelines/demo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15968" y="5440680"/>
            <a:ext cx="3611880" cy="841248"/>
          </a:xfrm>
          <a:prstGeom prst="roundRect">
            <a:avLst/>
          </a:prstGeom>
          <a:solidFill>
            <a:srgbClr val="FFF6E0"/>
          </a:solidFill>
          <a:ln>
            <a:solidFill>
              <a:srgbClr val="CDA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4008"/>
          <a:lstStyle/>
          <a:p>
            <a:pPr algn="l"/>
            <a:r>
              <a:rPr sz="1150" b="1">
                <a:solidFill>
                  <a:srgbClr val="182E4A"/>
                </a:solidFill>
                <a:latin typeface="Aptos"/>
              </a:rPr>
              <a:t>In progress</a:t>
            </a:r>
          </a:p>
          <a:p>
            <a:pPr algn="l">
              <a:spcBef>
                <a:spcPts val="300"/>
              </a:spcBef>
            </a:pPr>
            <a:r>
              <a:rPr sz="850">
                <a:solidFill>
                  <a:srgbClr val="5C6874"/>
                </a:solidFill>
                <a:latin typeface="Aptos"/>
              </a:rPr>
              <a:t>ADO extension / automation exploration to reduce manual requirement handoff and improve traceability.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65008" y="5440680"/>
            <a:ext cx="3566160" cy="841248"/>
          </a:xfrm>
          <a:prstGeom prst="roundRect">
            <a:avLst/>
          </a:prstGeom>
          <a:solidFill>
            <a:srgbClr val="F1F6FB"/>
          </a:solidFill>
          <a:ln>
            <a:solidFill>
              <a:srgbClr val="3168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4008"/>
          <a:lstStyle/>
          <a:p>
            <a:pPr algn="l"/>
            <a:r>
              <a:rPr sz="1150" b="1">
                <a:solidFill>
                  <a:srgbClr val="182E4A"/>
                </a:solidFill>
                <a:latin typeface="Aptos"/>
              </a:rPr>
              <a:t>Next</a:t>
            </a:r>
          </a:p>
          <a:p>
            <a:pPr algn="l">
              <a:spcBef>
                <a:spcPts val="300"/>
              </a:spcBef>
            </a:pPr>
            <a:r>
              <a:rPr sz="850">
                <a:solidFill>
                  <a:srgbClr val="5C6874"/>
                </a:solidFill>
                <a:latin typeface="Aptos"/>
              </a:rPr>
              <a:t>Validate with real project teams and refine the operating guidance using project evidence.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6419088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182E4A"/>
                </a:solidFill>
                <a:latin typeface="Aptos"/>
              </a:rPr>
              <a:t>Practical operating approach established; ready for real-project validation.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