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25"/>
    <p:sldId id="268" r:id="rId14"/>
    <p:sldId id="269" r:id="rId15"/>
    <p:sldId id="270" r:id="rId16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deck answers the question every Scrum team asks first — "we already have Scrum, ADO and Git; where does SDD fit?" Everything here is from the Todo pilot in EA-SDD-Experiment.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SDD is not a new process. It plugs into two places: refinement (clarify before commitment) and development (plan, implement, check alignment). Nothing else in the Scrum flow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flow the team runs today. Right is the same flow for a story the team chose for SDD — only the green steps are new, and they sit inside refinement and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Bijesh’s point from the review: once the process is defined, the tool can be swapped. Everything after this slide uses the generic activity names; Spec Kit commands appear only as the pilot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backlog from EA-SDD-Experiment. Five stories were tagged SDD-Candidate; "Replace Action Text with Icons" and "Misc" ran on the normal path in the same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Suitability is decided in refinement by the team in a minute, not by a gate. The icon story is the counter-example: same sprint, no SDD, and that was the right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happens before planning and is mostly BA/PO-led with the developer participating. Bottom row is the developer working through Spec Kit commands inside the sprint. QA/Review/PR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Bijesh’s ask for a concrete timeline: requirements identified ~Day −8, specs created and reviewed Day −6 to −4, AI artifacts generated at Day −6 (spec) and Day +1 (plan/tasks), developers consume the spec at sprint planning. Days are indicative for a 2-week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AC looked complete. Specify/Clarify exposed four behaviours that were not decided. Shashidhar recorded the answers as an ADO comment, so ADO stays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"AI exposes gaps, does not invent behaviour" lesson in action. The overdue boundary is a business rule; Spec Kit surfaced it, recommended an option, and the team routed it to the PO instead of letting the developer or the AI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when someone asks "what is in it for my role?" — the same four decisions land differently for each seat on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folder names come from the pilot repo (specs/001…004). Column 3 was not exercised in the pilot — it is a recommendation, and the slide labels it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+ Delete were implemented by two developers off one spec. Ownership and Git practice did not change; the spec was simply the shared baseline both started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classification questions: is it business behaviour or technical only? and is it a code conflict or a spec conflict? Each routes to a different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lessons, each tied to a specific story from the pilot rather than to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Bijesh asked that automated ADO integration be documented, not built. This shows the loop, the tracking fields, and the guardrails. The community extension is a pointer only — it is not reviewed, not official, and pushes in the opposite direction (spec → ADO) from our primary loop; teams should explore it, not adopt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indicative. Phase 0 items map directly to Bijesh’s asks #1 and #2; Phase 1 is the "pilot team who comes forward" from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real project teams should now validate and refine these practices on live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 •  TODO PILOT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SDD Fit in Scrum?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Scrum team perspective — practical guidance from the Todo pilot, based on what we observed rather than framework theory. The process is tool-agnostic; GitHub Spec Kit was the tool used in the pilot.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• GenAI Team • September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Mahantesh Pujar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0" y="123444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503920" y="1234440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2167128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503920" y="2167128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0" y="309981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503920" y="3099816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03250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503920" y="4032504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496519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503920" y="4965192"/>
            <a:ext cx="3017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Review / PR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5897880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where SDD adds value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Scrum. Where Does SDD Fit?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view from the Todo pilot — for teams that already work comfortably with ADO, Scrum, Git and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25496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825496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82312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2352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102352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79208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79208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19842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6064" y="1783080"/>
            <a:ext cx="1956816" cy="777240"/>
          </a:xfrm>
          <a:prstGeom prst="roundRect">
            <a:avLst>
              <a:gd name="adj" fmla="val 9412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656064" y="1783080"/>
            <a:ext cx="195681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Review / PR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03904" y="2560320"/>
            <a:ext cx="0" cy="274320"/>
          </a:xfrm>
          <a:prstGeom prst="line">
            <a:avLst/>
          </a:prstGeom>
          <a:noFill/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386584" y="283464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2478024" y="2898648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 help here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78024" y="3218688"/>
            <a:ext cx="26517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behavior before commitment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57616" y="2560320"/>
            <a:ext cx="0" cy="274320"/>
          </a:xfrm>
          <a:prstGeom prst="line">
            <a:avLst/>
          </a:prstGeom>
          <a:noFill/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40296" y="283464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031736" y="2898648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 help here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31736" y="3218688"/>
            <a:ext cx="26517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implement and check alignment with the spec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stays.  ADO stays.  Git/PR stays.  BA/PO/QA roles stay.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</a:t>
            </a:r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replace Scrum with SDD?”</a:t>
            </a:r>
            <a:pPr algn="ctr"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</a:t>
            </a:r>
            <a:pPr algn="ctr" indent="0" marL="0">
              <a:buNone/>
            </a:pPr>
            <a:r>
              <a:rPr lang="en-US" sz="1400" b="1" i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can SDD reduce ambiguity and rework inside the Scrum process we already use?”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Changes for My Team?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in the delivery process — SDD adds structured reasoning at selected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SDD-selected 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19456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143000" y="21945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User Story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65176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2898648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43000" y="2898648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3558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360273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43000" y="3602736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0599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430682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143000" y="4306824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7640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01091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143000" y="5010912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Review / PR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812280" y="2148840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User Story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12280" y="2761488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812280" y="2761488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+ define expected behavior / clarify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3191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12280" y="3374136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812280" y="3374136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becomes ready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38039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12280" y="3986784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812280" y="3986784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44165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812280" y="4599432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2F855A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812280" y="4599432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plan / tasks / consistency check / implement / converge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5029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812280" y="5212080"/>
            <a:ext cx="4206240" cy="429768"/>
          </a:xfrm>
          <a:prstGeom prst="roundRect">
            <a:avLst>
              <a:gd name="adj" fmla="val 17021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812280" y="5212080"/>
            <a:ext cx="42062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Review / PR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SDD sprint.  No replacement for ADO.  No requirement to use the full SDD path for every story.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Tool-Agnostic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 a set of activities inside Scrum. GitHub Spec Kit is the tool the pilot used — another framework can slot into the same steps.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14630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activity (generic)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Kit reference used in the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expected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the story into scenarios, rules and edge cases; surface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/speckit.specify → spec.md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material ambiguity one question at a time; keep the rest as Outstanding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/speckit.clarify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questions resolved, ADO AC updated, spec synchronized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review + ADO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implementation approach for the 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/speckit.plan → plan.md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breakdown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work traceable to story phases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/speckit.tasks → tasks.md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↔ plan ↔ tasks aligned before 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/speckit.analyze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selected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code against intended behavior; remaining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/speckit.converge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quality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checklist where it adds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/speckit.checklist (optional)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250" b="1">
                <a:solidFill>
                  <a:srgbClr val="0B3D4C"/>
                </a:solidFill>
                <a:latin typeface="Calibri"/>
              </a:rPr>
              <a:t>Adoption principle:  use this as a reference flow, not a mandatory project process. Teams keep their existing Scrum / ADO / Git practices and adopt the SDD activities or integration extensions that add value. The tool behind each step can change without changing that principle.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Pilot: One Small Todo App, Two Delivery Paths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SDD fit into a normal ADO + Scrum flow, and when is the additional structure useful?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candidates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286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paths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39319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was deliberately small so the complete lifecycle could be simulated quickly.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remained the source for user stories, acceptance criteria, sprint and status.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was designed to include both an SDD-assisted path and a normal-development path.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SDD-Candidate marks the stories chosen for the SDD path — same sprint, same board.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68680"/>
                <a:gridCol w="731520"/>
                <a:gridCol w="10515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Expiration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 &amp; Overdue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Todo Action Text with Icons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Todo List UX &amp; Pagination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 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754880" y="4800600"/>
            <a:ext cx="6858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project EA-SDD-Experiment • iteration Sprint-1 • Value Area: Business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can contain stories that benefit from SDD and stories that do not.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SDD for Every Story? — No.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where structured reasoning adds value; keep simple work simple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17830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SDD CANDIDATE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Todo List UX &amp; Pagination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16352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behavior scenarios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edge-case decisions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pagination interaction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QA implications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important decisions were made explicit before implementation.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9224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DEVELOPMENT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Todo Action Text with Icons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full SDD?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16352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UI change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 already clear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reasoning value from a full feature specification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l"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development is the proportionate path.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normal refinement, the team makes a lightweight suitability decision — not another approval workflow.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multiple scenarios? unresolved edge cases? behavior that crosses features? QA needs concrete cases?  → yes to any = SDD candidate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I Actually Do on an SDD-Selected Story?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Scrum journey — who acts, when SDD helps, and when the developer consumes the refined specification. Generic activities; Spec Kit equivalents on the tool-mapping slide.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SPRINT PLANNING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21792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requirement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203704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32304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505456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505456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story + assess SDD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505456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+ Dev + team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15968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389120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behavior / Clarify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behavior + surface gaps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assists; team reviews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71032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99632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272784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72784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material questions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 / stakeholder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54696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83296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156448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Spec Ready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 + synchronize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readiness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966960" y="1920240"/>
            <a:ext cx="1655064" cy="1737360"/>
          </a:xfrm>
          <a:prstGeom prst="roundRect">
            <a:avLst>
              <a:gd name="adj" fmla="val 663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040112" y="1993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040112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/ commit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040112" y="30906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Scrum team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382219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548640" y="3822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SPRINT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21792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plan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2203704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432304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2505456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505456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traceable work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087368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315968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4389120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4389120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↔ plan ↔ tasks before coding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971032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199632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272784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6272784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story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854696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083296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8156448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156448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↔ code check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9738360" y="4572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966960" y="4206240"/>
            <a:ext cx="1655064" cy="109728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10040112" y="42793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Review / PR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10040112" y="4754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completion flow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consumes the reviewed/refined story + supporting spec after sprint commitment; unresolved material business questions should not be silently assumed.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SDD Journey on a Sprint Calendar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400">
                <a:solidFill>
                  <a:srgbClr val="5C6B73"/>
                </a:solidFill>
                <a:latin typeface="Calibri"/>
              </a:rPr>
              <a:t>Working days for a 2-week sprint — Day 0 = Sprint Planning. This is the Todo pilot reference timeline; teams can adapt it to their existing refinement cadence.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15600" cy="0"/>
          </a:xfrm>
          <a:prstGeom prst="line">
            <a:avLst/>
          </a:prstGeom>
          <a:noFill/>
          <a:ln w="38100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3716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N−1  •  BEFORE PLANNING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33720" y="13716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3372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  •  EXECUTION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828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identified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07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3512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512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/ Clarify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59176" y="2185416"/>
            <a:ext cx="201168" cy="201168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5196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5196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decision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433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1038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-3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038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Ready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59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8564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564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643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0248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248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Tasks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69576" y="2185416"/>
            <a:ext cx="201168" cy="201168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530080" y="1719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+8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530080" y="1901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237976" y="2185416"/>
            <a:ext cx="201168" cy="201168"/>
          </a:xfrm>
          <a:prstGeom prst="ellipse">
            <a:avLst/>
          </a:prstGeom>
          <a:solidFill>
            <a:srgbClr val="0B3D4C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10698480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+10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698480" y="25968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Demo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120640"/>
                <a:gridCol w="1325880"/>
                <a:gridCol w="1600200"/>
                <a:gridCol w="2240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 (Spec Kit reference in the pilot)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identified; ADO story written, tagged SDD-Candidate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user 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/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refinement #1 — team assesses SDD suitability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+ Dev +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Suitability decision (lightweight)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 to −5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expected behavior + clarify (/speckit.specify, /speckit.clarify); Outstanding Questions posted to 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spec (spec.md)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+ BA (AI assists)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review; PO answers material business questions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clarifications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/ PO /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1 — business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acceptance criteria updated; spec synchronized; story marked 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 AC + spec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2 — Definition of 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 — estimate and commit; developer receives refined story + spec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Scrum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commitment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to +2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plan → task breakdown → consistency check (/speckit.plan, .tasks, .analyze)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task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3 — technical plan review (lead)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to +8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Implement; converge intent ↔ code (/speckit.implement, .converge); gaps routed via change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tests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(+ BA/PO if gap)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to +10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QA, code review, PR merge; sprint review / demo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reviewers /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Checkpoint 4 — PR 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548640" y="6163056"/>
            <a:ext cx="11064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activities begin roughly one sprint before planning, inside normal refinement. Four checkpoints — none of them new meetings.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 — Clarify Before Coding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US-904672 Improve Todo List UX &amp; Pagination: the define-behavior + clarify steps (Spec Kit in the pilot) surfaced four concrete decisions before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0" y="1600200"/>
            <a:ext cx="5669280" cy="3794760"/>
          </a:xfrm>
          <a:prstGeom prst="roundRect">
            <a:avLst>
              <a:gd name="adj" fmla="val 289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ADO story &amp; acceptance criteria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47548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Todo user, I want the Todo list to be clear and easy to navigate, so that I can efficiently manage a larger number of Todo items.”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47548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layout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actions easy to identify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when items exceed page size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page / total pages or items visible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Previous/Next works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continues working with pagination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Pending/Completed visually distinct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Empty/error/validation states are clear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decisions captured back in 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2996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many Todo items should be shown on each page before pagination kicks in?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8716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 per page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85292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When a user completes or deletes the last remaining Todo on the current page, what should happen?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31012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show the previous page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67588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Should the list show the total number of pages, the total number of items, or both?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13308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page and total pages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4498848"/>
            <a:ext cx="5257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If a user requests a page number that doesn’t exist (beyond last page, page 0/negative), what should the product do?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956048"/>
            <a:ext cx="525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algn="l" indent="0" marL="0">
              <a:buNone/>
            </a:pPr>
            <a:r>
              <a:rPr lang="en-US" sz="11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the nearest valid page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 → 10 items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042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36042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page → previous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17220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→ page + total pages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83980" y="5623560"/>
            <a:ext cx="2628900" cy="384048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9525">
            <a:solidFill>
              <a:srgbClr val="E6F4E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983980" y="562356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page → clamp valid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 — Expose the Gap, Don’t Guess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US-904674 Due Date &amp; Overdue Tracking: a material business question was retained as an Outstanding Question rather than assumed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BA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64385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164385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64385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Question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35985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80130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78013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80130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visible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51730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95874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39587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Business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95874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answer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67474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11619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011619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/ AC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11619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83219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27364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627364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27364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synchronized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998964" y="1874520"/>
            <a:ext cx="2441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243109" y="16002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0243109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43109" y="199339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788920"/>
            <a:ext cx="576072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583680" y="2788920"/>
            <a:ext cx="502920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77724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Questions — from the feature spec, posted to the ADO story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3246120"/>
            <a:ext cx="534924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Overdue boundary: 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Todo with a calendar due date become overdue — at the start of the next calendar day, at a specified time, or according to another business-calendar rule?  </a:t>
            </a:r>
            <a:pPr algn="l"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4343400"/>
            <a:ext cx="53492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Overdue access: </a:t>
            </a:r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users view overdue Todos through an in-list filter, a separate overdue list, or both?  </a:t>
            </a:r>
            <a:pPr algn="l"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81228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step — one question at a time, recorded in the spec (Spec Kit /speckit.clarify in the pilot)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3218688"/>
            <a:ext cx="4617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Todo with a calendar due date become overdue?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3703320"/>
            <a:ext cx="4617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At the start of the calendar day after the due date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At a specific time on the due date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At the end of a defined working day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4663440"/>
            <a:ext cx="46177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recommended Option A as simplest and most predictable — the PO still owns the decision.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B3D4C"/>
          </a:solidFill>
          <a:ln w="9525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unanswered business question remains open until the appropriate stakeholder decides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Story. Five Perspectives.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US-904672 • four clarified decisions:  10 items/page  •  previous valid page after last-item removal  •  clamp invalid page  •  show current + total pages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20724" y="1920240"/>
            <a:ext cx="731520" cy="731520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2072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against explicit behavior instead of choosing pagination behavior by assumption.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59786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31870" y="1920240"/>
            <a:ext cx="731520" cy="73152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3187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51226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96946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requirement gaps that were not explicit in the original story and gets them resolved during refinement.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70932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43016" y="1920240"/>
            <a:ext cx="731520" cy="73152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84301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62372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8092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concrete test scenarios: page 0, negative page, beyond-last page, and last-item removal.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82078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154162" y="1920240"/>
            <a:ext cx="731520" cy="73152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15416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73518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Business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19238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expected business behavior when a clarification requires an authoritative decision.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93224" y="1691640"/>
            <a:ext cx="2075688" cy="3520440"/>
          </a:xfrm>
          <a:prstGeom prst="roundRect">
            <a:avLst>
              <a:gd name="adj" fmla="val 5286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465308" y="1920240"/>
            <a:ext cx="731520" cy="731520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46530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884664" y="2788920"/>
            <a:ext cx="1892808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Lead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930384" y="3246120"/>
            <a:ext cx="1801368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where SDD adds value: ambiguity is surfaced before implementation, not after coding starts.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story. Same clarification decisions. Different value for each Scrum role.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the Todo pilot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ADO Stories to SDD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400">
                <a:solidFill>
                  <a:srgbClr val="5C6B73"/>
                </a:solidFill>
                <a:latin typeface="Calibri"/>
              </a:rPr>
              <a:t>Select the relevant ADO stories first; then derive the specification boundary from the work — do not prescribe a fixed 1:1 relationship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COMMON CASE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1 story → 1 feature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cohesive capability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150" b="1">
                <a:solidFill>
                  <a:srgbClr val="1A202C"/>
                </a:solidFill>
                <a:latin typeface="Calibri"/>
              </a:rPr>
              <a:t>US-904672 Improve Todo List UX &amp; Pagination</a:t>
            </a:r>
            <a:endParaRPr lang="en-US" sz="1150" dirty="0"/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</a:t>
            </a:r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specs/003-todo-list-ux-improvement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Use when one selected story already represents a cohesive, independently understandable and testable capability.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9684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58284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58284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OBSERVED IN PILOT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58284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Many stories → 1 feature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58284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shared capability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58284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r>
              <a:rPr sz="1150" b="1">
                <a:solidFill>
                  <a:srgbClr val="1A202C"/>
                </a:solidFill>
                <a:latin typeface="Calibri"/>
              </a:rPr>
              <a:t>US-900332 Complete a Todo  +  US-900328 Delete a Todo</a:t>
            </a:r>
            <a:endParaRPr lang="en-US" sz="1150" dirty="0"/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</a:t>
            </a:r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specs/002-todo-lifecycle-operations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4558284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Valid when selected stories belong together and reasoning about them as one shared behavior/specification adds value.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728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39328" y="17830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39328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SELECTION PRINCIPLE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Pick relevant stories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not the whole sprint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 i="1">
                <a:solidFill>
                  <a:srgbClr val="C05621"/>
                </a:solidFill>
                <a:latin typeface="Calibri"/>
              </a:rPr>
              <a:t>A sprint may contain many stories. Import only the story IDs needed for the specification context.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Example:  /ado-import 123 456 789</a:t>
            </a:r>
            <a:endParaRPr lang="en-US" sz="1150" dirty="0"/>
          </a:p>
          <a:p>
            <a:r>
              <a:rPr sz="1150">
                <a:solidFill>
                  <a:srgbClr val="1A202C"/>
                </a:solidFill>
                <a:latin typeface="Calibri"/>
              </a:rPr>
              <a:t>The stories stay intact in ADO; the SDD feature groups behavior only where useful.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300" b="1">
                <a:solidFill>
                  <a:srgbClr val="0B3D4C"/>
                </a:solidFill>
                <a:latin typeface="Calibri"/>
              </a:rPr>
              <a:t>Reference rule:  ADO stories remain planning / assignment units. There is no mandatory 1:1 story-to-spec mapping; the team decides the appropriate boundary during refinement.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0B3D4C"/>
                </a:solidFill>
                <a:latin typeface="Calibri"/>
              </a:rPr>
              <a:t>Reference Flow — Not a Prescribed Project Process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400">
                <a:solidFill>
                  <a:srgbClr val="5C6B73"/>
                </a:solidFill>
                <a:latin typeface="Calibri"/>
              </a:rPr>
              <a:t>One general EA pattern that project teams can use as-is or extend to fit their existing delivery process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COMMON CORE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ADO → SDD context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reference starting point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150" b="1">
                <a:solidFill>
                  <a:srgbClr val="1A202C"/>
                </a:solidFill>
                <a:latin typeface="Calibri"/>
              </a:rPr>
              <a:t>Select relevant ADO story/stories</a:t>
            </a:r>
            <a:endParaRPr lang="en-US" sz="1150" dirty="0"/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 Import context</a:t>
            </a:r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 Preserve story traceability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ADO remains the planning / assignment system. The integration brings selected business context into the SDD workflow; it does not replace the backlog.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9684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58284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58284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REFERENCE FLOW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58284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Refine → Spec → Develop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58284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shared behavioral baseline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58284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r>
              <a:rPr sz="1150" b="1">
                <a:solidFill>
                  <a:srgbClr val="1A202C"/>
                </a:solidFill>
                <a:latin typeface="Calibri"/>
              </a:rPr>
              <a:t>Define / clarify behavior</a:t>
            </a:r>
            <a:endParaRPr lang="en-US" sz="1150" dirty="0"/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 Record business decisions</a:t>
            </a:r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 Spec ready before commitment</a:t>
            </a:r>
          </a:p>
          <a:p>
            <a:r>
              <a:rPr sz="1150" b="1">
                <a:solidFill>
                  <a:srgbClr val="1A202C"/>
                </a:solidFill>
                <a:latin typeface="Calibri"/>
              </a:rPr>
              <a:t>→ Developer consumes spec + artifacts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4558284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When a clarification affects a source story, keep it traceable to that story and update the relevant ADO requirement / AC where the team’s process requires 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728" y="16002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39328" y="17830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39328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PROJECT CHOICE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194560"/>
            <a:ext cx="3044952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800" b="1">
                <a:solidFill>
                  <a:srgbClr val="0B3D4C"/>
                </a:solidFill>
                <a:latin typeface="Calibri"/>
              </a:rPr>
              <a:t>Extend where useful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578608"/>
            <a:ext cx="304495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00" i="1">
                <a:solidFill>
                  <a:srgbClr val="5C6B73"/>
                </a:solidFill>
                <a:latin typeface="Calibri"/>
              </a:rPr>
              <a:t>not mandatory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926080"/>
            <a:ext cx="3044952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 i="1">
                <a:solidFill>
                  <a:srgbClr val="C05621"/>
                </a:solidFill>
                <a:latin typeface="Calibri"/>
              </a:rPr>
              <a:t>Specification location / sync model</a:t>
            </a:r>
            <a:endParaRPr lang="en-US" sz="1150" dirty="0"/>
          </a:p>
          <a:p>
            <a:r>
              <a:rPr sz="1150" i="1">
                <a:solidFill>
                  <a:srgbClr val="C05621"/>
                </a:solidFill>
                <a:latin typeface="Calibri"/>
              </a:rPr>
              <a:t>ADO task creation or task sync</a:t>
            </a:r>
          </a:p>
          <a:p>
            <a:r>
              <a:rPr sz="1150" i="1">
                <a:solidFill>
                  <a:srgbClr val="C05621"/>
                </a:solidFill>
                <a:latin typeface="Calibri"/>
              </a:rPr>
              <a:t>Task / story status sync</a:t>
            </a:r>
          </a:p>
          <a:p>
            <a:r>
              <a:rPr sz="1150" i="1">
                <a:solidFill>
                  <a:srgbClr val="C05621"/>
                </a:solidFill>
                <a:latin typeface="Calibri"/>
              </a:rPr>
              <a:t>Automatic closure / other automation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8339328" y="4069080"/>
            <a:ext cx="3044952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150">
                <a:solidFill>
                  <a:srgbClr val="1A202C"/>
                </a:solidFill>
                <a:latin typeface="Calibri"/>
              </a:rPr>
              <a:t>Teams decide what adds value. EA should not maintain a different solution per project; provide one extensible integration and validate extension needs with real teams.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300" b="1">
                <a:solidFill>
                  <a:srgbClr val="0B3D4C"/>
                </a:solidFill>
                <a:latin typeface="Calibri"/>
              </a:rPr>
              <a:t>Adoption principle:  keep existing Scrum, ADO, Git and PR practices. Offer a reference flow + extension points; gather project feedback before standardizing optional automation.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SDD: Ownership &amp; Branching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normal ADO and Git responsibilities; use the specification as a shared behavioral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4EEF1"/>
          </a:solidFill>
          <a:ln w="9525">
            <a:solidFill>
              <a:srgbClr val="E4EEF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106984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Lifecycle Operations   </a:t>
            </a:r>
            <a:pPr algn="l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→ Complete a Todo   •   Dev B → Delete a Todo   •   one shared feature / spec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2514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Clear ownership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story → owned by the assigned developer.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spec → shared project artifact for the capability.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may maintain the spec, but BA / PO / business stakeholders remain the authority for business behavior.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Branching strategy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and Dev B continue using normal feature branches.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starts from the same reviewed / refined specification baseline.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PR, rebase, merge and code-review practices remain unchanged.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specification does not mean shared ownership of every task. ADO keeps individual assignment; the spec keeps both developers aligned on intended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SDD: Change &amp; Conflict Handling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parallel work exposes a gap, separate requirement change from normal Git conflict resolution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2240280"/>
          </a:xfrm>
          <a:prstGeom prst="roundRect">
            <a:avLst>
              <a:gd name="adj" fmla="val 4898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Change management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finds a gap or change  →  classify the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BEHAVIOR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69748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78808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178808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/ PO decision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58968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0136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660136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ADO / AC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940296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41464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141464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shared spec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21624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22792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622792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tasks / tests / 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24597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04120" y="245973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10104120" y="24597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developers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32004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2296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2697480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919472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4919472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plan / design if needed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940296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141464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7141464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affected developers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62288" y="3145536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363456" y="3145536"/>
            <a:ext cx="2020824" cy="402336"/>
          </a:xfrm>
          <a:prstGeom prst="roundRect">
            <a:avLst>
              <a:gd name="adj" fmla="val 1818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9363456" y="3145536"/>
            <a:ext cx="20208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Conflict mechanism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4526280"/>
            <a:ext cx="512064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conflict — </a:t>
            </a:r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developers changed overlapping code.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 through normal Git merge / rebase / PR and review.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126480" y="4526280"/>
            <a:ext cx="53035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/ spec conflict — </a:t>
            </a:r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interpret expected behavior differently.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Resolve expected behavior with BA / PO or technical owner  →  update shared baseline  →  align implementations.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 </a:t>
            </a:r>
            <a:pPr algn="ctr" indent="0" marL="0">
              <a:buNone/>
            </a:pPr>
            <a:r>
              <a:rPr lang="en-US" sz="1300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conflict ≠ specification conflict. Resolve the behavior first when the disagreement is about what the system should do.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16</a:t>
            </a:r>
            <a:endParaRPr lang="en-US" sz="900" dirty="0"/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84556"/>
                </a:solidFill>
                <a:latin typeface="Aptos"/>
              </a:rPr>
              <a:t>ADO → Spec Kit Integration — What We Built &amp; How It Can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5039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F7C"/>
                </a:solidFill>
                <a:latin typeface="Aptos"/>
              </a:rPr>
              <a:t>Validated Todo-pilot capability first; broader synchronization remains project-selectable rather than a prescribed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E9464"/>
                </a:solidFill>
                <a:latin typeface="Aptos"/>
              </a:rPr>
              <a:t>IMPLEMENTED / VALIDATED POC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48132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1848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84556"/>
                </a:solidFill>
                <a:latin typeface="Aptos"/>
              </a:rPr>
              <a:t>Azure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65376"/>
            <a:ext cx="13350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0">
                <a:solidFill>
                  <a:srgbClr val="5C6F7C"/>
                </a:solidFill>
                <a:latin typeface="Aptos"/>
              </a:rPr>
              <a:t>Existing User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3976" y="17465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47CB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508760"/>
            <a:ext cx="148132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61848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84556"/>
                </a:solidFill>
                <a:latin typeface="Aptos"/>
              </a:rPr>
              <a:t>Azure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865376"/>
            <a:ext cx="13350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0">
                <a:solidFill>
                  <a:srgbClr val="5C6F7C"/>
                </a:solidFill>
                <a:latin typeface="Aptos"/>
              </a:rPr>
              <a:t>ADO extension +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7465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47CB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7096" y="1508760"/>
            <a:ext cx="148132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61848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84556"/>
                </a:solidFill>
                <a:latin typeface="Aptos"/>
              </a:rPr>
              <a:t>/ado-import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865376"/>
            <a:ext cx="13350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0">
                <a:solidFill>
                  <a:srgbClr val="5C6F7C"/>
                </a:solidFill>
                <a:latin typeface="Aptos"/>
              </a:rPr>
              <a:t>Custom Agent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17465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47CB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1508760"/>
            <a:ext cx="1481328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1618488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84556"/>
                </a:solidFill>
                <a:latin typeface="Aptos"/>
              </a:rPr>
              <a:t>Local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1865376"/>
            <a:ext cx="13350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0">
                <a:solidFill>
                  <a:srgbClr val="5C6F7C"/>
                </a:solidFill>
                <a:latin typeface="Aptos"/>
              </a:rPr>
              <a:t>Markdown + ADO traceability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9831" y="1508760"/>
            <a:ext cx="2011680" cy="658368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1609344"/>
            <a:ext cx="17922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347CBE"/>
                </a:solidFill>
                <a:latin typeface="Aptos"/>
              </a:rPr>
              <a:t>Spec Kit engineering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837943"/>
            <a:ext cx="1792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0" b="1">
                <a:solidFill>
                  <a:srgbClr val="084556"/>
                </a:solidFill>
                <a:latin typeface="Aptos"/>
              </a:rPr>
              <a:t>Specify → Clarify → Plan →
Tasks → Analyze → Implement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1746504"/>
            <a:ext cx="246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9464"/>
                </a:solidFill>
                <a:latin typeface="Aptos"/>
              </a:rPr>
              <a:t>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5832" y="1508760"/>
            <a:ext cx="1499616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1609344"/>
            <a:ext cx="13350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30" b="1">
                <a:solidFill>
                  <a:srgbClr val="084556"/>
                </a:solidFill>
                <a:latin typeface="Aptos"/>
              </a:rPr>
              <a:t>ADO 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1847088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30" b="0">
                <a:solidFill>
                  <a:srgbClr val="5C6F7C"/>
                </a:solidFill>
                <a:latin typeface="Aptos"/>
              </a:rPr>
              <a:t>/ado-clarification-sync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3957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84556"/>
                </a:solidFill>
                <a:latin typeface="Aptos"/>
              </a:rPr>
              <a:t>REFERENCE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2788920"/>
            <a:ext cx="292608" cy="292608"/>
          </a:xfrm>
          <a:prstGeom prst="ellipse">
            <a:avLst/>
          </a:prstGeom>
          <a:solidFill>
            <a:srgbClr val="084556"/>
          </a:solidFill>
          <a:ln>
            <a:solidFill>
              <a:srgbClr val="084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Select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Relevant ADO story ID(s)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42972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34412" y="2788920"/>
            <a:ext cx="292608" cy="292608"/>
          </a:xfrm>
          <a:prstGeom prst="ellipse">
            <a:avLst/>
          </a:prstGeom>
          <a:solidFill>
            <a:srgbClr val="084556"/>
          </a:solidFill>
          <a:ln>
            <a:solidFill>
              <a:srgbClr val="084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1883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2700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ADO → local SDD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1584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83024" y="2788920"/>
            <a:ext cx="292608" cy="292608"/>
          </a:xfrm>
          <a:prstGeom prst="ellipse">
            <a:avLst/>
          </a:prstGeom>
          <a:solidFill>
            <a:srgbClr val="2E9464"/>
          </a:solidFill>
          <a:ln>
            <a:solidFill>
              <a:srgbClr val="2E9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0496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Define / clarify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1312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One or more stories can shape a spec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0196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31636" y="2788920"/>
            <a:ext cx="292608" cy="292608"/>
          </a:xfrm>
          <a:prstGeom prst="ellipse">
            <a:avLst/>
          </a:prstGeom>
          <a:solidFill>
            <a:srgbClr val="2E9464"/>
          </a:solidFill>
          <a:ln>
            <a:solidFill>
              <a:srgbClr val="2E9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9108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Record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9924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Decision back to relevant ADO story when useful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88808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80247" y="2788920"/>
            <a:ext cx="292608" cy="292608"/>
          </a:xfrm>
          <a:prstGeom prst="ellipse">
            <a:avLst/>
          </a:prstGeom>
          <a:solidFill>
            <a:srgbClr val="CD581C"/>
          </a:solidFill>
          <a:ln>
            <a:solidFill>
              <a:srgbClr val="CD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7720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Spec ready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8535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Behavioral baseline before development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7420" y="2688336"/>
            <a:ext cx="1748027" cy="1005840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28860" y="2788920"/>
            <a:ext cx="292608" cy="292608"/>
          </a:xfrm>
          <a:prstGeom prst="ellipse">
            <a:avLst/>
          </a:prstGeom>
          <a:solidFill>
            <a:srgbClr val="347CBE"/>
          </a:solidFill>
          <a:ln>
            <a:solidFill>
              <a:srgbClr val="347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6332" y="2798064"/>
            <a:ext cx="1226819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84556"/>
                </a:solidFill>
                <a:latin typeface="Aptos"/>
              </a:rPr>
              <a:t>Develop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7147" y="3136392"/>
            <a:ext cx="1528571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1F2D36"/>
                </a:solidFill>
                <a:latin typeface="Aptos"/>
              </a:rPr>
              <a:t>Existing QA / Git / PR flow continues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3959352"/>
            <a:ext cx="5623560" cy="1938528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41605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84556"/>
                </a:solidFill>
                <a:latin typeface="Aptos"/>
              </a:rPr>
              <a:t>CURRENT CAPABILITY STATUS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517136"/>
            <a:ext cx="868680" cy="283464"/>
          </a:xfrm>
          <a:prstGeom prst="roundRect">
            <a:avLst/>
          </a:prstGeom>
          <a:solidFill>
            <a:srgbClr val="2E9464"/>
          </a:solidFill>
          <a:ln w="8890">
            <a:solidFill>
              <a:srgbClr val="2E9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VALIDATED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1952" y="4526280"/>
            <a:ext cx="4005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084556"/>
                </a:solidFill>
                <a:latin typeface="Aptos"/>
              </a:rPr>
              <a:t>ADO → local import + traceability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4892040"/>
            <a:ext cx="868680" cy="283464"/>
          </a:xfrm>
          <a:prstGeom prst="roundRect">
            <a:avLst/>
          </a:prstGeom>
          <a:solidFill>
            <a:srgbClr val="2E9464"/>
          </a:solidFill>
          <a:ln w="8890">
            <a:solidFill>
              <a:srgbClr val="2E9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VALIDATED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01952" y="4901183"/>
            <a:ext cx="4005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084556"/>
                </a:solidFill>
                <a:latin typeface="Aptos"/>
              </a:rPr>
              <a:t>Clarification feedback → ADO Discussion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" y="5266944"/>
            <a:ext cx="868680" cy="283464"/>
          </a:xfrm>
          <a:prstGeom prst="roundRect">
            <a:avLst/>
          </a:prstGeom>
          <a:solidFill>
            <a:srgbClr val="347CBE"/>
          </a:solidFill>
          <a:ln w="8890">
            <a:solidFill>
              <a:srgbClr val="347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1952" y="5276088"/>
            <a:ext cx="4005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084556"/>
                </a:solidFill>
                <a:latin typeface="Aptos"/>
              </a:rPr>
              <a:t>Selected multiple stories: /ado-import 123 456 789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5641848"/>
            <a:ext cx="868680" cy="283464"/>
          </a:xfrm>
          <a:prstGeom prst="roundRect">
            <a:avLst/>
          </a:prstGeom>
          <a:solidFill>
            <a:srgbClr val="CD581C"/>
          </a:solidFill>
          <a:ln w="8890">
            <a:solidFill>
              <a:srgbClr val="CD5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1952" y="5650992"/>
            <a:ext cx="4005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1">
                <a:solidFill>
                  <a:srgbClr val="084556"/>
                </a:solidFill>
                <a:latin typeface="Aptos"/>
              </a:rPr>
              <a:t>Reusable Agent Skills via Copilot plugin / EA Marketplace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46520" y="3959352"/>
            <a:ext cx="5138928" cy="1938528"/>
          </a:xfrm>
          <a:prstGeom prst="roundRect">
            <a:avLst/>
          </a:prstGeom>
          <a:solidFill>
            <a:srgbClr val="F4F7F9"/>
          </a:solidFill>
          <a:ln w="889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D581C"/>
                </a:solidFill>
                <a:latin typeface="Aptos"/>
              </a:rPr>
              <a:t>PROJECT-SELECTABLE EXTENSIONS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8272" y="4507992"/>
            <a:ext cx="4480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1F2D36"/>
                </a:solidFill>
                <a:latin typeface="Aptos"/>
              </a:rPr>
              <a:t>• Publish / link specification in ADO
• Create or sync ADO Tasks
• Task / User Story status synchronization
• Automatic closure, PR / commit linking, other automation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272" y="5394960"/>
            <a:ext cx="4480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9464"/>
                </a:solidFill>
                <a:latin typeface="Aptos"/>
              </a:rPr>
              <a:t>Community reference: pragya247/spec-kit-azure-devops mainly supports spec.md / tasks.md → ADO; our current need starts ADO → local SDD.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" y="6108192"/>
            <a:ext cx="10991088" cy="438912"/>
          </a:xfrm>
          <a:prstGeom prst="roundRect">
            <a:avLst/>
          </a:prstGeom>
          <a:solidFill>
            <a:srgbClr val="E8F7EE"/>
          </a:solidFill>
          <a:ln w="8890">
            <a:solidFill>
              <a:srgbClr val="B0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" y="6217920"/>
            <a:ext cx="1066190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084556"/>
                </a:solidFill>
                <a:latin typeface="Aptos"/>
              </a:rPr>
              <a:t>Positioning: one workable, extensible integration path. ADO remains the business/backlog system of record; teams keep existing Scrum, Git, QA and PR practices.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0B3D4C"/>
                </a:solidFill>
                <a:latin typeface="Calibri"/>
              </a:rPr>
              <a:t>ADO Integration — Reference Capability &amp; Extension Points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400">
                <a:solidFill>
                  <a:srgbClr val="5C6B73"/>
                </a:solidFill>
                <a:latin typeface="Calibri"/>
              </a:rPr>
              <a:t>Keep the core small and useful; expose additional synchronization as project-selectable extensions rather than mandatory workflow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REFERENCE FLOW  •  POC + EXTENSIBLE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011680"/>
            <a:ext cx="310896" cy="310896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0B3D4C"/>
                </a:solidFill>
                <a:latin typeface="Calibri"/>
              </a:rPr>
              <a:t>Select stories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Team supplies the relevant ADO story ID(s); do not pull the whole sprint.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2316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32888" y="2011680"/>
            <a:ext cx="310896" cy="310896"/>
          </a:xfrm>
          <a:prstGeom prst="ellipse">
            <a:avLst/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53288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0B3D4C"/>
                </a:solidFill>
                <a:latin typeface="Calibri"/>
              </a:rPr>
              <a:t>Import context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3288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ADO → local SDD context: title, description, AC, iteration and traceability.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9768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07408" y="2011680"/>
            <a:ext cx="310896" cy="31089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40740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2F855A"/>
                </a:solidFill>
                <a:latin typeface="Calibri"/>
              </a:rPr>
              <a:t>Define / clarify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One or more selected stories can contribute to the specification being refined.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7220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81928" y="2011680"/>
            <a:ext cx="310896" cy="310896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28192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4768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2F855A"/>
                </a:solidFill>
                <a:latin typeface="Calibri"/>
              </a:rPr>
              <a:t>Record decisions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8192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Clarification can be reflected back to the relevant ADO story / discussion when useful.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04672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56448" y="2011680"/>
            <a:ext cx="310896" cy="310896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815644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2220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C05621"/>
                </a:solidFill>
                <a:latin typeface="Calibri"/>
              </a:rPr>
              <a:t>Spec ready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15644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Reviewed specification becomes the behavioral baseline before development commitment.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738360" y="2423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21240" y="192024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F1F5F7"/>
          </a:solidFill>
          <a:ln w="9525">
            <a:solidFill>
              <a:srgbClr val="D5DDE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030968" y="2011680"/>
            <a:ext cx="310896" cy="310896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1003096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396728" y="19933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150" b="1">
                <a:solidFill>
                  <a:srgbClr val="2B6CB0"/>
                </a:solidFill>
                <a:latin typeface="Calibri"/>
              </a:rPr>
              <a:t>Develop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030968" y="2423160"/>
            <a:ext cx="1472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000">
                <a:solidFill>
                  <a:srgbClr val="1A202C"/>
                </a:solidFill>
                <a:latin typeface="Calibri"/>
              </a:rPr>
              <a:t>Plan / tasks / analyze / implement locally; existing QA, Git and PR flow continues.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6118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217920" y="3611880"/>
            <a:ext cx="5394960" cy="1600200"/>
          </a:xfrm>
          <a:prstGeom prst="roundRect">
            <a:avLst>
              <a:gd name="adj" fmla="val 6857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822960" y="3675888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300" b="1">
                <a:solidFill>
                  <a:srgbClr val="0B3D4C"/>
                </a:solidFill>
                <a:latin typeface="Calibri"/>
              </a:rPr>
              <a:t>Core / demonstrated direction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4005072"/>
            <a:ext cx="48463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ADO story(s) → local SDD context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Preserve source-story traceability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Clarification feedback to ADO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Specification used as development baseline</a:t>
            </a:r>
          </a:p>
        </p:txBody>
      </p:sp>
      <p:sp>
        <p:nvSpPr>
          <p:cNvPr id="47" name="Text 45"/>
          <p:cNvSpPr txBox="1"/>
          <p:nvPr/>
        </p:nvSpPr>
        <p:spPr>
          <a:xfrm>
            <a:off x="6492240" y="3675888"/>
            <a:ext cx="4846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300" b="1">
                <a:solidFill>
                  <a:srgbClr val="C05621"/>
                </a:solidFill>
                <a:latin typeface="Calibri"/>
              </a:rPr>
              <a:t>Optional project extensions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92240" y="4005072"/>
            <a:ext cx="48463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Publish / link specification in ADO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Create or sync ADO Tasks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Task / User Story status synchronization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Automatic closure, PR / commit linking, other automation</a:t>
            </a:r>
          </a:p>
        </p:txBody>
      </p:sp>
      <p:sp>
        <p:nvSpPr>
          <p:cNvPr id="49" name="Shape 47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6F4EC"/>
          </a:solidFill>
          <a:ln w="9525">
            <a:solidFill>
              <a:srgbClr val="B7DFC6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77240" y="55321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77724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FFFFFF"/>
                </a:solidFill>
                <a:latin typeface="Calibri"/>
              </a:rPr>
              <a:t>COMMUNITY REFERENCE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2468880" y="5422392"/>
            <a:ext cx="90525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sz="1100" b="1">
                <a:solidFill>
                  <a:srgbClr val="2F855A"/>
                </a:solidFill>
                <a:latin typeface="Calibri"/>
              </a:rPr>
              <a:t>pragya247/spec-kit-azure-devops is useful reference material, but its primary direction is spec.md / tasks.md → ADO work items. Our current need starts from existing ADO stories → local SDD context. Treat it as an option/reference, not a prescribed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Todo Pilot  •  Scrum Team Perspective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r" indent="0" marL="0">
              <a:buNone/>
            </a:pPr>
            <a:r>
              <a:rPr sz="900">
                <a:solidFill>
                  <a:srgbClr val="5C6B73"/>
                </a:solidFill>
                <a:latin typeface="Calibri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for Adoption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400">
                <a:solidFill>
                  <a:srgbClr val="5C6B73"/>
                </a:solidFill>
                <a:latin typeface="Calibri"/>
              </a:rPr>
              <a:t>Validate the reference flow with real teams, learn where extensions add value, then publish guidance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3D4C"/>
          </a:solidFill>
          <a:ln w="12700">
            <a:solidFill>
              <a:srgbClr val="0B3D4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SEP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• Prepare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Mani &amp; Satish review vs. existing team approach — gaps, overlaps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Guidance document + short demo video of the Todo pilot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Document core flow + optional extension points</a:t>
            </a:r>
          </a:p>
        </p:txBody>
      </p:sp>
      <p:sp>
        <p:nvSpPr>
          <p:cNvPr id="11" name="Shape 9"/>
          <p:cNvSpPr/>
          <p:nvPr/>
        </p:nvSpPr>
        <p:spPr>
          <a:xfrm>
            <a:off x="3353105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35985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535985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(1 sprint)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985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First real pilot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35985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One project team, 2–3 SDD-Candidate stories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Include a selected multi-story → shared-spec scenario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Capture friction, feedback and where the team wants the spec maintained</a:t>
            </a:r>
          </a:p>
        </p:txBody>
      </p:sp>
      <p:sp>
        <p:nvSpPr>
          <p:cNvPr id="16" name="Shape 14"/>
          <p:cNvSpPr/>
          <p:nvPr/>
        </p:nvSpPr>
        <p:spPr>
          <a:xfrm>
            <a:off x="6157570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40450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34045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DEC (2–3 sprints)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34045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• Expand &amp; refine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40450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2–3 teams, including one multi-developer feature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Validate story-to-spec mapping patterns and clarification traceability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Evaluate which ADO integration extensions provide value</a:t>
            </a:r>
          </a:p>
        </p:txBody>
      </p:sp>
      <p:sp>
        <p:nvSpPr>
          <p:cNvPr id="21" name="Shape 19"/>
          <p:cNvSpPr/>
          <p:nvPr/>
        </p:nvSpPr>
        <p:spPr>
          <a:xfrm>
            <a:off x="8962034" y="16002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914" y="17373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144914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44914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• Publish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44914" y="2487168"/>
            <a:ext cx="22860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Publish validated guidance for broader adoption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Teams self-onboard; SPOC office hours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Standardize only the common core; keep project-specific automation extensible</a:t>
            </a:r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15200" y="4343400"/>
            <a:ext cx="4297680" cy="1828800"/>
          </a:xfrm>
          <a:prstGeom prst="roundRect">
            <a:avLst>
              <a:gd name="adj" fmla="val 6000"/>
            </a:avLst>
          </a:prstGeom>
          <a:solidFill>
            <a:srgbClr val="F1F5F7"/>
          </a:solidFill>
          <a:ln w="9525">
            <a:solidFill>
              <a:srgbClr val="F1F5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2960" y="4434840"/>
            <a:ext cx="62179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sz="1350" b="1">
                <a:solidFill>
                  <a:srgbClr val="2F855A"/>
                </a:solidFill>
                <a:latin typeface="Calibri"/>
              </a:rPr>
              <a:t>Success criteria (validate with pilot teams)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800600"/>
            <a:ext cx="6217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Material business questions surfaced before coding; no silent dev / AI assumptions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Relevant ADO story / AC updated when clarification changes business behavior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Story-to-spec mapping is understandable and traceable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Team rates the SDD overhead and integration choices as proportionate</a:t>
            </a:r>
          </a:p>
        </p:txBody>
      </p:sp>
      <p:sp>
        <p:nvSpPr>
          <p:cNvPr id="30" name="Text 28"/>
          <p:cNvSpPr txBox="1"/>
          <p:nvPr/>
        </p:nvSpPr>
        <p:spPr>
          <a:xfrm>
            <a:off x="758952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approach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800600"/>
            <a:ext cx="38404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sz="1050">
                <a:solidFill>
                  <a:srgbClr val="1A202C"/>
                </a:solidFill>
                <a:latin typeface="Calibri"/>
              </a:rPr>
              <a:t>1-hour walkthrough using this deck + demo video</a:t>
            </a:r>
            <a:endParaRPr lang="en-US" sz="1050" dirty="0"/>
          </a:p>
          <a:p>
            <a:r>
              <a:rPr sz="1050">
                <a:solidFill>
                  <a:srgbClr val="1A202C"/>
                </a:solidFill>
                <a:latin typeface="Calibri"/>
              </a:rPr>
              <a:t>Guidance shows the reference flow and where teams can adapt it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SPOC embedded for the first sprint, then office hours</a:t>
            </a:r>
          </a:p>
          <a:p>
            <a:r>
              <a:rPr sz="1050">
                <a:solidFill>
                  <a:srgbClr val="1A202C"/>
                </a:solidFill>
                <a:latin typeface="Calibri"/>
              </a:rPr>
              <a:t>Teams keep their existing Scrum ceremonies and delivery practices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CONCLUSION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 most useful as a selective reasoning layer inside the Scrum process we already follow.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 real team and 2–3 SDD-Candidate stories for the first pilot sprint in October.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720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and Satish to compare this approach with the existing team practice and flag gaps and overlaps.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611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34E61"/>
          </a:solidFill>
          <a:ln w="9525">
            <a:solidFill>
              <a:srgbClr val="134E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E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617720"/>
            <a:ext cx="3108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document and short demo video follow this deck — use them to onboard, keep your Scrum ceremonies as they are.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Reach out to the EA GenAI team — Mahantesh Pujar (SDD / Spec Kit SPOC)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Does SDD Fit in Scrum? — Spec Kit Todo Pilot</dc:title>
  <dc:subject>PptxGenJS Presentation</dc:subject>
  <dc:creator>Mahantesh Pujar</dc:creator>
  <cp:lastModifiedBy>Mahantesh Pujar</cp:lastModifiedBy>
  <cp:revision>1</cp:revision>
  <dcterms:created xsi:type="dcterms:W3CDTF">2026-09-06T09:58:47Z</dcterms:created>
  <dcterms:modified xsi:type="dcterms:W3CDTF">2026-09-06T09:58:47Z</dcterms:modified>
</cp:coreProperties>
</file>