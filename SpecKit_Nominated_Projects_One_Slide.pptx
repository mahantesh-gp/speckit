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6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38912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9273C"/>
                </a:solidFill>
              </a:defRPr>
            </a:pPr>
            <a:r>
              <a:t>GitHub Spec Kit | Nominated Projects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32104"/>
            <a:ext cx="10972800" cy="36576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7667C"/>
                </a:solidFill>
              </a:defRPr>
            </a:pPr>
            <a:r>
              <a:t>SDD adoption pipeline • Projects identified for onboarding and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310128" cy="960120"/>
          </a:xfrm>
          <a:prstGeom prst="roundRect">
            <a:avLst/>
          </a:prstGeom>
          <a:solidFill>
            <a:srgbClr val="E9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2926080" cy="36576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2056A9"/>
                </a:solidFill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38528"/>
            <a:ext cx="2926080" cy="27432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425673"/>
                </a:solidFill>
              </a:defRPr>
            </a:pPr>
            <a:r>
              <a:t>Spec Kit nominations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17320"/>
            <a:ext cx="3310128" cy="960120"/>
          </a:xfrm>
          <a:prstGeom prst="roundRect">
            <a:avLst/>
          </a:prstGeom>
          <a:solidFill>
            <a:srgbClr val="E9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554480"/>
            <a:ext cx="2926080" cy="36576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2056A9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938528"/>
            <a:ext cx="2926080" cy="27432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425673"/>
                </a:solidFill>
              </a:defRPr>
            </a:pPr>
            <a:r>
              <a:t>Delivery groups / DRs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417320"/>
            <a:ext cx="3310128" cy="960120"/>
          </a:xfrm>
          <a:prstGeom prst="roundRect">
            <a:avLst/>
          </a:prstGeom>
          <a:solidFill>
            <a:srgbClr val="E9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1554480"/>
            <a:ext cx="2926080" cy="36576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2056A9"/>
                </a:solidFill>
              </a:defRPr>
            </a:pPr>
            <a:r>
              <a:t>Yes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1938528"/>
            <a:ext cx="2926080" cy="27432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425673"/>
                </a:solidFill>
              </a:defRPr>
            </a:pPr>
            <a:r>
              <a:t>GHCP license indicated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679192"/>
            <a:ext cx="3310128" cy="32369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4360" y="2679192"/>
            <a:ext cx="3310128" cy="502920"/>
          </a:xfrm>
          <a:prstGeom prst="roundRect">
            <a:avLst/>
          </a:prstGeom>
          <a:solidFill>
            <a:srgbClr val="224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788920"/>
            <a:ext cx="3035808" cy="32004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</a:defRPr>
            </a:pPr>
            <a:r>
              <a:t>Sudhir Sudhakar Ardak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346704"/>
            <a:ext cx="2999232" cy="365760"/>
          </a:xfrm>
          <a:prstGeom prst="roundRect">
            <a:avLst/>
          </a:prstGeom>
          <a:solidFill>
            <a:srgbClr val="F0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3401568"/>
            <a:ext cx="2743200" cy="256032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4364F"/>
                </a:solidFill>
              </a:defRPr>
            </a:pPr>
            <a:r>
              <a:t>Pulse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794760"/>
            <a:ext cx="2999232" cy="365760"/>
          </a:xfrm>
          <a:prstGeom prst="roundRect">
            <a:avLst/>
          </a:prstGeom>
          <a:solidFill>
            <a:srgbClr val="F0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3849624"/>
            <a:ext cx="2743200" cy="256032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4364F"/>
                </a:solidFill>
              </a:defRPr>
            </a:pPr>
            <a:r>
              <a:t>CPL Automation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4242816"/>
            <a:ext cx="2999232" cy="365760"/>
          </a:xfrm>
          <a:prstGeom prst="roundRect">
            <a:avLst/>
          </a:prstGeom>
          <a:solidFill>
            <a:srgbClr val="F0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4297680"/>
            <a:ext cx="2743200" cy="256032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4364F"/>
                </a:solidFill>
              </a:defRPr>
            </a:pPr>
            <a:r>
              <a:t>PAS Rewrite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2679192"/>
            <a:ext cx="3310128" cy="32369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434840" y="2679192"/>
            <a:ext cx="3310128" cy="502920"/>
          </a:xfrm>
          <a:prstGeom prst="roundRect">
            <a:avLst/>
          </a:prstGeom>
          <a:solidFill>
            <a:srgbClr val="224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81144" y="2788920"/>
            <a:ext cx="3035808" cy="32004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</a:defRPr>
            </a:pPr>
            <a:r>
              <a:t>Ajit Bhardwaj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90288" y="3346704"/>
            <a:ext cx="2999232" cy="365760"/>
          </a:xfrm>
          <a:prstGeom prst="roundRect">
            <a:avLst/>
          </a:prstGeom>
          <a:solidFill>
            <a:srgbClr val="F0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0016" y="3401568"/>
            <a:ext cx="2743200" cy="256032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4364F"/>
                </a:solidFill>
              </a:defRPr>
            </a:pPr>
            <a:r>
              <a:t>Commitment Typing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90288" y="3794760"/>
            <a:ext cx="2999232" cy="365760"/>
          </a:xfrm>
          <a:prstGeom prst="roundRect">
            <a:avLst/>
          </a:prstGeom>
          <a:solidFill>
            <a:srgbClr val="F0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00016" y="3849624"/>
            <a:ext cx="2743200" cy="256032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4364F"/>
                </a:solidFill>
              </a:defRPr>
            </a:pPr>
            <a:r>
              <a:t>Policy Typing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75320" y="2679192"/>
            <a:ext cx="3310128" cy="32369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75320" y="2679192"/>
            <a:ext cx="3310128" cy="502920"/>
          </a:xfrm>
          <a:prstGeom prst="roundRect">
            <a:avLst/>
          </a:prstGeom>
          <a:solidFill>
            <a:srgbClr val="224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21624" y="2788920"/>
            <a:ext cx="3035808" cy="32004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</a:defRPr>
            </a:pPr>
            <a:r>
              <a:t>Pradeep Manoharan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30768" y="3346704"/>
            <a:ext cx="2999232" cy="365760"/>
          </a:xfrm>
          <a:prstGeom prst="roundRect">
            <a:avLst/>
          </a:prstGeom>
          <a:solidFill>
            <a:srgbClr val="F0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40496" y="3401568"/>
            <a:ext cx="2743200" cy="256032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4364F"/>
                </a:solidFill>
              </a:defRPr>
            </a:pPr>
            <a:r>
              <a:t>SoftPro 360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30768" y="3794760"/>
            <a:ext cx="2999232" cy="365760"/>
          </a:xfrm>
          <a:prstGeom prst="roundRect">
            <a:avLst/>
          </a:prstGeom>
          <a:solidFill>
            <a:srgbClr val="F0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40496" y="3849624"/>
            <a:ext cx="2743200" cy="256032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4364F"/>
                </a:solidFill>
              </a:defRPr>
            </a:pPr>
            <a:r>
              <a:t>SoftPro Custom Dev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30768" y="4242816"/>
            <a:ext cx="2999232" cy="365760"/>
          </a:xfrm>
          <a:prstGeom prst="roundRect">
            <a:avLst/>
          </a:prstGeom>
          <a:solidFill>
            <a:srgbClr val="F0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40496" y="4297680"/>
            <a:ext cx="2743200" cy="256032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4364F"/>
                </a:solidFill>
              </a:defRPr>
            </a:pPr>
            <a:r>
              <a:t>SoftPro Live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430768" y="4690872"/>
            <a:ext cx="2999232" cy="365760"/>
          </a:xfrm>
          <a:prstGeom prst="roundRect">
            <a:avLst/>
          </a:prstGeom>
          <a:solidFill>
            <a:srgbClr val="F0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40496" y="4745736"/>
            <a:ext cx="2743200" cy="256032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4364F"/>
                </a:solidFill>
              </a:defRPr>
            </a:pPr>
            <a:r>
              <a:t>ROCS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430768" y="5138928"/>
            <a:ext cx="2999232" cy="365760"/>
          </a:xfrm>
          <a:prstGeom prst="roundRect">
            <a:avLst/>
          </a:prstGeom>
          <a:solidFill>
            <a:srgbClr val="F0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40496" y="5193792"/>
            <a:ext cx="2743200" cy="256032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4364F"/>
                </a:solidFill>
              </a:defRPr>
            </a:pPr>
            <a:r>
              <a:t>SoftPro Sky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6172200"/>
            <a:ext cx="10972800" cy="320040"/>
          </a:xfrm>
          <a:prstGeom prst="rect">
            <a:avLst/>
          </a:prstGeom>
          <a:noFill/>
        </p:spPr>
        <p:txBody>
          <a:bodyPr wrap="square" lIns="18288" tIns="18288" r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647184"/>
                </a:solidFill>
              </a:defRPr>
            </a:pPr>
            <a:r>
              <a:t>Scope: nominated projects only — onboarding, pilot progress and outcomes to be tracked separately.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