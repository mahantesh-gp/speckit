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50" b="1">
                <a:solidFill>
                  <a:srgbClr val="192E49"/>
                </a:solidFill>
                <a:latin typeface="Aptos"/>
              </a:rPr>
              <a:t>User Story → Spec Kit Feature: What We Actually Observed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10789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C6874"/>
                </a:solidFill>
                <a:latin typeface="Aptos"/>
              </a:rPr>
              <a:t>Start with pilot evidence; derive the mapping rule from the work rather than prescribing a fixed relationship.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261872"/>
            <a:ext cx="1554480" cy="292608"/>
          </a:xfrm>
          <a:prstGeom prst="roundRect">
            <a:avLst/>
          </a:prstGeom>
          <a:solidFill>
            <a:srgbClr val="2C7B53"/>
          </a:solidFill>
          <a:ln>
            <a:solidFill>
              <a:srgbClr val="2C7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ACTUAL PILOT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4800600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S904672_ADO_evidence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828800"/>
            <a:ext cx="4507992" cy="29077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4773168"/>
            <a:ext cx="4480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92E49"/>
                </a:solidFill>
                <a:latin typeface="Aptos"/>
              </a:rPr>
              <a:t>ADO • US-904672 — Improve Todo List UX &amp; Pagination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87568" y="2139696"/>
            <a:ext cx="1078992" cy="1627632"/>
          </a:xfrm>
          <a:prstGeom prst="roundRect">
            <a:avLst/>
          </a:prstGeom>
          <a:solidFill>
            <a:srgbClr val="EFF4F9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15584" y="2331720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E49"/>
                </a:solidFill>
                <a:latin typeface="Aptos"/>
              </a:rPr>
              <a:t>ADO</a:t>
            </a:r>
            <a:br/>
            <a:r>
              <a:t>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2" y="2816352"/>
            <a:ext cx="42062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C6874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5584" y="3182112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E67A0"/>
                </a:solidFill>
                <a:latin typeface="Aptos"/>
              </a:rPr>
              <a:t>SDD</a:t>
            </a:r>
            <a:br/>
            <a:r>
              <a:t>Feature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4304" y="1664208"/>
            <a:ext cx="4526280" cy="3456432"/>
          </a:xfrm>
          <a:prstGeom prst="roundRect">
            <a:avLst/>
          </a:prstGeom>
          <a:solidFill>
            <a:srgbClr val="F7F9FB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18704" y="1993392"/>
            <a:ext cx="2697480" cy="292608"/>
          </a:xfrm>
          <a:prstGeom prst="roundRect">
            <a:avLst/>
          </a:prstGeom>
          <a:solidFill>
            <a:srgbClr val="2E67A0"/>
          </a:solidFill>
          <a:ln>
            <a:solidFill>
              <a:srgbClr val="2E6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18704" y="2002536"/>
            <a:ext cx="2697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ADD YOUR SPEC KIT SCREENSHOT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2578608"/>
            <a:ext cx="35661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E49"/>
                </a:solidFill>
                <a:latin typeface="Aptos"/>
              </a:rPr>
              <a:t>Recommended screenshot:</a:t>
            </a:r>
            <a:br/>
            <a:r>
              <a:t>feature folder / spec.md showing the corresponding UX &amp; Pagination feature and source ADO reference.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3767328"/>
            <a:ext cx="349300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5C6874"/>
                </a:solidFill>
                <a:latin typeface="Aptos"/>
              </a:rPr>
              <a:t>I left this area intentionally open so the final slide uses your real Spec Kit evidence rather than a recreated mock-up.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5413248"/>
            <a:ext cx="10680192" cy="685800"/>
          </a:xfrm>
          <a:prstGeom prst="roundRect">
            <a:avLst/>
          </a:prstGeom>
          <a:solidFill>
            <a:srgbClr val="EDF6F1"/>
          </a:solidFill>
          <a:ln>
            <a:solidFill>
              <a:srgbClr val="C7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532120"/>
            <a:ext cx="4343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2C7B53"/>
                </a:solidFill>
                <a:latin typeface="Aptos"/>
              </a:rPr>
              <a:t>Observed mapping: 1 ADO User Story → 1 Spec Kit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5477256"/>
            <a:ext cx="6080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92E49"/>
                </a:solidFill>
                <a:latin typeface="Aptos"/>
              </a:rPr>
              <a:t>Practical rule: use this as the default when the story represents one cohesive, independently understandable and testable capability.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6263640"/>
            <a:ext cx="2606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6874"/>
                </a:solidFill>
                <a:latin typeface="Aptos"/>
              </a:rPr>
              <a:t>Evidence first • rule second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50" b="1">
                <a:solidFill>
                  <a:srgbClr val="192E49"/>
                </a:solidFill>
                <a:latin typeface="Aptos"/>
              </a:rPr>
              <a:t>When the Mapping Is Not 1:1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10789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C6874"/>
                </a:solidFill>
                <a:latin typeface="Aptos"/>
              </a:rPr>
              <a:t>The pilot also gives us a practical way to handle related stories — and a guardrail for the exception case.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261872"/>
            <a:ext cx="1600200" cy="292608"/>
          </a:xfrm>
          <a:prstGeom prst="roundRect">
            <a:avLst/>
          </a:prstGeom>
          <a:solidFill>
            <a:srgbClr val="2C7B53"/>
          </a:solidFill>
          <a:ln>
            <a:solidFill>
              <a:srgbClr val="2C7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1600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OBSERVED IN TODO 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69951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993392"/>
            <a:ext cx="2212848" cy="1508760"/>
          </a:xfrm>
          <a:prstGeom prst="roundRect">
            <a:avLst/>
          </a:prstGeom>
          <a:solidFill>
            <a:srgbClr val="F7F9FB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3675887"/>
            <a:ext cx="2212848" cy="1508760"/>
          </a:xfrm>
          <a:prstGeom prst="roundRect">
            <a:avLst/>
          </a:prstGeom>
          <a:solidFill>
            <a:srgbClr val="F7F9FB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40864"/>
            <a:ext cx="181051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192E49"/>
                </a:solidFill>
                <a:latin typeface="Aptos"/>
              </a:rPr>
              <a:t>ADD SCREENSHOT</a:t>
            </a:r>
            <a:br/>
            <a:r>
              <a:t>Complete a Todo</a:t>
            </a:r>
            <a:br/>
            <a:r>
              <a:t>ADO 900332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4023360"/>
            <a:ext cx="181051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192E49"/>
                </a:solidFill>
                <a:latin typeface="Aptos"/>
              </a:rPr>
              <a:t>ADD SCREENSHOT</a:t>
            </a:r>
            <a:br/>
            <a:r>
              <a:t>Delete a Todo</a:t>
            </a:r>
            <a:br/>
            <a:r>
              <a:t>ADO 900328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30632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5C6874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2331720"/>
            <a:ext cx="3310128" cy="2240280"/>
          </a:xfrm>
          <a:prstGeom prst="roundRect">
            <a:avLst/>
          </a:prstGeom>
          <a:solidFill>
            <a:srgbClr val="EFF7F2"/>
          </a:solidFill>
          <a:ln>
            <a:solidFill>
              <a:srgbClr val="C7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615184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C7B53"/>
                </a:solidFill>
                <a:latin typeface="Aptos"/>
              </a:rPr>
              <a:t>Todo Lifecycle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3108960"/>
            <a:ext cx="2697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92E49"/>
                </a:solidFill>
                <a:latin typeface="Aptos"/>
              </a:rPr>
              <a:t>Multiple ADO stories → one Spec Kit 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712463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22A32"/>
                </a:solidFill>
                <a:latin typeface="Aptos"/>
              </a:rPr>
              <a:t>Use only when the stories form one coherent capability and are aligned to the same delivery window.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7848" y="1261872"/>
            <a:ext cx="2468880" cy="292608"/>
          </a:xfrm>
          <a:prstGeom prst="roundRect">
            <a:avLst/>
          </a:prstGeom>
          <a:solidFill>
            <a:srgbClr val="B8791F"/>
          </a:solidFill>
          <a:ln>
            <a:solidFill>
              <a:srgbClr val="B8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1271016"/>
            <a:ext cx="2468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RECOMMENDED HANDLING • NOT OBSERVED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7848" y="1664208"/>
            <a:ext cx="3602736" cy="4251960"/>
          </a:xfrm>
          <a:prstGeom prst="roundRect">
            <a:avLst/>
          </a:prstGeom>
          <a:solidFill>
            <a:srgbClr val="F7F9FB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93392"/>
            <a:ext cx="29992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B8791F"/>
                </a:solidFill>
                <a:latin typeface="Aptos"/>
              </a:rPr>
              <a:t>1 User Story → Multiple Features?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615184"/>
            <a:ext cx="2852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192E49"/>
                </a:solidFill>
                <a:latin typeface="Aptos"/>
              </a:rPr>
              <a:t>Do not start by forcing one broad story across several Spec Kit features.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3310128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22A32"/>
                </a:solidFill>
                <a:latin typeface="Aptos"/>
              </a:rPr>
              <a:t>If Specify / Clarify reveals independently deliverable capabilities: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803904"/>
            <a:ext cx="27432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67A0"/>
                </a:solidFill>
                <a:latin typeface="Aptos"/>
              </a:rPr>
              <a:t>Return to refinement</a:t>
            </a:r>
            <a:br/>
            <a:r>
              <a:t>↓</a:t>
            </a:r>
            <a:br/>
            <a:r>
              <a:t>Consider splitting the ADO story</a:t>
            </a:r>
            <a:br/>
            <a:r>
              <a:t>↓</a:t>
            </a:r>
            <a:br/>
            <a:r>
              <a:t>Create clearer feature boundaries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6126480"/>
            <a:ext cx="10515600" cy="384048"/>
          </a:xfrm>
          <a:prstGeom prst="roundRect">
            <a:avLst/>
          </a:prstGeom>
          <a:solidFill>
            <a:srgbClr val="EFF4F9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6172200"/>
            <a:ext cx="10104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1">
                <a:solidFill>
                  <a:srgbClr val="192E49"/>
                </a:solidFill>
                <a:latin typeface="Aptos"/>
              </a:rPr>
              <a:t>Manager-ready rule: ADO stories remain planning / assignment units; Spec Kit features group behavior only when reasoning about it together adds value.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