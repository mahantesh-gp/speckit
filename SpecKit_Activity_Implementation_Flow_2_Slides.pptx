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4"/>
                </a:solidFill>
                <a:latin typeface="Aptos Display"/>
              </a:rPr>
              <a:t>Implementing a Workflow Activity Using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4B5766"/>
                </a:solidFill>
                <a:latin typeface="Aptos"/>
              </a:rPr>
              <a:t>Actual pilot flow — from activity requirement to implementation-ready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53312"/>
            <a:ext cx="10927080" cy="658368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Goal: Use Spec Kit to take a defined workflow activity requirement through specification, clarification, planning and task creation.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1700784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Activity
Requirement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Define the change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3008376"/>
            <a:ext cx="182880" cy="182880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14016" y="2468880"/>
            <a:ext cx="1700784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/speckit.specify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Generate spec.md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23944" y="3008376"/>
            <a:ext cx="182880" cy="182880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5112" y="2468880"/>
            <a:ext cx="1700784" cy="1280160"/>
          </a:xfrm>
          <a:prstGeom prst="roundRect">
            <a:avLst/>
          </a:prstGeom>
          <a:solidFill>
            <a:srgbClr val="EFF8F3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Review spec.md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User stories, requirements
&amp; success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35040" y="3008376"/>
            <a:ext cx="182880" cy="182880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2468880"/>
            <a:ext cx="1700784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/speckit.clarify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Validate gaps /
answer questions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46136" y="3008376"/>
            <a:ext cx="182880" cy="182880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2468880"/>
            <a:ext cx="1700784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/speckit.plan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Generate technical
implementation plan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57232" y="3008376"/>
            <a:ext cx="182880" cy="182880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2468880"/>
            <a:ext cx="1700784" cy="1280160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20" b="1">
                <a:solidFill>
                  <a:srgbClr val="182B44"/>
                </a:solidFill>
                <a:latin typeface="Aptos"/>
              </a:rPr>
              <a:t>/speckit.tasks</a:t>
            </a:r>
          </a:p>
          <a:p>
            <a:pPr algn="ctr"/>
            <a:r>
              <a:rPr sz="950">
                <a:solidFill>
                  <a:srgbClr val="4B5766"/>
                </a:solidFill>
                <a:latin typeface="Aptos"/>
              </a:rPr>
              <a:t>Generate tasks.md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24528"/>
            <a:ext cx="10058400" cy="1051560"/>
          </a:xfrm>
          <a:prstGeom prst="roundRect">
            <a:avLst/>
          </a:prstGeom>
          <a:solidFill>
            <a:srgbClr val="F9FAFC"/>
          </a:solidFill>
          <a:ln>
            <a:solidFill>
              <a:srgbClr val="C5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82B44"/>
                </a:solidFill>
                <a:latin typeface="Aptos"/>
              </a:rPr>
              <a:t>What we reviewed before implementation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Specification: confirm the generated requirement/user-story content.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Clarification: answer questions where Spec Kit detects missing or ambiguous information.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Plan &amp; tasks: confirm the technical approach and implementation work before coding starts.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989320"/>
            <a:ext cx="10927080" cy="530352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Output of Slide 1: reviewed specification + technical plan + implementation-ready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2B44"/>
                </a:solidFill>
                <a:latin typeface="Aptos Display"/>
              </a:rPr>
              <a:t>Quality Gate → Implementation →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4B5766"/>
                </a:solidFill>
                <a:latin typeface="Aptos"/>
              </a:rPr>
              <a:t>Actual pilot flow — including the gap we identified and corrected before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36192"/>
            <a:ext cx="1737360" cy="135331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/speckit.analyze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Check spec / plan /
task coverage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21991" y="2112264"/>
            <a:ext cx="146304" cy="173736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1536192"/>
            <a:ext cx="1737360" cy="135331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G1 Gap Found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Requirement not fully
covered by tasks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23944" y="2112264"/>
            <a:ext cx="146304" cy="173736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79392" y="1536192"/>
            <a:ext cx="1737360" cy="135331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Fix + Re-run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Update task coverage
and analyze again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112264"/>
            <a:ext cx="146304" cy="173736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344" y="1536192"/>
            <a:ext cx="1737360" cy="135331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/speckit.implement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Implement approved
spec / plan / tasks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27848" y="2112264"/>
            <a:ext cx="146304" cy="173736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536192"/>
            <a:ext cx="1737360" cy="1353312"/>
          </a:xfrm>
          <a:prstGeom prst="roundRect">
            <a:avLst/>
          </a:prstGeom>
          <a:solidFill>
            <a:srgbClr val="F1F6FB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/speckit.converge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Validate implementation
against artifacts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9800" y="2112264"/>
            <a:ext cx="146304" cy="173736"/>
          </a:xfrm>
          <a:prstGeom prst="rightArrow">
            <a:avLst/>
          </a:prstGeom>
          <a:solidFill>
            <a:srgbClr val="2C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1536192"/>
            <a:ext cx="1737360" cy="1353312"/>
          </a:xfrm>
          <a:prstGeom prst="roundRect">
            <a:avLst/>
          </a:prstGeom>
          <a:solidFill>
            <a:srgbClr val="EFF8F3"/>
          </a:solidFill>
          <a:ln>
            <a:solidFill>
              <a:srgbClr val="2C7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182B44"/>
                </a:solidFill>
                <a:latin typeface="Aptos"/>
              </a:rPr>
              <a:t>Build + Local Test</a:t>
            </a:r>
          </a:p>
          <a:p>
            <a:pPr algn="ctr"/>
            <a:r>
              <a:rPr sz="940">
                <a:solidFill>
                  <a:srgbClr val="4B5766"/>
                </a:solidFill>
                <a:latin typeface="Aptos"/>
              </a:rPr>
              <a:t>Successful build +
stub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6812280" cy="1993392"/>
          </a:xfrm>
          <a:prstGeom prst="roundRect">
            <a:avLst/>
          </a:prstGeom>
          <a:solidFill>
            <a:srgbClr val="F8FAFC"/>
          </a:solidFill>
          <a:ln>
            <a:solidFill>
              <a:srgbClr val="2C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82B44"/>
                </a:solidFill>
                <a:latin typeface="Aptos"/>
              </a:rPr>
              <a:t>What happened in our pilot</a:t>
            </a:r>
          </a:p>
          <a:p>
            <a:pPr>
              <a:defRPr sz="1130">
                <a:solidFill>
                  <a:srgbClr val="4B5766"/>
                </a:solidFill>
                <a:latin typeface="Aptos"/>
              </a:defRPr>
            </a:pPr>
            <a:r>
              <a:t>Analyze identified the G1 requirement-to-task coverage gap.</a:t>
            </a:r>
          </a:p>
          <a:p>
            <a:pPr>
              <a:defRPr sz="1130">
                <a:solidFill>
                  <a:srgbClr val="4B5766"/>
                </a:solidFill>
                <a:latin typeface="Aptos"/>
              </a:defRPr>
            </a:pPr>
            <a:r>
              <a:t>We corrected the task coverage and reran Analyze; the gap was remediated.</a:t>
            </a:r>
          </a:p>
          <a:p>
            <a:pPr>
              <a:defRPr sz="1130">
                <a:solidFill>
                  <a:srgbClr val="4B5766"/>
                </a:solidFill>
                <a:latin typeface="Aptos"/>
              </a:defRPr>
            </a:pPr>
            <a:r>
              <a:t>Implement generated the activity-related code and supporting files.</a:t>
            </a:r>
          </a:p>
          <a:p>
            <a:pPr>
              <a:defRPr sz="1130">
                <a:solidFill>
                  <a:srgbClr val="4B5766"/>
                </a:solidFill>
                <a:latin typeface="Aptos"/>
              </a:defRPr>
            </a:pPr>
            <a:r>
              <a:t>Converge reported no remaining identified gaps against spec, plan and tasks.</a:t>
            </a:r>
          </a:p>
          <a:p>
            <a:pPr>
              <a:defRPr sz="1130">
                <a:solidFill>
                  <a:srgbClr val="4B5766"/>
                </a:solidFill>
                <a:latin typeface="Aptos"/>
              </a:defRPr>
            </a:pPr>
            <a:r>
              <a:t>WorkflowActivities built successfully and the flow was validated locally with the no-network stub.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3337560"/>
            <a:ext cx="3794760" cy="1993392"/>
          </a:xfrm>
          <a:prstGeom prst="roundRect">
            <a:avLst/>
          </a:prstGeom>
          <a:solidFill>
            <a:srgbClr val="FFF7E8"/>
          </a:solidFill>
          <a:ln>
            <a:solidFill>
              <a:srgbClr val="B77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82B44"/>
                </a:solidFill>
                <a:latin typeface="Aptos"/>
              </a:rPr>
              <a:t>Demo boundary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Reference / local implementation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No production DocNav connectivity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No credentials or onboarding</a:t>
            </a:r>
          </a:p>
          <a:p>
            <a:pPr>
              <a:defRPr sz="1150">
                <a:solidFill>
                  <a:srgbClr val="4B5766"/>
                </a:solidFill>
                <a:latin typeface="Aptos"/>
              </a:defRPr>
            </a:pPr>
            <a:r>
              <a:t>No consuming-team 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42432"/>
            <a:ext cx="10927080" cy="530352"/>
          </a:xfrm>
          <a:prstGeom prst="roundRect">
            <a:avLst/>
          </a:prstGeom>
          <a:solidFill>
            <a:srgbClr val="18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Result: requirement → reviewed artifacts → quality gate → generated implementation → validated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