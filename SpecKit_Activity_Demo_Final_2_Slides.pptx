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4"/>
                </a:solidFill>
                <a:latin typeface="Aptos Display"/>
              </a:rPr>
              <a:t>Implementing a Workflow Activity Using Spec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B5766"/>
                </a:solidFill>
                <a:latin typeface="Aptos"/>
              </a:rPr>
              <a:t>Demo context first, then the exact flow used in the 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0972800" cy="1097280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WHAT: </a:t>
            </a:r>
            <a:r>
              <a:rPr sz="1150">
                <a:solidFill>
                  <a:srgbClr val="FFFFFF"/>
                </a:solidFill>
                <a:latin typeface="Aptos"/>
              </a:rPr>
              <a:t>Develop an external-service workflow activity using the DocNav integration requirement as the pilot scenario.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WHERE: </a:t>
            </a:r>
            <a:r>
              <a:rPr sz="1150">
                <a:solidFill>
                  <a:srgbClr val="FFFFFF"/>
                </a:solidFill>
                <a:latin typeface="Aptos"/>
              </a:rPr>
              <a:t>Existing Adaptive Workflow solution / WorkflowActivities project.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BOUNDARY: </a:t>
            </a:r>
            <a:r>
              <a:rPr sz="1150">
                <a:solidFill>
                  <a:srgbClr val="FFFFFF"/>
                </a:solidFill>
                <a:latin typeface="Aptos"/>
              </a:rPr>
              <a:t>Locally testable stub for the pilot; production DocNav connectivity is outside this demonstration.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88920"/>
            <a:ext cx="1746504" cy="129844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40" b="1">
                <a:solidFill>
                  <a:srgbClr val="182B44"/>
                </a:solidFill>
                <a:latin typeface="Aptos"/>
              </a:rPr>
              <a:t>Activity
Requirement</a:t>
            </a:r>
          </a:p>
          <a:p>
            <a:pPr algn="ctr"/>
            <a:r>
              <a:rPr sz="919">
                <a:solidFill>
                  <a:srgbClr val="4B5766"/>
                </a:solidFill>
                <a:latin typeface="Aptos"/>
              </a:rPr>
              <a:t>Define feature intent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08276" y="3355848"/>
            <a:ext cx="137160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59152" y="2788920"/>
            <a:ext cx="1746504" cy="129844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40" b="1">
                <a:solidFill>
                  <a:srgbClr val="182B44"/>
                </a:solidFill>
                <a:latin typeface="Aptos"/>
              </a:rPr>
              <a:t>/speckit.specify</a:t>
            </a:r>
          </a:p>
          <a:p>
            <a:pPr algn="ctr"/>
            <a:r>
              <a:rPr sz="919">
                <a:solidFill>
                  <a:srgbClr val="4B5766"/>
                </a:solidFill>
                <a:latin typeface="Aptos"/>
              </a:rPr>
              <a:t>Generate spec.md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0228" y="3355848"/>
            <a:ext cx="137160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61104" y="2788920"/>
            <a:ext cx="1746504" cy="1298448"/>
          </a:xfrm>
          <a:prstGeom prst="roundRect">
            <a:avLst/>
          </a:prstGeom>
          <a:solidFill>
            <a:srgbClr val="EFF8F3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40" b="1">
                <a:solidFill>
                  <a:srgbClr val="182B44"/>
                </a:solidFill>
                <a:latin typeface="Aptos"/>
              </a:rPr>
              <a:t>Review spec.md</a:t>
            </a:r>
          </a:p>
          <a:p>
            <a:pPr algn="ctr"/>
            <a:r>
              <a:rPr sz="919">
                <a:solidFill>
                  <a:srgbClr val="4B5766"/>
                </a:solidFill>
                <a:latin typeface="Aptos"/>
              </a:rPr>
              <a:t>Requirements, scenarios
&amp; success criteria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12180" y="3355848"/>
            <a:ext cx="137160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63056" y="2788920"/>
            <a:ext cx="1746504" cy="129844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40" b="1">
                <a:solidFill>
                  <a:srgbClr val="182B44"/>
                </a:solidFill>
                <a:latin typeface="Aptos"/>
              </a:rPr>
              <a:t>/speckit.clarify</a:t>
            </a:r>
          </a:p>
          <a:p>
            <a:pPr algn="ctr"/>
            <a:r>
              <a:rPr sz="919">
                <a:solidFill>
                  <a:srgbClr val="4B5766"/>
                </a:solidFill>
                <a:latin typeface="Aptos"/>
              </a:rPr>
              <a:t>Resolve missing /
ambiguous details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14132" y="3355848"/>
            <a:ext cx="137160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2788920"/>
            <a:ext cx="1746504" cy="129844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40" b="1">
                <a:solidFill>
                  <a:srgbClr val="182B44"/>
                </a:solidFill>
                <a:latin typeface="Aptos"/>
              </a:rPr>
              <a:t>/speckit.plan</a:t>
            </a:r>
          </a:p>
          <a:p>
            <a:pPr algn="ctr"/>
            <a:r>
              <a:rPr sz="919">
                <a:solidFill>
                  <a:srgbClr val="4B5766"/>
                </a:solidFill>
                <a:latin typeface="Aptos"/>
              </a:rPr>
              <a:t>Technical approach
using project context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16084" y="3355848"/>
            <a:ext cx="137160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66960" y="2788920"/>
            <a:ext cx="1746504" cy="129844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40" b="1">
                <a:solidFill>
                  <a:srgbClr val="182B44"/>
                </a:solidFill>
                <a:latin typeface="Aptos"/>
              </a:rPr>
              <a:t>/speckit.tasks</a:t>
            </a:r>
          </a:p>
          <a:p>
            <a:pPr algn="ctr"/>
            <a:r>
              <a:rPr sz="919">
                <a:solidFill>
                  <a:srgbClr val="4B5766"/>
                </a:solidFill>
                <a:latin typeface="Aptos"/>
              </a:rPr>
              <a:t>Implementation-ready
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80560"/>
            <a:ext cx="10561320" cy="987552"/>
          </a:xfrm>
          <a:prstGeom prst="roundRect">
            <a:avLst/>
          </a:prstGeom>
          <a:solidFill>
            <a:srgbClr val="F9FAFC"/>
          </a:solidFill>
          <a:ln>
            <a:solidFill>
              <a:srgbClr val="C6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2B44"/>
                </a:solidFill>
                <a:latin typeface="Aptos"/>
              </a:rPr>
              <a:t>Before implementation starts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Review the generated specification, answer required clarifications, and confirm the technical plan and tasks.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The developer remains responsible for reviewing and accepting the generated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833872"/>
            <a:ext cx="10835640" cy="502920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Output: reviewed specification + technical plan + implementation-ready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4"/>
                </a:solidFill>
                <a:latin typeface="Aptos Display"/>
              </a:rPr>
              <a:t>Quality Gate → Implementation →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B5766"/>
                </a:solidFill>
                <a:latin typeface="Aptos"/>
              </a:rPr>
              <a:t>Actual pilot sequence and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417320"/>
            <a:ext cx="1764792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20" b="1">
                <a:solidFill>
                  <a:srgbClr val="182B44"/>
                </a:solidFill>
                <a:latin typeface="Aptos"/>
              </a:rPr>
              <a:t>/speckit.analyze</a:t>
            </a:r>
          </a:p>
          <a:p>
            <a:pPr algn="ctr"/>
            <a:r>
              <a:rPr sz="910">
                <a:solidFill>
                  <a:srgbClr val="4B5766"/>
                </a:solidFill>
                <a:latin typeface="Aptos"/>
              </a:rPr>
              <a:t>Check spec / plan /
task coverage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08276" y="1993392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50008" y="1417320"/>
            <a:ext cx="1764792" cy="1325880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20" b="1">
                <a:solidFill>
                  <a:srgbClr val="182B44"/>
                </a:solidFill>
                <a:latin typeface="Aptos"/>
              </a:rPr>
              <a:t>G1 Gap Found</a:t>
            </a:r>
          </a:p>
          <a:p>
            <a:pPr algn="ctr"/>
            <a:r>
              <a:rPr sz="910">
                <a:solidFill>
                  <a:srgbClr val="4B5766"/>
                </a:solidFill>
                <a:latin typeface="Aptos"/>
              </a:rPr>
              <a:t>Requirement not fully
covered by tasks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9372" y="1993392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61104" y="1417320"/>
            <a:ext cx="1764792" cy="1325880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20" b="1">
                <a:solidFill>
                  <a:srgbClr val="182B44"/>
                </a:solidFill>
                <a:latin typeface="Aptos"/>
              </a:rPr>
              <a:t>Fix + Re-run</a:t>
            </a:r>
          </a:p>
          <a:p>
            <a:pPr algn="ctr"/>
            <a:r>
              <a:rPr sz="910">
                <a:solidFill>
                  <a:srgbClr val="4B5766"/>
                </a:solidFill>
                <a:latin typeface="Aptos"/>
              </a:rPr>
              <a:t>Update task coverage;
analyze again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0468" y="1993392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1764792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20" b="1">
                <a:solidFill>
                  <a:srgbClr val="182B44"/>
                </a:solidFill>
                <a:latin typeface="Aptos"/>
              </a:rPr>
              <a:t>/speckit.implement</a:t>
            </a:r>
          </a:p>
          <a:p>
            <a:pPr algn="ctr"/>
            <a:r>
              <a:rPr sz="910">
                <a:solidFill>
                  <a:srgbClr val="4B5766"/>
                </a:solidFill>
                <a:latin typeface="Aptos"/>
              </a:rPr>
              <a:t>Generate implementation
from approved artifacts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41564" y="1993392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83296" y="1417320"/>
            <a:ext cx="1764792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20" b="1">
                <a:solidFill>
                  <a:srgbClr val="182B44"/>
                </a:solidFill>
                <a:latin typeface="Aptos"/>
              </a:rPr>
              <a:t>/speckit.converge</a:t>
            </a:r>
          </a:p>
          <a:p>
            <a:pPr algn="ctr"/>
            <a:r>
              <a:rPr sz="910">
                <a:solidFill>
                  <a:srgbClr val="4B5766"/>
                </a:solidFill>
                <a:latin typeface="Aptos"/>
              </a:rPr>
              <a:t>Check implementation
against artifacts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52660" y="1993392"/>
            <a:ext cx="128016" cy="164592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94392" y="1417320"/>
            <a:ext cx="1764792" cy="1325880"/>
          </a:xfrm>
          <a:prstGeom prst="roundRect">
            <a:avLst/>
          </a:prstGeom>
          <a:solidFill>
            <a:srgbClr val="EFF8F3"/>
          </a:solidFill>
          <a:ln>
            <a:solidFill>
              <a:srgbClr val="2C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20" b="1">
                <a:solidFill>
                  <a:srgbClr val="182B44"/>
                </a:solidFill>
                <a:latin typeface="Aptos"/>
              </a:rPr>
              <a:t>Build + Local Test</a:t>
            </a:r>
          </a:p>
          <a:p>
            <a:pPr algn="ctr"/>
            <a:r>
              <a:rPr sz="910">
                <a:solidFill>
                  <a:srgbClr val="4B5766"/>
                </a:solidFill>
                <a:latin typeface="Aptos"/>
              </a:rPr>
              <a:t>Successful build +
stub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127248"/>
            <a:ext cx="6903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82B44"/>
                </a:solidFill>
                <a:latin typeface="Aptos"/>
              </a:rPr>
              <a:t>Pilot evidence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Analyze identified the G1 requirement-to-task coverage gap before implementation.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Task coverage was corrected and Analyze was rerun; the gap was remediated.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Implement generated the activity-related code and supporting files.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Converge reported no remaining identified gaps against spec, plan and tasks.</a:t>
            </a:r>
          </a:p>
          <a:p>
            <a:pPr>
              <a:defRPr sz="1080">
                <a:solidFill>
                  <a:srgbClr val="4B5766"/>
                </a:solidFill>
                <a:latin typeface="Aptos"/>
              </a:defRPr>
            </a:pPr>
            <a:r>
              <a:t>WorkflowActivities built successfully and the flow was validated locally with the no-network stub.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127248"/>
            <a:ext cx="3767328" cy="2148840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82B44"/>
                </a:solidFill>
                <a:latin typeface="Aptos"/>
              </a:rPr>
              <a:t>What this demonstrates</a:t>
            </a:r>
          </a:p>
          <a:p>
            <a:pPr>
              <a:defRPr sz="1100">
                <a:solidFill>
                  <a:srgbClr val="4B5766"/>
                </a:solidFill>
                <a:latin typeface="Aptos"/>
              </a:defRPr>
            </a:pPr>
            <a:r>
              <a:t>Structured path from requirement to implementation</a:t>
            </a:r>
          </a:p>
          <a:p>
            <a:pPr>
              <a:defRPr sz="1100">
                <a:solidFill>
                  <a:srgbClr val="4B5766"/>
                </a:solidFill>
                <a:latin typeface="Aptos"/>
              </a:defRPr>
            </a:pPr>
            <a:r>
              <a:t>Reviewable artifacts before coding</a:t>
            </a:r>
          </a:p>
          <a:p>
            <a:pPr>
              <a:defRPr sz="1100">
                <a:solidFill>
                  <a:srgbClr val="4B5766"/>
                </a:solidFill>
                <a:latin typeface="Aptos"/>
              </a:defRPr>
            </a:pPr>
            <a:r>
              <a:t>Pre- and post-implementation quality gates</a:t>
            </a:r>
          </a:p>
          <a:p>
            <a:pPr>
              <a:defRPr sz="1100">
                <a:solidFill>
                  <a:srgbClr val="4B5766"/>
                </a:solidFill>
                <a:latin typeface="Aptos"/>
              </a:defRPr>
            </a:pPr>
            <a:r>
              <a:t>Local validation without production dependency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50992"/>
            <a:ext cx="10835640" cy="566928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Requirement → reviewed artifacts → quality gate → implementation →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