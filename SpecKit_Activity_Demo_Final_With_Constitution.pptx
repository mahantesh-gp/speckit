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B44"/>
                </a:solidFill>
                <a:latin typeface="Aptos Display"/>
              </a:rPr>
              <a:t>Implementing a Workflow Activity Using Spec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B5766"/>
                </a:solidFill>
                <a:latin typeface="Aptos"/>
              </a:rPr>
              <a:t>Project foundation → demo context → actual Spec Kit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051560"/>
            <a:ext cx="10927080" cy="621792"/>
          </a:xfrm>
          <a:prstGeom prst="roundRect">
            <a:avLst/>
          </a:prstGeom>
          <a:solidFill>
            <a:srgbClr val="F6F3FC"/>
          </a:solidFill>
          <a:ln>
            <a:solidFill>
              <a:srgbClr val="5B4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B4891"/>
                </a:solidFill>
                <a:latin typeface="Aptos"/>
              </a:rPr>
              <a:t>PROJECT FOUNDATION — Constitution</a:t>
            </a:r>
            <a:r>
              <a:rPr sz="1150">
                <a:solidFill>
                  <a:srgbClr val="4B5766"/>
                </a:solidFill>
                <a:latin typeface="Aptos"/>
              </a:rPr>
              <a:t>  |  Project-level engineering principles and guardrails used by Spec 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10512"/>
            <a:ext cx="10927080" cy="932688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Aptos"/>
              </a:rPr>
              <a:t>WHAT: </a:t>
            </a:r>
            <a:r>
              <a:rPr sz="1050">
                <a:solidFill>
                  <a:srgbClr val="FFFFFF"/>
                </a:solidFill>
                <a:latin typeface="Aptos"/>
              </a:rPr>
              <a:t>Develop an external-service workflow activity using the DocNav integration requirement as the pilot scenario.</a:t>
            </a:r>
          </a:p>
          <a:p>
            <a:pPr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Aptos"/>
              </a:rPr>
              <a:t>WHERE: </a:t>
            </a:r>
            <a:r>
              <a:rPr sz="1050">
                <a:solidFill>
                  <a:srgbClr val="FFFFFF"/>
                </a:solidFill>
                <a:latin typeface="Aptos"/>
              </a:rPr>
              <a:t>Existing Adaptive Workflow solution / WorkflowActivities project.</a:t>
            </a:r>
          </a:p>
          <a:p>
            <a:pPr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Aptos"/>
              </a:rPr>
              <a:t>BOUNDARY: </a:t>
            </a:r>
            <a:r>
              <a:rPr sz="1050">
                <a:solidFill>
                  <a:srgbClr val="FFFFFF"/>
                </a:solidFill>
                <a:latin typeface="Aptos"/>
              </a:rPr>
              <a:t>Locally testable stub; production DocNav connectivity is outside this demonstration.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3035808"/>
            <a:ext cx="1773936" cy="1216152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Activity
Requirement</a:t>
            </a:r>
          </a:p>
          <a:p>
            <a:pPr algn="ctr"/>
            <a:r>
              <a:rPr sz="880">
                <a:solidFill>
                  <a:srgbClr val="4B5766"/>
                </a:solidFill>
                <a:latin typeface="Aptos"/>
              </a:rPr>
              <a:t>Feature intent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17420" y="3566160"/>
            <a:ext cx="128016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50008" y="3035808"/>
            <a:ext cx="1773936" cy="1216152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/speckit.specify</a:t>
            </a:r>
          </a:p>
          <a:p>
            <a:pPr algn="ctr"/>
            <a:r>
              <a:rPr sz="880">
                <a:solidFill>
                  <a:srgbClr val="4B5766"/>
                </a:solidFill>
                <a:latin typeface="Aptos"/>
              </a:rPr>
              <a:t>Generate spec.md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28515" y="3566160"/>
            <a:ext cx="128016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3035808"/>
            <a:ext cx="1773936" cy="1216152"/>
          </a:xfrm>
          <a:prstGeom prst="roundRect">
            <a:avLst/>
          </a:prstGeom>
          <a:solidFill>
            <a:srgbClr val="EFF8F3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Review spec.md</a:t>
            </a:r>
          </a:p>
          <a:p>
            <a:pPr algn="ctr"/>
            <a:r>
              <a:rPr sz="880">
                <a:solidFill>
                  <a:srgbClr val="4B5766"/>
                </a:solidFill>
                <a:latin typeface="Aptos"/>
              </a:rPr>
              <a:t>Requirements &amp;
scenarios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39612" y="3566160"/>
            <a:ext cx="128016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3035808"/>
            <a:ext cx="1773936" cy="1216152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/speckit.clarify</a:t>
            </a:r>
          </a:p>
          <a:p>
            <a:pPr algn="ctr"/>
            <a:r>
              <a:rPr sz="880">
                <a:solidFill>
                  <a:srgbClr val="4B5766"/>
                </a:solidFill>
                <a:latin typeface="Aptos"/>
              </a:rPr>
              <a:t>Resolve gaps /
ambiguity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50708" y="3566160"/>
            <a:ext cx="128016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3035808"/>
            <a:ext cx="1773936" cy="1216152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/speckit.plan</a:t>
            </a:r>
          </a:p>
          <a:p>
            <a:pPr algn="ctr"/>
            <a:r>
              <a:rPr sz="880">
                <a:solidFill>
                  <a:srgbClr val="4B5766"/>
                </a:solidFill>
                <a:latin typeface="Aptos"/>
              </a:rPr>
              <a:t>Technical plan aligned
with constitution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61804" y="3566160"/>
            <a:ext cx="128016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94392" y="3035808"/>
            <a:ext cx="1773936" cy="1216152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/speckit.tasks</a:t>
            </a:r>
          </a:p>
          <a:p>
            <a:pPr algn="ctr"/>
            <a:r>
              <a:rPr sz="880">
                <a:solidFill>
                  <a:srgbClr val="4B5766"/>
                </a:solidFill>
                <a:latin typeface="Aptos"/>
              </a:rPr>
              <a:t>Implementation-ready
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599432"/>
            <a:ext cx="10771632" cy="960120"/>
          </a:xfrm>
          <a:prstGeom prst="roundRect">
            <a:avLst/>
          </a:prstGeom>
          <a:solidFill>
            <a:srgbClr val="F9FAFC"/>
          </a:solidFill>
          <a:ln>
            <a:solidFill>
              <a:srgbClr val="C6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82B44"/>
                </a:solidFill>
                <a:latin typeface="Aptos"/>
              </a:rPr>
              <a:t>Before implementation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Review the generated specification, resolve required clarifications, and confirm the technical plan and tasks. The constitution provides the project-level guardrails used during planning.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833872"/>
            <a:ext cx="10771632" cy="457200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Output: reviewed specification + constitution-aligned technical plan + implementation-ready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B44"/>
                </a:solidFill>
                <a:latin typeface="Aptos Display"/>
              </a:rPr>
              <a:t>Quality Gate → Implementation →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B5766"/>
                </a:solidFill>
                <a:latin typeface="Aptos"/>
              </a:rPr>
              <a:t>Actual pilot sequence and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07592"/>
            <a:ext cx="1764792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/speckit.analyze</a:t>
            </a:r>
          </a:p>
          <a:p>
            <a:pPr algn="ctr"/>
            <a:r>
              <a:rPr sz="890">
                <a:solidFill>
                  <a:srgbClr val="4B5766"/>
                </a:solidFill>
                <a:latin typeface="Aptos"/>
              </a:rPr>
              <a:t>Check spec / plan /
task coverage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08276" y="1883664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50008" y="1307592"/>
            <a:ext cx="1764792" cy="1325880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G1 Gap Found</a:t>
            </a:r>
          </a:p>
          <a:p>
            <a:pPr algn="ctr"/>
            <a:r>
              <a:rPr sz="890">
                <a:solidFill>
                  <a:srgbClr val="4B5766"/>
                </a:solidFill>
                <a:latin typeface="Aptos"/>
              </a:rPr>
              <a:t>Requirement not fully
covered by tasks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9372" y="1883664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61104" y="1307592"/>
            <a:ext cx="1764792" cy="1325880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Fix + Re-run</a:t>
            </a:r>
          </a:p>
          <a:p>
            <a:pPr algn="ctr"/>
            <a:r>
              <a:rPr sz="890">
                <a:solidFill>
                  <a:srgbClr val="4B5766"/>
                </a:solidFill>
                <a:latin typeface="Aptos"/>
              </a:rPr>
              <a:t>Update task coverage;
analyze again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0468" y="1883664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307592"/>
            <a:ext cx="1764792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/speckit.implement</a:t>
            </a:r>
          </a:p>
          <a:p>
            <a:pPr algn="ctr"/>
            <a:r>
              <a:rPr sz="890">
                <a:solidFill>
                  <a:srgbClr val="4B5766"/>
                </a:solidFill>
                <a:latin typeface="Aptos"/>
              </a:rPr>
              <a:t>Generate implementation
from reviewed artifacts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41564" y="1883664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83296" y="1307592"/>
            <a:ext cx="1764792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/speckit.converge</a:t>
            </a:r>
          </a:p>
          <a:p>
            <a:pPr algn="ctr"/>
            <a:r>
              <a:rPr sz="890">
                <a:solidFill>
                  <a:srgbClr val="4B5766"/>
                </a:solidFill>
                <a:latin typeface="Aptos"/>
              </a:rPr>
              <a:t>Check implementation
against artifacts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52660" y="1883664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94392" y="1307592"/>
            <a:ext cx="1764792" cy="1325880"/>
          </a:xfrm>
          <a:prstGeom prst="roundRect">
            <a:avLst/>
          </a:prstGeom>
          <a:solidFill>
            <a:srgbClr val="EFF8F3"/>
          </a:solidFill>
          <a:ln>
            <a:solidFill>
              <a:srgbClr val="2C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80" b="1">
                <a:solidFill>
                  <a:srgbClr val="182B44"/>
                </a:solidFill>
                <a:latin typeface="Aptos"/>
              </a:rPr>
              <a:t>Build + Local Test</a:t>
            </a:r>
          </a:p>
          <a:p>
            <a:pPr algn="ctr"/>
            <a:r>
              <a:rPr sz="890">
                <a:solidFill>
                  <a:srgbClr val="4B5766"/>
                </a:solidFill>
                <a:latin typeface="Aptos"/>
              </a:rPr>
              <a:t>Successful build +
stub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971800"/>
            <a:ext cx="690372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B44"/>
                </a:solidFill>
                <a:latin typeface="Aptos"/>
              </a:rPr>
              <a:t>Pilot evidence</a:t>
            </a:r>
          </a:p>
          <a:p>
            <a:pPr>
              <a:defRPr sz="1040">
                <a:solidFill>
                  <a:srgbClr val="4B5766"/>
                </a:solidFill>
                <a:latin typeface="Aptos"/>
              </a:defRPr>
            </a:pPr>
            <a:r>
              <a:t>Analyze identified the G1 requirement-to-task coverage gap before implementation.</a:t>
            </a:r>
          </a:p>
          <a:p>
            <a:pPr>
              <a:defRPr sz="1040">
                <a:solidFill>
                  <a:srgbClr val="4B5766"/>
                </a:solidFill>
                <a:latin typeface="Aptos"/>
              </a:defRPr>
            </a:pPr>
            <a:r>
              <a:t>Task coverage was corrected and Analyze rerun; the gap was remediated.</a:t>
            </a:r>
          </a:p>
          <a:p>
            <a:pPr>
              <a:defRPr sz="1040">
                <a:solidFill>
                  <a:srgbClr val="4B5766"/>
                </a:solidFill>
                <a:latin typeface="Aptos"/>
              </a:defRPr>
            </a:pPr>
            <a:r>
              <a:t>Implement generated the activity-related code and supporting files.</a:t>
            </a:r>
          </a:p>
          <a:p>
            <a:pPr>
              <a:defRPr sz="1040">
                <a:solidFill>
                  <a:srgbClr val="4B5766"/>
                </a:solidFill>
                <a:latin typeface="Aptos"/>
              </a:defRPr>
            </a:pPr>
            <a:r>
              <a:t>Converge reported no remaining identified gaps against spec, plan and tasks.</a:t>
            </a:r>
          </a:p>
          <a:p>
            <a:pPr>
              <a:defRPr sz="1040">
                <a:solidFill>
                  <a:srgbClr val="4B5766"/>
                </a:solidFill>
                <a:latin typeface="Aptos"/>
              </a:defRPr>
            </a:pPr>
            <a:r>
              <a:t>WorkflowActivities built successfully; flow validated locally with the no-network stub.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2971800"/>
            <a:ext cx="3767328" cy="2240280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B44"/>
                </a:solidFill>
                <a:latin typeface="Aptos"/>
              </a:rPr>
              <a:t>What this demonstrates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Structured path from requirement to implementation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Reviewable artifacts before coding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Pre- and post-implementation quality gates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Local validation without production dependency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596128"/>
            <a:ext cx="10835640" cy="548640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70" b="1">
                <a:solidFill>
                  <a:srgbClr val="FFFFFF"/>
                </a:solidFill>
                <a:latin typeface="Aptos"/>
              </a:rPr>
              <a:t>Requirement → reviewed artifacts → quality gate → implementation →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