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24712"/>
          </a:xfrm>
          <a:prstGeom prst="rect">
            <a:avLst/>
          </a:prstGeom>
          <a:solidFill>
            <a:srgbClr val="0C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1124712"/>
          </a:xfrm>
          <a:prstGeom prst="rect">
            <a:avLst/>
          </a:prstGeom>
          <a:solidFill>
            <a:srgbClr val="689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20624" y="210312"/>
            <a:ext cx="11155680" cy="438912"/>
          </a:xfrm>
          <a:prstGeom prst="rect">
            <a:avLst/>
          </a:prstGeom>
          <a:noFill/>
        </p:spPr>
        <p:txBody>
          <a:bodyPr wrap="square" lIns="73152" tIns="36576" rIns="45720">
            <a:spAutoFit/>
          </a:bodyPr>
          <a:lstStyle/>
          <a:p>
            <a:pPr>
              <a:spcAft>
                <a:spcPts val="200"/>
              </a:spcAft>
              <a:defRPr sz="2700" b="1">
                <a:solidFill>
                  <a:srgbClr val="FFFFFF"/>
                </a:solidFill>
                <a:latin typeface="Aptos"/>
              </a:defRPr>
            </a:pPr>
            <a:r>
              <a:t>SDD Adoption Support – What EA Will Provide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713232"/>
            <a:ext cx="10972800" cy="246888"/>
          </a:xfrm>
          <a:prstGeom prst="rect">
            <a:avLst/>
          </a:prstGeom>
          <a:noFill/>
        </p:spPr>
        <p:txBody>
          <a:bodyPr wrap="square" lIns="73152" tIns="36576" rIns="45720">
            <a:spAutoFit/>
          </a:bodyPr>
          <a:lstStyle/>
          <a:p>
            <a:pPr>
              <a:spcAft>
                <a:spcPts val="200"/>
              </a:spcAft>
              <a:defRPr sz="1200" b="0">
                <a:solidFill>
                  <a:srgbClr val="D2DFEE"/>
                </a:solidFill>
                <a:latin typeface="Aptos"/>
              </a:defRPr>
            </a:pPr>
            <a:r>
              <a:t>Practical guidance, recorded examples and EA-led walkthroughs for participating teams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344168"/>
            <a:ext cx="10972800" cy="457200"/>
          </a:xfrm>
          <a:prstGeom prst="rect">
            <a:avLst/>
          </a:prstGeom>
          <a:noFill/>
        </p:spPr>
        <p:txBody>
          <a:bodyPr wrap="square" lIns="73152" tIns="36576" rIns="45720">
            <a:spAutoFit/>
          </a:bodyPr>
          <a:lstStyle/>
          <a:p>
            <a:pPr>
              <a:spcAft>
                <a:spcPts val="200"/>
              </a:spcAft>
              <a:defRPr sz="1700" b="1">
                <a:solidFill>
                  <a:srgbClr val="0C264B"/>
                </a:solidFill>
                <a:latin typeface="Aptos"/>
              </a:defRPr>
            </a:pPr>
            <a:r>
              <a:t>Teams will not need to figure this out on their own — EA will share experience and guide the initial adoption.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" y="1975104"/>
            <a:ext cx="3291840" cy="466344"/>
          </a:xfrm>
          <a:prstGeom prst="rect">
            <a:avLst/>
          </a:prstGeom>
          <a:solidFill>
            <a:srgbClr val="0C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2057400"/>
            <a:ext cx="3127248" cy="283464"/>
          </a:xfrm>
          <a:prstGeom prst="rect">
            <a:avLst/>
          </a:prstGeom>
          <a:noFill/>
        </p:spPr>
        <p:txBody>
          <a:bodyPr wrap="square" lIns="73152" tIns="36576" rIns="4572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AVAILABLE RESOURCE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67328" y="1975104"/>
            <a:ext cx="3675887" cy="466344"/>
          </a:xfrm>
          <a:prstGeom prst="rect">
            <a:avLst/>
          </a:prstGeom>
          <a:solidFill>
            <a:srgbClr val="0C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9624" y="2057400"/>
            <a:ext cx="3511295" cy="283464"/>
          </a:xfrm>
          <a:prstGeom prst="rect">
            <a:avLst/>
          </a:prstGeom>
          <a:noFill/>
        </p:spPr>
        <p:txBody>
          <a:bodyPr wrap="square" lIns="73152" tIns="36576" rIns="4572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WHAT IT PROVIDES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43216" y="1975104"/>
            <a:ext cx="4279392" cy="466344"/>
          </a:xfrm>
          <a:prstGeom prst="rect">
            <a:avLst/>
          </a:prstGeom>
          <a:solidFill>
            <a:srgbClr val="0C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25512" y="2057400"/>
            <a:ext cx="4114800" cy="283464"/>
          </a:xfrm>
          <a:prstGeom prst="rect">
            <a:avLst/>
          </a:prstGeom>
          <a:noFill/>
        </p:spPr>
        <p:txBody>
          <a:bodyPr wrap="square" lIns="73152" tIns="36576" rIns="4572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HOW EA WILL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" y="2441448"/>
            <a:ext cx="3291840" cy="10241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67328" y="2441448"/>
            <a:ext cx="3675887" cy="10241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43216" y="2441448"/>
            <a:ext cx="4279392" cy="10241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" y="2441448"/>
            <a:ext cx="10972" cy="1024128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7328" y="2441448"/>
            <a:ext cx="10972" cy="1024128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43216" y="2441448"/>
            <a:ext cx="10972" cy="1024128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722608" y="2441448"/>
            <a:ext cx="10972" cy="1024128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" y="2569464"/>
            <a:ext cx="3090672" cy="768096"/>
          </a:xfrm>
          <a:prstGeom prst="rect">
            <a:avLst/>
          </a:prstGeom>
          <a:noFill/>
        </p:spPr>
        <p:txBody>
          <a:bodyPr wrap="square" lIns="73152" tIns="36576" rIns="4572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C264B"/>
                </a:solidFill>
                <a:latin typeface="Aptos"/>
              </a:defRPr>
            </a:pPr>
            <a:r>
              <a:t>SDD / Spec Kit</a:t>
            </a:r>
          </a:p>
          <a:p>
            <a:pPr>
              <a:spcAft>
                <a:spcPts val="200"/>
              </a:spcAft>
              <a:defRPr sz="1500" b="1">
                <a:solidFill>
                  <a:srgbClr val="0C264B"/>
                </a:solidFill>
                <a:latin typeface="Aptos"/>
              </a:defRPr>
            </a:pPr>
            <a:r>
              <a:t>Usage Guidelines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77056" y="2569464"/>
            <a:ext cx="3456431" cy="786384"/>
          </a:xfrm>
          <a:prstGeom prst="rect">
            <a:avLst/>
          </a:prstGeom>
          <a:noFill/>
        </p:spPr>
        <p:txBody>
          <a:bodyPr wrap="square" lIns="73152" tIns="36576" rIns="45720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203041"/>
                </a:solidFill>
                <a:latin typeface="Aptos"/>
              </a:defRPr>
            </a:pPr>
            <a:r>
              <a:t>Step-by-step reference for setup, commands and applying SDD to project work.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569464"/>
            <a:ext cx="4069079" cy="786384"/>
          </a:xfrm>
          <a:prstGeom prst="rect">
            <a:avLst/>
          </a:prstGeom>
          <a:noFill/>
        </p:spPr>
        <p:txBody>
          <a:bodyPr wrap="square" lIns="73152" tIns="36576" rIns="45720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203041"/>
                </a:solidFill>
                <a:latin typeface="Aptos"/>
              </a:defRPr>
            </a:pPr>
            <a:r>
              <a:t>Share the guidelines and explain how to use them during team enablement.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" y="3465576"/>
            <a:ext cx="32918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767328" y="3465576"/>
            <a:ext cx="3675887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43216" y="3465576"/>
            <a:ext cx="4279392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5488" y="3465576"/>
            <a:ext cx="10972" cy="1024128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767328" y="3465576"/>
            <a:ext cx="10972" cy="1024128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443216" y="3465576"/>
            <a:ext cx="10972" cy="1024128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722608" y="3465576"/>
            <a:ext cx="10972" cy="1024128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5216" y="3593592"/>
            <a:ext cx="3090672" cy="768096"/>
          </a:xfrm>
          <a:prstGeom prst="rect">
            <a:avLst/>
          </a:prstGeom>
          <a:noFill/>
        </p:spPr>
        <p:txBody>
          <a:bodyPr wrap="square" lIns="73152" tIns="36576" rIns="4572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C264B"/>
                </a:solidFill>
                <a:latin typeface="Aptos"/>
              </a:defRPr>
            </a:pPr>
            <a:r>
              <a:t>SDD Walkthrough &amp; Demo</a:t>
            </a:r>
          </a:p>
          <a:p>
            <a:pPr>
              <a:spcAft>
                <a:spcPts val="200"/>
              </a:spcAft>
              <a:defRPr sz="1500" b="1">
                <a:solidFill>
                  <a:srgbClr val="0C264B"/>
                </a:solidFill>
                <a:latin typeface="Aptos"/>
              </a:defRPr>
            </a:pPr>
            <a:r>
              <a:t>Todo Application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77056" y="3593592"/>
            <a:ext cx="3456431" cy="786384"/>
          </a:xfrm>
          <a:prstGeom prst="rect">
            <a:avLst/>
          </a:prstGeom>
          <a:noFill/>
        </p:spPr>
        <p:txBody>
          <a:bodyPr wrap="square" lIns="73152" tIns="36576" rIns="45720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203041"/>
                </a:solidFill>
                <a:latin typeface="Aptos"/>
              </a:defRPr>
            </a:pPr>
            <a:r>
              <a:t>Recorded introductory session demonstrating the SDD approach and how to get started.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52944" y="3593592"/>
            <a:ext cx="4069079" cy="786384"/>
          </a:xfrm>
          <a:prstGeom prst="rect">
            <a:avLst/>
          </a:prstGeom>
          <a:noFill/>
        </p:spPr>
        <p:txBody>
          <a:bodyPr wrap="square" lIns="73152" tIns="36576" rIns="45720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203041"/>
                </a:solidFill>
                <a:latin typeface="Aptos"/>
              </a:defRPr>
            </a:pPr>
            <a:r>
              <a:t>Walk through our pilot experience and answer team questions.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5488" y="4489704"/>
            <a:ext cx="3291840" cy="10241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67328" y="4489704"/>
            <a:ext cx="3675887" cy="10241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443216" y="4489704"/>
            <a:ext cx="4279392" cy="1024128"/>
          </a:xfrm>
          <a:prstGeom prst="rect">
            <a:avLst/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5488" y="4489704"/>
            <a:ext cx="10972" cy="1024128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67328" y="4489704"/>
            <a:ext cx="10972" cy="1024128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43216" y="4489704"/>
            <a:ext cx="10972" cy="1024128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722608" y="4489704"/>
            <a:ext cx="10972" cy="1024128"/>
          </a:xfrm>
          <a:prstGeom prst="rect">
            <a:avLst/>
          </a:prstGeom>
          <a:solidFill>
            <a:srgbClr val="DCE5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85216" y="4617720"/>
            <a:ext cx="3090672" cy="768096"/>
          </a:xfrm>
          <a:prstGeom prst="rect">
            <a:avLst/>
          </a:prstGeom>
          <a:noFill/>
        </p:spPr>
        <p:txBody>
          <a:bodyPr wrap="square" lIns="73152" tIns="36576" rIns="4572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0C264B"/>
                </a:solidFill>
                <a:latin typeface="Aptos"/>
              </a:defRPr>
            </a:pPr>
            <a:r>
              <a:t>Real-Project Walkthrough</a:t>
            </a:r>
          </a:p>
          <a:p>
            <a:pPr>
              <a:spcAft>
                <a:spcPts val="200"/>
              </a:spcAft>
              <a:defRPr sz="1500" b="1">
                <a:solidFill>
                  <a:srgbClr val="0C264B"/>
                </a:solidFill>
                <a:latin typeface="Aptos"/>
              </a:defRPr>
            </a:pPr>
            <a:r>
              <a:t>Title Automation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77056" y="4617720"/>
            <a:ext cx="3456431" cy="786384"/>
          </a:xfrm>
          <a:prstGeom prst="rect">
            <a:avLst/>
          </a:prstGeom>
          <a:noFill/>
        </p:spPr>
        <p:txBody>
          <a:bodyPr wrap="square" lIns="73152" tIns="36576" rIns="45720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203041"/>
                </a:solidFill>
                <a:latin typeface="Aptos"/>
              </a:defRPr>
            </a:pPr>
            <a:r>
              <a:t>Recorded demonstration of applying Spec Kit in an existing project.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52944" y="4617720"/>
            <a:ext cx="4069079" cy="786384"/>
          </a:xfrm>
          <a:prstGeom prst="rect">
            <a:avLst/>
          </a:prstGeom>
          <a:noFill/>
        </p:spPr>
        <p:txBody>
          <a:bodyPr wrap="square" lIns="73152" tIns="36576" rIns="45720">
            <a:spAutoFit/>
          </a:bodyPr>
          <a:lstStyle/>
          <a:p>
            <a:pPr>
              <a:spcAft>
                <a:spcPts val="200"/>
              </a:spcAft>
              <a:defRPr sz="1300" b="0">
                <a:solidFill>
                  <a:srgbClr val="203041"/>
                </a:solidFill>
                <a:latin typeface="Aptos"/>
              </a:defRPr>
            </a:pPr>
            <a:r>
              <a:t>Explain practical brownfield learnings and support a suitable pilot discussion.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5488" y="5696712"/>
            <a:ext cx="11247120" cy="649224"/>
          </a:xfrm>
          <a:prstGeom prst="rect">
            <a:avLst/>
          </a:prstGeom>
          <a:solidFill>
            <a:srgbClr val="EAF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5488" y="5696712"/>
            <a:ext cx="73152" cy="649224"/>
          </a:xfrm>
          <a:prstGeom prst="rect">
            <a:avLst/>
          </a:prstGeom>
          <a:solidFill>
            <a:srgbClr val="689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" y="5833872"/>
            <a:ext cx="10881360" cy="347472"/>
          </a:xfrm>
          <a:prstGeom prst="rect">
            <a:avLst/>
          </a:prstGeom>
          <a:noFill/>
        </p:spPr>
        <p:txBody>
          <a:bodyPr wrap="square" lIns="73152" tIns="36576" rIns="45720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0C264B"/>
                </a:solidFill>
                <a:latin typeface="Aptos"/>
              </a:defRPr>
            </a:pPr>
            <a:r>
              <a:t>Next step: Managers share feedback and nominate relevant team members for an EA-led follow-up session and pilot discussion.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" y="6492240"/>
            <a:ext cx="10972800" cy="182880"/>
          </a:xfrm>
          <a:prstGeom prst="rect">
            <a:avLst/>
          </a:prstGeom>
          <a:noFill/>
        </p:spPr>
        <p:txBody>
          <a:bodyPr wrap="square" lIns="73152" tIns="36576" rIns="45720">
            <a:spAutoFit/>
          </a:bodyPr>
          <a:lstStyle/>
          <a:p>
            <a:pPr>
              <a:spcAft>
                <a:spcPts val="200"/>
              </a:spcAft>
              <a:defRPr sz="900" b="0">
                <a:solidFill>
                  <a:srgbClr val="576575"/>
                </a:solidFill>
                <a:latin typeface="Aptos"/>
              </a:defRPr>
            </a:pPr>
            <a:r>
              <a:t>Existing resource links: retain from the original slide when integrating this into the main deck.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