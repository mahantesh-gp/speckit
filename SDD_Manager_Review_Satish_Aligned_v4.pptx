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Spec-Driven Development: From Experiments to Team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What SDD means, how we evaluated it, and how it fits into everyday project delivery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65960"/>
            <a:ext cx="5303520" cy="2011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65960"/>
            <a:ext cx="64008" cy="2011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is SDD?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24328"/>
            <a:ext cx="4873752" cy="12984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Clarify the expected behavior, plan the change, implement it and review the result against the agreed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65960"/>
            <a:ext cx="5303520" cy="2011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965960"/>
            <a:ext cx="64008" cy="2011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Why this session?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624328"/>
            <a:ext cx="4873752" cy="12984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Give managers a practical understanding of SDD and how to help their teams begin using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SDD supports the way teams deliver software; it does not replace Scrum, ADO or engineering judgment.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Our SDD Journey: Parallel Explorations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BMAD and Spec Kit were evaluated in parallel, building practical experience with SDD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20240"/>
            <a:ext cx="2743200" cy="19202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20240"/>
            <a:ext cx="64008" cy="19202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48256"/>
            <a:ext cx="233172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Starting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78608"/>
            <a:ext cx="2313432" cy="12070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AI-assisted coding and developer productivity.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920240"/>
            <a:ext cx="3886200" cy="19202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20440" y="1920240"/>
            <a:ext cx="64008" cy="19202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21608" y="2048256"/>
            <a:ext cx="347472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BMAD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578608"/>
            <a:ext cx="3456432" cy="12070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 b="0">
                <a:solidFill>
                  <a:srgbClr val="233348"/>
                </a:solidFill>
                <a:latin typeface="Aptos"/>
              </a:defRPr>
            </a:pPr>
            <a:r>
              <a:rPr dirty="0"/>
              <a:t>Claims / CPS Docs: BMAD applied to existing-code work; </a:t>
            </a:r>
            <a:endParaRPr lang="en-IN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 b="0">
                <a:solidFill>
                  <a:srgbClr val="233348"/>
                </a:solidFill>
                <a:latin typeface="Aptos"/>
              </a:defRPr>
            </a:pPr>
            <a:r>
              <a:rPr dirty="0"/>
              <a:t>BMAD is also being used in Title Automation.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20240"/>
            <a:ext cx="3794760" cy="19202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89520" y="1920240"/>
            <a:ext cx="64008" cy="19202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0688" y="2048256"/>
            <a:ext cx="338328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Spec Kit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578608"/>
            <a:ext cx="3364992" cy="1207008"/>
          </a:xfrm>
          <a:prstGeom prst="rect">
            <a:avLst/>
          </a:prstGeom>
          <a:noFill/>
        </p:spPr>
        <p:txBody>
          <a:bodyPr wrap="square" lIns="18288" tIns="18288" rIns="88900">
            <a:normAutofit lnSpcReduction="10000"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 b="0">
                <a:solidFill>
                  <a:srgbClr val="233348"/>
                </a:solidFill>
                <a:latin typeface="Aptos"/>
              </a:defRPr>
            </a:pPr>
            <a:r>
              <a:rPr dirty="0"/>
              <a:t>Todo: complete Spec Kit cycle on a new application. </a:t>
            </a:r>
            <a:endParaRPr lang="en-IN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500" b="0">
                <a:solidFill>
                  <a:srgbClr val="233348"/>
                </a:solidFill>
                <a:latin typeface="Aptos"/>
              </a:defRPr>
            </a:pPr>
            <a:r>
              <a:rPr dirty="0"/>
              <a:t>Title Automation: a </a:t>
            </a:r>
            <a:r>
              <a:rPr lang="en-IN" dirty="0"/>
              <a:t>new </a:t>
            </a:r>
            <a:r>
              <a:rPr dirty="0"/>
              <a:t> feature built within existing Adaptive Workflow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096512"/>
            <a:ext cx="10789920" cy="1353312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4096512"/>
            <a:ext cx="64008" cy="135331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4224528"/>
            <a:ext cx="103784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share with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54880"/>
            <a:ext cx="10360152" cy="64008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Practical guidelines, project examples and learnings to help teams choose and use SDD appropriately.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Parallel learning, not a sequence in which one framework replaced the 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SDD Validation: New and Existing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We exercised the SDD approach in both new and existing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65960"/>
            <a:ext cx="5303520" cy="34747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65960"/>
            <a:ext cx="64008" cy="34747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Greenfield — Todo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24328"/>
            <a:ext cx="4873752" cy="2761487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Built a sample application using Spec Kit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Completed the SDD lifecycle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Learned how specification, planning and implementation fit together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65960"/>
            <a:ext cx="5303520" cy="34747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965960"/>
            <a:ext cx="64008" cy="34747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093976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rPr dirty="0"/>
              <a:t>Brownfield — </a:t>
            </a:r>
            <a:r>
              <a:rPr lang="en-IN" dirty="0"/>
              <a:t>API integration</a:t>
            </a:r>
            <a:r>
              <a:rPr dirty="0"/>
              <a:t>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624328"/>
            <a:ext cx="4873752" cy="2761487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Extended existing Adaptive Workflow code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Integrated with DocNav document submission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Followed established contracts, architecture and dependencies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Todo pilot showed the full lifecycle; the DocNav feature tested it against existing code and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Title Automation: The DocNav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The broader Title Automation project and our specific feature within existing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38528"/>
            <a:ext cx="3456432" cy="32461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38528"/>
            <a:ext cx="64008" cy="32461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66544"/>
            <a:ext cx="3044951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Title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96896"/>
            <a:ext cx="3026663" cy="2532887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Broader project context. BMAD is also being used for work within this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1938528"/>
            <a:ext cx="3456432" cy="32461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87952" y="1938528"/>
            <a:ext cx="64008" cy="32461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2066544"/>
            <a:ext cx="3044951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Adaptive Workflow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96896"/>
            <a:ext cx="3026663" cy="2532887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Existing configurable workflow execution framework with established interfaces and activities.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1938528"/>
            <a:ext cx="3602736" cy="324612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81544" y="1938528"/>
            <a:ext cx="64008" cy="324612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82712" y="2066544"/>
            <a:ext cx="3191256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Our DocNav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596896"/>
            <a:ext cx="3172968" cy="2532887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Added an activity to retrieve a PDF, submit it to DocNav, and handle the response and failures.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Our DocNav feature was brownfield work. That does not determine whether the overall Title Automation project is greenfield or brownfield.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We Already Have Scrum. Where Does SDD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SDD adds clarity and engineering checks at selected points in the existing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ADO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9776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9504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Refinement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2312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65192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4920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Sprint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50608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0336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2286000"/>
            <a:ext cx="182880" cy="2743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82CA1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36024" y="2103120"/>
            <a:ext cx="1993392" cy="749808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45752" y="2322576"/>
            <a:ext cx="1792224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Test / Review / PR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91640" y="3337560"/>
            <a:ext cx="4096512" cy="160020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91640" y="3337560"/>
            <a:ext cx="64008" cy="16002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92808" y="3465576"/>
            <a:ext cx="368503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At refinement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8" y="3995928"/>
            <a:ext cx="3666744" cy="8869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Clarify expected behavior, assumptions and important edge cases.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337560"/>
            <a:ext cx="4251960" cy="160020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9320" y="3337560"/>
            <a:ext cx="64008" cy="16002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0488" y="3465576"/>
            <a:ext cx="3840480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During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3995928"/>
            <a:ext cx="3822192" cy="88696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Plan, check consistency, implement and validate against the specification.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No separate SDD sprint • ADO remains • Use the right level of SDD for the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the Commitment Typing Team 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Actual questions that emerged as the team started using Spec Kit hands-on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01952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01952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Repository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60320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Do we initialize Spec Kit separately for each project in a multi-project repository?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01952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901952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Constitution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560320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Should we maintain one Constitution or multiple Constitutions?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901952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1901952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Analyze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560320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If Analyze identifies a gap, should we update the Constitution?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49039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749039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3877055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Testing defects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407407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If unit/integration tests find bugs, should they go into the Constitution?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49039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60" y="3749039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53128" y="3877055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07407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What does the Governance section of the Constitution mean?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749039"/>
            <a:ext cx="3502152" cy="170078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09560" y="3749039"/>
            <a:ext cx="64008" cy="1700784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10728" y="3877055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Blocked implementation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4407407"/>
            <a:ext cx="3072384" cy="98755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Why is implementation blocked by Constitution rules, and who approves?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Hands-on usage → real questions → reusable adoption guidelines.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We Learned from Those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Practical guidance should distinguish reusable project rules from individual feature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47672"/>
            <a:ext cx="5303520" cy="3456432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47672"/>
            <a:ext cx="64008" cy="3456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75688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Reusable project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06039"/>
            <a:ext cx="4873752" cy="274320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Decide the repo/workspace boundary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Explain Constitution scope and ownership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Use Analyze to surface important conflicts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Keep durable engineering rules in the Constitution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47672"/>
            <a:ext cx="5303520" cy="3456432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947672"/>
            <a:ext cx="64008" cy="3456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075688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Normal feature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606039"/>
            <a:ext cx="4873752" cy="274320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Keep feature-specific gaps with the feature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Fix and retest defects normally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Resolve material conflicts with human owners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Explain blocked checks before treating them as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Keep durable project rules in the Constitution. Resolve individual feature gaps and defects through normal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Before Adoption: Help the Team Get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Preparation and shared understanding should come before asking teams to implement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01  Read the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Understand the SDD lifecycle and purpose.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02  Explore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Review the Todo sample and available project examples.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03  Discuss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Capture the team’s own questions on setup, rules and analysis.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04  Understand the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Review the existing code, interfaces and project constraints.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531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05  Choose suitable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Select a bounded story where structured clarification helps.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Start with the guidance, a working example and a suitable story—not with a list of commands.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How a Team Can Apply SDD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Use the existing Scrum/ADO process and add structure where it helps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1  Choose a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Agree scope and business intent.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2  Specify + clarify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Resolve important ambiguity and edge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90195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190195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0728" y="2029968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3  Plan +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256032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Check the approach against existing code and project rules.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4  Implement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Build within existing code and contracts.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531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5  Review +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Review against the spec; test thoroughly.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09560" y="3776472"/>
            <a:ext cx="3502152" cy="169164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09560" y="3776472"/>
            <a:ext cx="64008" cy="169164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10728" y="3904487"/>
            <a:ext cx="3090672" cy="438912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6  Capture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8" y="4434840"/>
            <a:ext cx="3072384" cy="97840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Update reusable guidance where needed.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Check the implementation against the agreed specification, then complete thorough testing and normal code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Do Developers and Managers Gain?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Separate what the team delivers from what managers can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Development team —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Agreed requirements and expected behavior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A plan for the selected change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AI assistance where useful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Code reviewed against the specification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Tests completed; defects fixed and retested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Managers — visibility and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was agreed before development?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changed, and why?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Does the code match the agreed behavior?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was reviewed and tested?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Who owns unresolved decisions?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AI may help teams work faster, but the code must still be reviewed against the specification and tested thoroughly.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Managers Can Review — and What Still Needs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Use normal project review questions; distinguish developer, QA and manager needs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Questions managers can ask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Is the agreed behavior clear?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Does the code match what was agreed?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Were important gaps or exceptions resolved?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What testing and review were completed?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938528"/>
            <a:ext cx="5303520" cy="3493008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1938528"/>
            <a:ext cx="64008" cy="3493008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066544"/>
            <a:ext cx="4892040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Questions needing further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596896"/>
            <a:ext cx="4873752" cy="27797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Manager: how to assess team adoption?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QA: how do tests trace to the specification?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Project: who approves rules and exceptions?</a:t>
            </a:r>
          </a:p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• Team: what guidance needs refinement?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hands-on questions so far are mainly from developers. QA checks and manager adoption questions need further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8872" cy="1170432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92608"/>
            <a:ext cx="10607040" cy="594360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From Experiments to Reusable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146304"/>
            <a:ext cx="1188720" cy="29260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0881360" cy="3840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B6777"/>
                </a:solidFill>
                <a:latin typeface="Aptos"/>
              </a:defRPr>
            </a:pPr>
            <a:r>
              <a:t>Share real experience and improve the approach as more teams begin using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01384"/>
            <a:ext cx="10835640" cy="2286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547104"/>
            <a:ext cx="9144000" cy="21945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B6777"/>
                </a:solidFill>
                <a:latin typeface="Aptos"/>
              </a:defRPr>
            </a:pPr>
            <a:r>
              <a:t>FNF India  |  SDD / Spec Kit  |  Manager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28816"/>
            <a:ext cx="365760" cy="237744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B677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75104"/>
            <a:ext cx="3456432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75104"/>
            <a:ext cx="64008" cy="3154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103120"/>
            <a:ext cx="3044951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tried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33472"/>
            <a:ext cx="3026663" cy="24414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BMAD on Claims/CPS Docs; Spec Kit on Todo and a DocNav feature; BMAD also used in Title Automation.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87952" y="1975104"/>
            <a:ext cx="3456432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87952" y="1975104"/>
            <a:ext cx="64008" cy="3154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2103120"/>
            <a:ext cx="3044951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33472"/>
            <a:ext cx="3026663" cy="24414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Lifecycle fit, constraints of existing code, and questions from real hands-on adoption.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1975104"/>
            <a:ext cx="3602736" cy="3154680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81544" y="1975104"/>
            <a:ext cx="64008" cy="3154680"/>
          </a:xfrm>
          <a:prstGeom prst="rect">
            <a:avLst/>
          </a:prstGeom>
          <a:solidFill>
            <a:srgbClr val="82C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82712" y="2103120"/>
            <a:ext cx="3191256" cy="438912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305B"/>
                </a:solidFill>
                <a:latin typeface="Aptos"/>
              </a:defRPr>
            </a:pPr>
            <a:r>
              <a:t>What we can share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2633472"/>
            <a:ext cx="3172968" cy="2441448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348"/>
                </a:solidFill>
                <a:latin typeface="Aptos"/>
              </a:defRPr>
            </a:pPr>
            <a:r>
              <a:t>Guidelines, sample work and real questions; improve these with manager and QA feedback.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916168"/>
            <a:ext cx="10835640" cy="457200"/>
          </a:xfrm>
          <a:prstGeom prst="roundRect">
            <a:avLst/>
          </a:prstGeom>
          <a:solidFill>
            <a:srgbClr val="14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6384" y="6007608"/>
            <a:ext cx="10469880" cy="265176"/>
          </a:xfrm>
          <a:prstGeom prst="rect">
            <a:avLst/>
          </a:prstGeom>
          <a:noFill/>
        </p:spPr>
        <p:txBody>
          <a:bodyPr wrap="square" lIns="18288" tIns="18288" rIns="88900">
            <a:norm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Next: review the guidance with managers and QA, then improve it through additional real-team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1360</Words>
  <Application>Microsoft Office PowerPoint</Application>
  <PresentationFormat>Widescreen</PresentationFormat>
  <Paragraphs>185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Mahantesh Pujar</dc:creator>
  <cp:keywords/>
  <dc:description>generated using python-pptx</dc:description>
  <cp:lastModifiedBy>Mahantesh Pujar</cp:lastModifiedBy>
  <cp:revision>4</cp:revision>
  <dcterms:created xsi:type="dcterms:W3CDTF">2013-01-27T09:14:16Z</dcterms:created>
  <dcterms:modified xsi:type="dcterms:W3CDTF">2026-10-08T07:53:57Z</dcterms:modified>
  <cp:category/>
</cp:coreProperties>
</file>