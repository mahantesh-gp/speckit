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Spec Kit SDD — Todo Pilot</a:t>
            </a:r>
          </a:p>
          <a:p>
            <a:pPr>
              <a:defRPr sz="2100">
                <a:solidFill>
                  <a:srgbClr val="FFFFFF"/>
                </a:solidFill>
                <a:latin typeface="Aptos"/>
              </a:defRPr>
            </a:pPr>
            <a:r>
              <a:t>From refinement to sprint delivery: what we executed and what we observed</a:t>
            </a:r>
          </a:p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Pilot review • September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343400"/>
            <a:ext cx="10469880" cy="914400"/>
          </a:xfrm>
          <a:prstGeom prst="roundRect">
            <a:avLst/>
          </a:prstGeom>
          <a:solidFill>
            <a:srgbClr val="1F3B5B"/>
          </a:solidFill>
          <a:ln>
            <a:solidFill>
              <a:srgbClr val="64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72C"/>
                </a:solidFill>
                <a:latin typeface="Aptos"/>
              </a:defRPr>
            </a:pPr>
            <a:r>
              <a:t>Focus: the actual journey and evidence — not a Spec Kit command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1. What did we want to validate?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789920" cy="105156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300" b="1">
                <a:solidFill>
                  <a:srgbClr val="23272C"/>
                </a:solidFill>
                <a:latin typeface="Aptos"/>
              </a:defRPr>
            </a:pPr>
            <a:r>
              <a:t>How does SDD fit into a normal ADO + Scrum flow, and when is the additional structure useful?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  <a:latin typeface="Aptos"/>
              </a:defRPr>
            </a:pPr>
            <a:r>
              <a:t>Todo was deliberately small so the complete lifecycle could be simulated quickly.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  <a:latin typeface="Aptos"/>
              </a:defRPr>
            </a:pPr>
            <a:r>
              <a:t>ADO remained the source for user stories, acceptance criteria, sprint and status.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  <a:latin typeface="Aptos"/>
              </a:defRPr>
            </a:pPr>
            <a:r>
              <a:t>The experiment was designed to include both an SDD-assisted path and a normal-development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5440680"/>
            <a:ext cx="9144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Pilot question: “What changes when we use SDD — and where does it become unnecessary ceremony?”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2. We simulated a realistic sprint — not an “SDD sprint”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A sprint can contain stories that benefit from SDD and stories that do not</a:t>
            </a:r>
          </a:p>
        </p:txBody>
      </p:sp>
      <p:pic>
        <p:nvPicPr>
          <p:cNvPr id="4" name="Picture 3" descr="_crop_image-1787737533764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4864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5074920"/>
            <a:ext cx="2057400" cy="347472"/>
          </a:xfrm>
          <a:prstGeom prst="roundRect">
            <a:avLst/>
          </a:prstGeom>
          <a:solidFill>
            <a:srgbClr val="347E54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ACTUAL ADO BACKLOG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57800" cy="91440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72C"/>
                </a:solidFill>
                <a:latin typeface="Aptos"/>
              </a:defRPr>
            </a:pPr>
            <a:r>
              <a:t>Medium / meaningful story</a:t>
            </a:r>
            <a:br/>
            <a:r>
              <a:t>→ evaluate SDD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606040"/>
            <a:ext cx="5257800" cy="914400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72C"/>
                </a:solidFill>
                <a:latin typeface="Aptos"/>
              </a:defRPr>
            </a:pPr>
            <a:r>
              <a:t>Very light / obvious story</a:t>
            </a:r>
            <a:br/>
            <a:r>
              <a:t>→ normal development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886200"/>
            <a:ext cx="5257800" cy="105156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If work finishes early, pull another Ready story from backlog — simulate normal sprint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5257800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No need to wait artificial sprint dates for this small pilot.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3. What we actually executed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657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72C"/>
                </a:solidFill>
                <a:latin typeface="Aptos"/>
              </a:defRPr>
            </a:pPr>
            <a:r>
              <a:t>Create &amp; View Todos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15968" y="123444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Initial SDD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11696" y="1234440"/>
            <a:ext cx="4937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Working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75688"/>
            <a:ext cx="3657600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Complete a Todo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2075688"/>
            <a:ext cx="2240280" cy="65836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SDD-assisted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11696" y="2075688"/>
            <a:ext cx="4937760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Lifecycle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16936"/>
            <a:ext cx="3657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Delete a Todo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916936"/>
            <a:ext cx="2240280" cy="65836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SDD-assisted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11696" y="2916936"/>
            <a:ext cx="4937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Lifecycle behavior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58184"/>
            <a:ext cx="3657600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Improve UX &amp; Pagination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3758184"/>
            <a:ext cx="2240280" cy="65836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SDD-assisted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1696" y="3758184"/>
            <a:ext cx="4937760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Broader UI / interaction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99432"/>
            <a:ext cx="3657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Replace action text with icons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4599432"/>
            <a:ext cx="2240280" cy="658368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Normal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11696" y="4599432"/>
            <a:ext cx="4937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Deliberately lightweight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5715000"/>
            <a:ext cx="96926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72C"/>
                </a:solidFill>
                <a:latin typeface="Aptos"/>
              </a:defRPr>
            </a:pPr>
            <a:r>
              <a:t>Key change in the pilot: story selection became part of the experiment — not every story automatically entered SDD.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4. Scenario A — SDD-assisted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One representative path from requirement to working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1417320"/>
            <a:ext cx="1417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ADO</a:t>
            </a:r>
            <a:br/>
            <a:r>
              <a:t>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01952" y="1417320"/>
            <a:ext cx="1417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Refine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2736" y="1417320"/>
            <a:ext cx="1417320" cy="84124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Specify /</a:t>
            </a:r>
            <a:br/>
            <a:r>
              <a:t>Clarify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17320"/>
            <a:ext cx="1417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Ready for</a:t>
            </a:r>
            <a:br/>
            <a:r>
              <a:t>Sprint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4304" y="1417320"/>
            <a:ext cx="1417320" cy="84124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Plan /</a:t>
            </a:r>
            <a:br/>
            <a:r>
              <a:t>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05088" y="1417320"/>
            <a:ext cx="1417320" cy="84124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Implement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05872" y="1417320"/>
            <a:ext cx="1417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Test / 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88920"/>
            <a:ext cx="3337560" cy="205740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72C"/>
                </a:solidFill>
                <a:latin typeface="Aptos"/>
              </a:defRPr>
            </a:pPr>
            <a:r>
              <a:t>Requirement ownership</a:t>
            </a:r>
            <a:br/>
            <a:br/>
            <a:r>
              <a:t>ADO remains authoritative.</a:t>
            </a:r>
            <a:br/>
            <a:r>
              <a:t>Clarification decisions that affect behavior are captured back in 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788920"/>
            <a:ext cx="3337560" cy="205740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72C"/>
                </a:solidFill>
                <a:latin typeface="Aptos"/>
              </a:defRPr>
            </a:pPr>
            <a:r>
              <a:t>SDD contribution</a:t>
            </a:r>
            <a:br/>
            <a:br/>
            <a:r>
              <a:t>Make WHAT/WHY explicit, surface ambiguity, then structure HOW through plan and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88920"/>
            <a:ext cx="3337560" cy="205740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72C"/>
                </a:solidFill>
                <a:latin typeface="Aptos"/>
              </a:defRPr>
            </a:pPr>
            <a:r>
              <a:t>Normal governance remains</a:t>
            </a:r>
            <a:br/>
            <a:br/>
            <a:r>
              <a:t>Developer judgment, testing, review and PR are still required.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5349240"/>
            <a:ext cx="9555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72C"/>
                </a:solidFill>
                <a:latin typeface="Aptos"/>
              </a:defRPr>
            </a:pPr>
            <a:r>
              <a:t>The useful evidence is the decision/clarification and its downstream implementation — not the number of generated files.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5. The SDD work reached real implementation and PRs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Repository history provides traceability across refinement and implementation</a:t>
            </a:r>
          </a:p>
        </p:txBody>
      </p:sp>
      <p:pic>
        <p:nvPicPr>
          <p:cNvPr id="4" name="Picture 3" descr="_crop_image-1787833645889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66294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5440680"/>
            <a:ext cx="1920240" cy="347472"/>
          </a:xfrm>
          <a:prstGeom prst="roundRect">
            <a:avLst/>
          </a:prstGeom>
          <a:solidFill>
            <a:srgbClr val="347E54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ACTUAL PR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463040"/>
            <a:ext cx="41605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Refinement PRs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2606040"/>
            <a:ext cx="4160520" cy="91440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Complete + Delete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3749039"/>
            <a:ext cx="4160520" cy="91440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UX / Pagination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4892040"/>
            <a:ext cx="4160520" cy="914400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Icon change through normal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6. Scenario B — deliberately kept lightweight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A small UI story did not go through the full SDD lifecycle</a:t>
            </a:r>
          </a:p>
        </p:txBody>
      </p:sp>
      <p:pic>
        <p:nvPicPr>
          <p:cNvPr id="4" name="Picture 3" descr="_crop_image-1787833661498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66928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5440680"/>
            <a:ext cx="2103120" cy="347472"/>
          </a:xfrm>
          <a:prstGeom prst="roundRect">
            <a:avLst/>
          </a:prstGeom>
          <a:solidFill>
            <a:srgbClr val="347E54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WORKING TODO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17320"/>
            <a:ext cx="5074920" cy="868680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72C"/>
                </a:solidFill>
                <a:latin typeface="Aptos"/>
              </a:defRPr>
            </a:pPr>
            <a:r>
              <a:t>Story: replace action text with + / ✓ / × icons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60604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Requirement was clear and localized.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No meaningful new business rule, data model or API decision.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Normal path was sufficient: ADO → code → test → PR.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Running the full SDD lifecycle here would have added artifacts and review effort without equivalent reasoning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7. What did we observe?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Balanced pilot findings — value and overhead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440680" cy="566928"/>
          </a:xfrm>
          <a:prstGeom prst="roundRect">
            <a:avLst/>
          </a:prstGeom>
          <a:solidFill>
            <a:srgbClr val="347E54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Where SDD helped in this 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440680" cy="566928"/>
          </a:xfrm>
          <a:prstGeom prst="roundRect">
            <a:avLst/>
          </a:prstGeom>
          <a:solidFill>
            <a:srgbClr val="C67D31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Where the overhead became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Encouraged requirement thinking before coding.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Provided explicit refinement / planning artifacts.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Created clearer traceability from requirement to implementation.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Made human review of AI assumptions an explicit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14884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More prompts, artifacts and review steps.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A full flow is disproportionate for tiny, obvious changes.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Generated artifacts still need human validation.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One spec per every small story is not automatically useful.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69280"/>
            <a:ext cx="99669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72C"/>
                </a:solidFill>
                <a:latin typeface="Aptos"/>
              </a:defRPr>
            </a:pPr>
            <a:r>
              <a:t>Observation from Todo only: selective use appeared more practical than forcing the full SDD flow onto every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8. Review feedback — what we addressed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If a live demo is requested, the same evidence can be opened in ADO / repo /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743200" cy="118872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ADO</a:t>
            </a:r>
            <a:br/>
            <a:r>
              <a:t>User stories • refinement • sprint • tags/tasks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325880"/>
            <a:ext cx="2743200" cy="118872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Spec Kit</a:t>
            </a:r>
            <a:br/>
            <a:r>
              <a:t>Representative spec • clarification • plan/tasks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325880"/>
            <a:ext cx="2331720" cy="118872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Git / PR</a:t>
            </a:r>
            <a:br/>
            <a:r>
              <a:t>Refinement + implementation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325880"/>
            <a:ext cx="2514600" cy="1188720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Working App</a:t>
            </a:r>
            <a:br/>
            <a:r>
              <a:t>Implemented behavior and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1143000"/>
          </a:xfrm>
          <a:prstGeom prst="roundRect">
            <a:avLst/>
          </a:prstGeom>
          <a:solidFill>
            <a:srgbClr val="142A44"/>
          </a:solidFill>
          <a:ln>
            <a:solidFill>
              <a:srgbClr val="14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Operating-model questions after the initial 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526280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End-to-end flow / timelineWhen does SDD start, who resolves questions, and when is a story ready?</a:t>
            </a:r>
            <a:br/>
            <a: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526280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Multi-developer + US ↔ Feature modelHow do shared specs, parallel developers and story mapping work?</a:t>
            </a:r>
            <a:br/>
            <a: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9. Pilot conclusion for architect / manager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32588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3272C"/>
                </a:solidFill>
                <a:latin typeface="Aptos"/>
              </a:defRPr>
            </a:pPr>
            <a:r>
              <a:t>The Todo experiment showed that SDD can be integrated into the existing ADO / Scrum flow, while the full lifecycle does not appear necessary for every type of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t>SDD-assisted stories gave us a structured requirement → clarification → plan → implementation trail.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t>The lightweight icon story demonstrated that normal development can remain the better fit for simple, obvious work.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t>These are pilot observations, not an organization-wide rule or framework decision.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t>The outcome being handed over is the executed journey, evidence, benefits, overhead and open questions for architect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10. Close the 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10652760" cy="1965960"/>
          </a:xfrm>
          <a:prstGeom prst="roundRect">
            <a:avLst/>
          </a:prstGeom>
          <a:solidFill>
            <a:srgbClr val="F0F4F8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23272C"/>
                </a:solidFill>
                <a:latin typeface="Aptos"/>
              </a:defRPr>
            </a:pPr>
            <a:r>
              <a:t>“We simulated a normal sprint using ADO, applied Spec Kit to selected Todo stories, deliberately kept one lightweight story on the normal development path, and compared the experience. The result is a practical view of where the additional SDD structure helped and where it became unnecessary overhead.”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3886200"/>
            <a:ext cx="9921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What I am presenting: actual execution + evidence + 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892040"/>
            <a:ext cx="9921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What I am not claiming: a final organization-wide SDD/framework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From Pilot Execution to a Reusable Team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Continuation of the initial Todo SDD pilot — incorporating manager and Mani/Satish review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36776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Initial pilot 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39112"/>
            <a:ext cx="300837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• SDD can fit inside the existing ADO/Scrum flow</a:t>
            </a:r>
            <a:br/>
            <a:br/>
            <a:r>
              <a:t>• Clarification surfaced missing behavior before coding</a:t>
            </a:r>
            <a:br/>
            <a:br/>
            <a:r>
              <a:t>• Selective SDD was more practical than applying the full lifecycle to every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33756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636776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Review asked us to strengthen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2039112"/>
            <a:ext cx="300837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• End-to-end flow and timing before Sprint Planning</a:t>
            </a:r>
            <a:br/>
            <a:br/>
            <a:r>
              <a:t>• Multi-developer ownership and change handling</a:t>
            </a:r>
            <a:br/>
            <a:br/>
            <a:r>
              <a:t>• ADO User Story ↔ specification/feature relationship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33756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36776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Operating model refined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039112"/>
            <a:ext cx="300837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• Readiness + async clarification</a:t>
            </a:r>
            <a:br/>
            <a:br/>
            <a:r>
              <a:t>• Multi-developer model</a:t>
            </a:r>
            <a:br/>
            <a:br/>
            <a:r>
              <a:t>• US ↔ Feature mapping</a:t>
            </a:r>
            <a:br/>
            <a:br/>
            <a:r>
              <a:t>• Framework-neutral guidance</a:t>
            </a:r>
            <a:br/>
            <a:br/>
            <a:r>
              <a:t>• Controlled real-project adoption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504688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82D4A"/>
                </a:solidFill>
                <a:latin typeface="Aptos"/>
              </a:rPr>
              <a:t>The continuation focuses on the operating model needed before real-project validation — not on adding more Spec Kit commands.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End-to-End SDD Operating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Indicative timing only — the real-project pilot will validate the exact cadence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572768"/>
            <a:ext cx="175564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17007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T-7 to T-5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3" y="2103120"/>
            <a:ext cx="1426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Refine &amp; assess</a:t>
            </a:r>
            <a:br/>
            <a:br/>
            <a:r>
              <a:t>ADO story • AC • SDD suitability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3704" y="27889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0864" y="1572768"/>
            <a:ext cx="175564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5456" y="17007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T-5 to T-3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2103120"/>
            <a:ext cx="1426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Specify &amp; clarify</a:t>
            </a:r>
            <a:br/>
            <a:br/>
            <a:r>
              <a:t>Surface ambiguity; retain unanswered business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5656" y="27889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816" y="1572768"/>
            <a:ext cx="175564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7007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T-3 to T-1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103120"/>
            <a:ext cx="1426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Resolve &amp; ready</a:t>
            </a:r>
            <a:br/>
            <a:br/>
            <a:r>
              <a:t>Stakeholder decision → ADO/AC → spec →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27889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572768"/>
            <a:ext cx="175564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7007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T0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03120"/>
            <a:ext cx="1426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Sprint Planning</a:t>
            </a:r>
            <a:br/>
            <a:br/>
            <a:r>
              <a:t>Estimate/confirm and commit ready story + supporting spec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7889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72768"/>
            <a:ext cx="175564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7007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During Sprint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103120"/>
            <a:ext cx="1426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Execute</a:t>
            </a:r>
            <a:br/>
            <a:br/>
            <a:r>
              <a:t>Plan → Tasks → Analyze → Implement → Converge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7889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48672" y="1572768"/>
            <a:ext cx="175564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13264" y="17007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Completion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264" y="2103120"/>
            <a:ext cx="1426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Verify</a:t>
            </a:r>
            <a:br/>
            <a:br/>
            <a:r>
              <a:t>Test → Review → PR → normal completion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30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D4A"/>
                </a:solidFill>
                <a:latin typeface="Aptos"/>
              </a:rPr>
              <a:t>Readiness guardrail: material unresolved business questions remain open; AI must not invent the answer.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Asynchronous Clarification: Keep the Question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Key refinement from the Mani/Satish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Dev + 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Ambiguity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5376" y="28163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8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spec.md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Outstanding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8163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94176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ADO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Question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8163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8384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2976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PO / 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2976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Authoritative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8163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22592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4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ADO / 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4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Decision recorded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8163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Spec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Decision synchronized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6" y="28163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51008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0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Readiness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Proceed when resolved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82D4A"/>
                </a:solidFill>
                <a:latin typeface="Aptos"/>
              </a:rPr>
              <a:t>AI identifies and phrases the gap. Business decisions remain with the appropriate BA / PO / stakeholder.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9496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5B6978"/>
                </a:solidFill>
                <a:latin typeface="Aptos"/>
              </a:rPr>
              <a:t>If Spec Kit already retains a skipped clarification under Outstanding Questions in spec.md, a separate question file is unnecessary.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Multi-Developer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Shared specification does not replace normal ADO assignment, Git branches or PR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2900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A. Independent stories /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47672"/>
            <a:ext cx="309981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Dev A → Feature A branch</a:t>
            </a:r>
            <a:br/>
            <a:r>
              <a:t>Dev B → Feature B branch</a:t>
            </a:r>
            <a:br/>
            <a:br/>
            <a:r>
              <a:t>Each developer works from the reviewed baseline and follows the appropriate SDD development activities.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42900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5424" y="1545336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B. Related stories / shared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1947672"/>
            <a:ext cx="309981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One coherent capability may contain US1 / US2.</a:t>
            </a:r>
            <a:br/>
            <a:br/>
            <a:r>
              <a:t>ADO still assigns stories to developers. Shared foundational work is coordinated before parallel story implementation.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42900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545336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C. Different features / overlapping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947672"/>
            <a:ext cx="309981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Normal Git/PR/rebase/conflict practices remain.</a:t>
            </a:r>
            <a:br/>
            <a:br/>
            <a:r>
              <a:t>A physical merge conflict is different from a semantic/specification conflict.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2D4A"/>
                </a:solidFill>
                <a:latin typeface="Aptos"/>
              </a:rPr>
              <a:t>Business-behavior change: clarify → authoritative decision → update ADO/spec → notify impacted developers → update only impacted artifacts.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ADO User Story ↔ Spec Kit Feature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ADO stays the backlog/sprint tracking unit; the feature groups behavior that benefits from being reasoned about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33756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36776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1 US → 1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039112"/>
            <a:ext cx="300837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Preferred default for a cohesive SDD-selected story that is independently understandable, implementable and testable.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33756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636776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Multiple US → 1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2039112"/>
            <a:ext cx="300837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Allowed when there is real capability cohesion, shared reasoning value and sprint/delivery alignment.</a:t>
            </a:r>
            <a:br/>
            <a:br/>
            <a:r>
              <a:t>Example: Complete + Delete → Todo Lifecycle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08760"/>
            <a:ext cx="333756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636776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1 US → Multiple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2039112"/>
            <a:ext cx="300837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Not the normal starting point. If clarification exposes independently valuable capabilities, return to refinement and consider splitting the ADO story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285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82D4A"/>
                </a:solidFill>
                <a:latin typeface="Aptos"/>
              </a:rPr>
              <a:t>Small / localized story → no SDD feature is also a valid outcome.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Standardize the Operating Model — Not the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Spec Kit is the current reference implementation; the higher-level team process remains framework-independent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246120" cy="352044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636776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Layer 1 — Existing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039112"/>
            <a:ext cx="2916936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ADO</a:t>
            </a:r>
            <a:br/>
            <a:r>
              <a:t>Scrum ceremonies</a:t>
            </a:r>
            <a:br/>
            <a:r>
              <a:t>BA / PO / Dev / QA</a:t>
            </a:r>
            <a:br/>
            <a:r>
              <a:t>Git / PR</a:t>
            </a:r>
            <a:br/>
            <a:br/>
            <a:r>
              <a:t>These remain the delivery foundation.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246120" cy="352044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636776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Layer 2 — Generic SDD Activities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039112"/>
            <a:ext cx="2916936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Define behavior</a:t>
            </a:r>
            <a:br/>
            <a:r>
              <a:t>Clarify ambiguity</a:t>
            </a:r>
            <a:br/>
            <a:r>
              <a:t>Technical design</a:t>
            </a:r>
            <a:br/>
            <a:r>
              <a:t>Implementation breakdown</a:t>
            </a:r>
            <a:br/>
            <a:r>
              <a:t>Consistency validation</a:t>
            </a:r>
            <a:br/>
            <a:r>
              <a:t>Implementation</a:t>
            </a:r>
            <a:br/>
            <a:r>
              <a:t>Alignment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246120" cy="352044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36776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Layer 3 — Current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039112"/>
            <a:ext cx="2916936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Spec Kit today</a:t>
            </a:r>
            <a:br/>
            <a:br/>
            <a:r>
              <a:t>/specify</a:t>
            </a:r>
            <a:br/>
            <a:r>
              <a:t>/clarify</a:t>
            </a:r>
            <a:br/>
            <a:r>
              <a:t>/plan</a:t>
            </a:r>
            <a:br/>
            <a:r>
              <a:t>/tasks</a:t>
            </a:r>
            <a:br/>
            <a:r>
              <a:t>/analyze</a:t>
            </a:r>
            <a:br/>
            <a:r>
              <a:t>/implement</a:t>
            </a:r>
            <a:br/>
            <a:r>
              <a:t>/converge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9496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2D4A"/>
                </a:solidFill>
                <a:latin typeface="Aptos"/>
              </a:rPr>
              <a:t>Principle: standardize outcomes, responsibilities and checkpoints — not command names.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Recommended Next Step: Controlled Real-Project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Validate the operating model inside normal project sprints before recommending broader adoption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307592"/>
            <a:ext cx="438912" cy="438912"/>
          </a:xfrm>
          <a:prstGeom prst="ellipse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344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Select a small number of pilot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2344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42A"/>
                </a:solidFill>
                <a:latin typeface="Aptos"/>
              </a:rPr>
              <a:t>Existing ADO/Scrum • willing participants • suitable upcoming stories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67712"/>
            <a:ext cx="438912" cy="438912"/>
          </a:xfrm>
          <a:prstGeom prst="ellipse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945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Select stories during refinement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19456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42A"/>
                </a:solidFill>
                <a:latin typeface="Aptos"/>
              </a:rPr>
              <a:t>Use SDD where ambiguity, rules, dependencies, impact or risk justify it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227832"/>
            <a:ext cx="438912" cy="438912"/>
          </a:xfrm>
          <a:prstGeom prst="ellipse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7355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5468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Run normal mixed sprints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15468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42A"/>
                </a:solidFill>
                <a:latin typeface="Aptos"/>
              </a:rPr>
              <a:t>Keep SDD-selected and normal-development stories in the same sprint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187952"/>
            <a:ext cx="438912" cy="438912"/>
          </a:xfrm>
          <a:prstGeom prst="ellipse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3367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148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Capture lightweight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11480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42A"/>
                </a:solidFill>
                <a:latin typeface="Aptos"/>
              </a:rPr>
              <a:t>Clarifications • AC changes • rework • effort • alignment • team experience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148072"/>
            <a:ext cx="438912" cy="438912"/>
          </a:xfrm>
          <a:prstGeom prst="ellipse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9379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749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Refine the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0749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42A"/>
                </a:solidFill>
                <a:latin typeface="Aptos"/>
              </a:rPr>
              <a:t>Use real-project findings before any broader adoption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2D4A"/>
                </a:solidFill>
                <a:latin typeface="Aptos"/>
              </a:rPr>
              <a:t>Success does not mean every story uses SDD. The pilot should identify where SDD adds value and where it adds unnecessary overhead.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Where We Are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The initial pilot has evolved into a reusable operating-model baseline; real-project validation is the next evidence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461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545336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Refined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947672"/>
            <a:ext cx="291693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✓ End-to-end flow / readiness</a:t>
            </a:r>
            <a:br/>
            <a:r>
              <a:t>✓ Async stakeholder clarification</a:t>
            </a:r>
            <a:br/>
            <a:r>
              <a:t>✓ Multi-developer model</a:t>
            </a:r>
            <a:br/>
            <a:r>
              <a:t>✓ US ↔ Feature mapping</a:t>
            </a:r>
            <a:br/>
            <a:r>
              <a:t>✓ Framework-neutral operating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545336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Reusable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1947672"/>
            <a:ext cx="291693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SDD Operating Guide</a:t>
            </a:r>
            <a:br/>
            <a:r>
              <a:t>Todo worked example</a:t>
            </a:r>
            <a:br/>
            <a:r>
              <a:t>One-page quick reference</a:t>
            </a:r>
            <a:br/>
            <a:r>
              <a:t>10–15 minute walkthrough video</a:t>
            </a:r>
            <a:br/>
            <a:br/>
            <a:r>
              <a:t>Pilot guidance pending real-project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2461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545336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Next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1947672"/>
            <a:ext cx="291693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Selected real project teams</a:t>
            </a:r>
            <a:br/>
            <a:r>
              <a:t>Normal mixed sprints</a:t>
            </a:r>
            <a:br/>
            <a:r>
              <a:t>Lightweight evidence</a:t>
            </a:r>
            <a:br/>
            <a:r>
              <a:t>Feedback + refinement</a:t>
            </a:r>
            <a:br/>
            <a:br/>
            <a:r>
              <a:t>ADO automation is intentionally deferred.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4068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2D4A"/>
                </a:solidFill>
                <a:latin typeface="Aptos"/>
              </a:rPr>
              <a:t>Current recommendation: introduce SDD selectively with minimum change to the existing ADO/Scrum delivery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Manager Feedback → What We Addressed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Explicit closure of the operating-model questions raised after the initial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2880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82D4A"/>
                </a:solidFill>
                <a:latin typeface="Aptos"/>
              </a:rPr>
              <a:t>End-to-end example +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25880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US-904672 journey + proposed pre-sprint cadence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344168"/>
            <a:ext cx="1508760" cy="320040"/>
          </a:xfrm>
          <a:prstGeom prst="roundRect">
            <a:avLst/>
          </a:prstGeom>
          <a:solidFill>
            <a:srgbClr val="2B7A53"/>
          </a:solidFill>
          <a:ln>
            <a:solidFill>
              <a:srgbClr val="2B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2680" y="1394460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ADDRESSED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93391"/>
            <a:ext cx="2880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82D4A"/>
                </a:solidFill>
                <a:latin typeface="Aptos"/>
              </a:rPr>
              <a:t>Multi-developer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93391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Complete/Delete shared-capability simulation + branch/PR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2011679"/>
            <a:ext cx="1508760" cy="320040"/>
          </a:xfrm>
          <a:prstGeom prst="roundRect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12680" y="2061972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 DEFINED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60903"/>
            <a:ext cx="2880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82D4A"/>
                </a:solidFill>
                <a:latin typeface="Aptos"/>
              </a:rPr>
              <a:t>User Story ↔ Specification relationship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60903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1→1, many→1, broad story split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2679191"/>
            <a:ext cx="1508760" cy="320040"/>
          </a:xfrm>
          <a:prstGeom prst="roundRect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2729484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DEFINED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28415"/>
            <a:ext cx="2880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82D4A"/>
                </a:solidFill>
                <a:latin typeface="Aptos"/>
              </a:rPr>
              <a:t>Review with Mani / Satish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28415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Approach aligned; async PO/business clarification incorporated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12680" y="3346703"/>
            <a:ext cx="1508760" cy="320040"/>
          </a:xfrm>
          <a:prstGeom prst="roundRect">
            <a:avLst/>
          </a:prstGeom>
          <a:solidFill>
            <a:srgbClr val="2B7A53"/>
          </a:solidFill>
          <a:ln>
            <a:solidFill>
              <a:srgbClr val="2B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3396996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COMPLETED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95927"/>
            <a:ext cx="2880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82D4A"/>
                </a:solidFill>
                <a:latin typeface="Aptos"/>
              </a:rPr>
              <a:t>Reusable guidance +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995927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SDD Operating Guide + quick reference + Todo example + short video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4014215"/>
            <a:ext cx="1508760" cy="320040"/>
          </a:xfrm>
          <a:prstGeom prst="roundRect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4064507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DEFINED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63440"/>
            <a:ext cx="2880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82D4A"/>
                </a:solidFill>
                <a:latin typeface="Aptos"/>
              </a:rPr>
              <a:t>Adoption / success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663440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Controlled real-project pilots + lightweight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4681727"/>
            <a:ext cx="1508760" cy="320040"/>
          </a:xfrm>
          <a:prstGeom prst="roundRect">
            <a:avLst/>
          </a:prstGeom>
          <a:solidFill>
            <a:srgbClr val="B57820"/>
          </a:solidFill>
          <a:ln>
            <a:solidFill>
              <a:srgbClr val="B5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4732019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PROPOSED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30952"/>
            <a:ext cx="2880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82D4A"/>
                </a:solidFill>
                <a:latin typeface="Aptos"/>
              </a:rPr>
              <a:t>ADO automation concept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330952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Kept separate from current implementation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5349240"/>
            <a:ext cx="1508760" cy="320040"/>
          </a:xfrm>
          <a:prstGeom prst="roundRect">
            <a:avLst/>
          </a:prstGeom>
          <a:solidFill>
            <a:srgbClr val="B57820"/>
          </a:solidFill>
          <a:ln>
            <a:solidFill>
              <a:srgbClr val="B5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5399531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DEFERRED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05332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82D4A"/>
                </a:solidFill>
                <a:latin typeface="Aptos"/>
              </a:rPr>
              <a:t>This continuation is therefore focused on closing the feedback gaps — not repeating the original Spec Kit pilot.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Evidence-First Continuation •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Actual Todo Evolution: How the Operating Model Emerged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Observed pilot evidence — each step changed how we think SDD should fit into normal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651760" cy="804672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44752"/>
            <a:ext cx="2340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Create &amp; View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Initial greenfield SDD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1568" y="15544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99032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Established the working application baseline through SDD.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58568"/>
            <a:ext cx="2651760" cy="804672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377439"/>
            <a:ext cx="2340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Complete + 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79775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ADO refinement + shared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4871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331720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Showed related stories can be reasoned about together while remaining separate ADO work items.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91256"/>
            <a:ext cx="2651760" cy="804672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310127"/>
            <a:ext cx="2340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US-904672 UX &amp; Pagination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712463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Clarification before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341985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6440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Four missing behavioral decisions became explicit before coding.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23944"/>
            <a:ext cx="2651760" cy="804672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242816"/>
            <a:ext cx="2340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Replace Action Text with Icons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645152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Normal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435254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197096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Demonstrated selective SDD: a small localized change did not justify a full feature specification.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56631"/>
            <a:ext cx="2651760" cy="804672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175503"/>
            <a:ext cx="2340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US-904674 Due Date &amp; Overdue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577840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Outstanding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528523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129783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Skipped/unresolved clarification remained in spec.md instead of being guessed — enabling async stakeholder resolution.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2D4A"/>
                </a:solidFill>
                <a:latin typeface="Aptos"/>
              </a:rPr>
              <a:t>Key learning: the process was not designed only on paper; it evolved from the Todo stories and review feedback.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Evidence-First Continuation •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US-904672 — Actual Pilot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Observed sequence from ADO refinement through implementation; exact historical day-by-day timestamps were not captured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2057400" cy="320040"/>
          </a:xfrm>
          <a:prstGeom prst="roundRect">
            <a:avLst/>
          </a:prstGeom>
          <a:solidFill>
            <a:srgbClr val="2B7A53"/>
          </a:solidFill>
          <a:ln>
            <a:solidFill>
              <a:srgbClr val="2B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9012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OBSERVED PILOT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783080"/>
            <a:ext cx="134416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901952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ADO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304288"/>
            <a:ext cx="1033271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Improve Todo List UX &amp; Pagination</a:t>
            </a:r>
            <a:br/>
            <a:r>
              <a:t>8 points • SDD-Candidate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1" y="29260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37943" y="1783080"/>
            <a:ext cx="134416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93391" y="1901952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1" y="2304288"/>
            <a:ext cx="1033271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Acceptance Criteria reviewed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255" y="29260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783080"/>
            <a:ext cx="134416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1901952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Specify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304288"/>
            <a:ext cx="1033271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Expected behavior structured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9260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3752" y="1783080"/>
            <a:ext cx="134416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901952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Clarify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304288"/>
            <a:ext cx="1033271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4 gaps surfaced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29260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91656" y="1783080"/>
            <a:ext cx="1600200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1901952"/>
            <a:ext cx="1289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2304288"/>
            <a:ext cx="128930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10/page • previous page • current+total pages • clamp invalid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9260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783080"/>
            <a:ext cx="134416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901952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ADO / 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04288"/>
            <a:ext cx="1033271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Decisions recorded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4" y="29260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83496" y="1783080"/>
            <a:ext cx="1600200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1901952"/>
            <a:ext cx="1289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Sprint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8944" y="2304288"/>
            <a:ext cx="128930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Plan → Tasks → Analyze → Implement → Converge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29260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57432" y="1783080"/>
            <a:ext cx="134416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12880" y="1901952"/>
            <a:ext cx="10332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Complete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2304288"/>
            <a:ext cx="1033271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Test → Review → PR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413248"/>
            <a:ext cx="10652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82D4A"/>
                </a:solidFill>
                <a:latin typeface="Aptos"/>
              </a:rPr>
              <a:t>What SDD changed: page size, empty-page behavior, pagination display and invalid-page handling were decided explicitly before implementation rather than left to developer/AI assumption.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Evidence-First Continuation •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Proposed Real-Project Timing — Based on the Pilot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This is guidance to validate with project teams, not a historical claim about the Todo 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1965960" cy="320040"/>
          </a:xfrm>
          <a:prstGeom prst="roundRect">
            <a:avLst/>
          </a:prstGeom>
          <a:solidFill>
            <a:srgbClr val="B57820"/>
          </a:solidFill>
          <a:ln>
            <a:solidFill>
              <a:srgbClr val="B5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9012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PROPOSED / TO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69A6"/>
                </a:solidFill>
                <a:latin typeface="Aptos"/>
              </a:rPr>
              <a:t>T-7 to T-5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82D4A"/>
                </a:solidFill>
                <a:latin typeface="Aptos"/>
              </a:rPr>
              <a:t>BA + Dev / refinement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55448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Candidate story → refine → assess SDD suitability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554480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978"/>
                </a:solidFill>
                <a:latin typeface="Aptos"/>
              </a:rPr>
              <a:t>Todo reference: UX/Pagination selected because behavior needed deeper clarification.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69A6"/>
                </a:solidFill>
                <a:latin typeface="Aptos"/>
              </a:rPr>
              <a:t>T-5 to T-3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231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82D4A"/>
                </a:solidFill>
                <a:latin typeface="Aptos"/>
              </a:rPr>
              <a:t>Dev + BA + AI assistance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42316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Specify / Clarify; keep unresolved business questions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423160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978"/>
                </a:solidFill>
                <a:latin typeface="Aptos"/>
              </a:rPr>
              <a:t>Todo reference: UX/Pagination clarification; Due Date Outstanding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91839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69A6"/>
                </a:solidFill>
                <a:latin typeface="Aptos"/>
              </a:rPr>
              <a:t>T-3 to T-1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91839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82D4A"/>
                </a:solidFill>
                <a:latin typeface="Aptos"/>
              </a:rPr>
              <a:t>BA / PO / business +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291839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Resolve material questions → ADO/AC → spec →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291839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978"/>
                </a:solidFill>
                <a:latin typeface="Aptos"/>
              </a:rPr>
              <a:t>Todo reference: four UX/Pagination decisions became explicit.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6052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69A6"/>
                </a:solidFill>
                <a:latin typeface="Aptos"/>
              </a:rPr>
              <a:t>T0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1605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82D4A"/>
                </a:solidFill>
                <a:latin typeface="Aptos"/>
              </a:rPr>
              <a:t>Sprint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16052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Estimate/confirm and commit ready story + supporting spec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160520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978"/>
                </a:solidFill>
                <a:latin typeface="Aptos"/>
              </a:rPr>
              <a:t>ADO remains the sprint system of record.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2920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69A6"/>
                </a:solidFill>
                <a:latin typeface="Aptos"/>
              </a:rPr>
              <a:t>During Sprint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292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82D4A"/>
                </a:solidFill>
                <a:latin typeface="Aptos"/>
              </a:rPr>
              <a:t>Developer(s)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502920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Plan → Tasks → Analyze → Implement → Converge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5029200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978"/>
                </a:solidFill>
                <a:latin typeface="Aptos"/>
              </a:rPr>
              <a:t>Todo reference: SDD-selected stories use development artifacts after commitment.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43600"/>
            <a:ext cx="10652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82D4A"/>
                </a:solidFill>
                <a:latin typeface="Aptos"/>
              </a:rPr>
              <a:t>Readiness rule to validate: material unresolved business questions block SDD-assisted readiness; AI cannot convert missing stakeholder knowledge into a requirement.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Evidence-First Continuation •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Multi-Developer Model — Grounded in the Todo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Operating model to validate in a real team; the Todo pilot provides the capability/story structure, not multi-developer proof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1600200" cy="320040"/>
          </a:xfrm>
          <a:prstGeom prst="roundRect">
            <a:avLst/>
          </a:prstGeom>
          <a:solidFill>
            <a:srgbClr val="B57820"/>
          </a:solidFill>
          <a:ln>
            <a:solidFill>
              <a:srgbClr val="B5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9012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 TO VALIDATE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246120" cy="342900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64792"/>
            <a:ext cx="2935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Shared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67128"/>
            <a:ext cx="29352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Todo Lifecycle Operations</a:t>
            </a:r>
            <a:br/>
            <a:br/>
            <a:r>
              <a:t>ADO 900332 — Complete a Todo</a:t>
            </a:r>
            <a:br/>
            <a:r>
              <a:t>ADO 900328 — Delete a Todo</a:t>
            </a:r>
            <a:br/>
            <a:br/>
            <a:r>
              <a:t>One coherent feature can preserve separate story visibility.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46120" cy="342900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64792"/>
            <a:ext cx="2935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Parallel Ownership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67128"/>
            <a:ext cx="29352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Dev A → Complete story</a:t>
            </a:r>
            <a:br/>
            <a:r>
              <a:t>Dev B → Delete story</a:t>
            </a:r>
            <a:br/>
            <a:br/>
            <a:r>
              <a:t>ADO assigns developers. The feature/spec is a shared project artifact, not a personal developer document.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645920"/>
            <a:ext cx="3246120" cy="342900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764792"/>
            <a:ext cx="2935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If Behavior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2167128"/>
            <a:ext cx="29352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Example: Complete behavior changes mid-sprint</a:t>
            </a:r>
            <a:br/>
            <a:br/>
            <a:r>
              <a:t>ADO/AC decision → shared spec → identify impacted tasks/tests/code → notify both developers → Analyze/Converge.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1324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2D4A"/>
                </a:solidFill>
                <a:latin typeface="Aptos"/>
              </a:rPr>
              <a:t>Normal Git branch / PR / rebase / merge practices remain unchanged; SDD adds behavior alignment, not a replacement collaboration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Evidence-First Continuation •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User Story ↔ Feature Mapping — Todo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The mapping decision follows capability cohesion and delivery alignment, not a mechanical one-story-one-spec rule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337560" cy="3611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73352"/>
            <a:ext cx="3026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1 US → 1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075688"/>
            <a:ext cx="302666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US-904672</a:t>
            </a:r>
            <a:br/>
            <a:r>
              <a:t>Improve Todo List UX &amp; Pagination</a:t>
            </a:r>
            <a:br/>
            <a:br/>
            <a:r>
              <a:t>A substantial independent capability with its own behavioral decisions → dedicated feature.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337560" cy="3611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673352"/>
            <a:ext cx="3026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Multiple US → 1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075688"/>
            <a:ext cx="302666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900332 Complete + 900328 Delete</a:t>
            </a:r>
            <a:br/>
            <a:r>
              <a:t>→ Todo Lifecycle Operations</a:t>
            </a:r>
            <a:br/>
            <a:br/>
            <a:r>
              <a:t>Valid because the stories form a coherent lifecycle capability and can remain separately visible/testable.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54480"/>
            <a:ext cx="3337560" cy="3611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673352"/>
            <a:ext cx="3026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Simple US → No SDD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075688"/>
            <a:ext cx="302666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Replace Todo Action Text with Icons</a:t>
            </a:r>
            <a:br/>
            <a:br/>
            <a:r>
              <a:t>Small/localized UI change → normal development was the more proportionate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469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82D4A"/>
                </a:solidFill>
                <a:latin typeface="Aptos"/>
              </a:rPr>
              <a:t>If one broad ADO story reveals multiple independently valuable capabilities during clarification, return to refinement and consider splitting the ADO story first.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Evidence-First Continuation •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Reusable Handoff Package for Pilot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Defined now; content remains pilot guidance until real-project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514600" cy="352044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27631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SDD Operating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029967"/>
            <a:ext cx="220370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Where SDD fits in ADO/Scrum</a:t>
            </a:r>
            <a:br/>
            <a:r>
              <a:t>Selection criteria</a:t>
            </a:r>
            <a:br/>
            <a:r>
              <a:t>Readiness</a:t>
            </a:r>
            <a:br/>
            <a:r>
              <a:t>Roles</a:t>
            </a:r>
            <a:br/>
            <a:r>
              <a:t>Multi-dev model</a:t>
            </a:r>
            <a:br/>
            <a:r>
              <a:t>US ↔ Feature mapping</a:t>
            </a:r>
            <a:br/>
            <a:r>
              <a:t>Change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08760"/>
            <a:ext cx="2514600" cy="352044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627631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Todo Worked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2029967"/>
            <a:ext cx="220370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UX/Pagination clarification</a:t>
            </a:r>
            <a:br/>
            <a:r>
              <a:t>Complete + Delete grouping</a:t>
            </a:r>
            <a:br/>
            <a:r>
              <a:t>Icon story normal path</a:t>
            </a:r>
            <a:br/>
            <a:r>
              <a:t>Due Date Outstanding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2514600" cy="352044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627631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One-Page Quick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029967"/>
            <a:ext cx="220370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Before Sprint</a:t>
            </a:r>
            <a:br/>
            <a:r>
              <a:t>ADO → Refine → Select → Specify/Clarify → Decide → Ready</a:t>
            </a:r>
            <a:br/>
            <a:br/>
            <a:r>
              <a:t>Sprint</a:t>
            </a:r>
            <a:br/>
            <a:r>
              <a:t>Plan → Tasks → Analyze → Implement → Converge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508760"/>
            <a:ext cx="2514600" cy="352044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1627631"/>
            <a:ext cx="2203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10–15 min Walkthrough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029967"/>
            <a:ext cx="220370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Why SDD</a:t>
            </a:r>
            <a:br/>
            <a:r>
              <a:t>Where it fits</a:t>
            </a:r>
            <a:br/>
            <a:r>
              <a:t>Actual Todo evidence</a:t>
            </a:r>
            <a:br/>
            <a:r>
              <a:t>Multi-dev + mapping</a:t>
            </a:r>
            <a:br/>
            <a:r>
              <a:t>When not to use it</a:t>
            </a:r>
            <a:br/>
            <a:r>
              <a:t>Guardrails /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2D4A"/>
                </a:solidFill>
                <a:latin typeface="Aptos"/>
              </a:rPr>
              <a:t>Goal: another team should be able to reproduce the pilot approach without continuous dependency on the original pilot team.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Evidence-First Continuation •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Real-Project Pilot: Onboarding, Evidence and Decision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Proposed next step — validate the operating model with minimum change to existing team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1051560" cy="320040"/>
          </a:xfrm>
          <a:prstGeom prst="roundRect">
            <a:avLst/>
          </a:prstGeom>
          <a:solidFill>
            <a:srgbClr val="B57820"/>
          </a:solidFill>
          <a:ln>
            <a:solidFill>
              <a:srgbClr val="B5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9012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PROPOSED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19072"/>
            <a:ext cx="2935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Onboarding /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21408"/>
            <a:ext cx="293522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Pilot Team + SDD Mentor</a:t>
            </a:r>
            <a:br/>
            <a:r>
              <a:t>→ select first story</a:t>
            </a:r>
            <a:br/>
            <a:r>
              <a:t>→ refinement support</a:t>
            </a:r>
            <a:br/>
            <a:r>
              <a:t>→ first SDD execution</a:t>
            </a:r>
            <a:br/>
            <a:r>
              <a:t>→ sprint observation</a:t>
            </a:r>
            <a:br/>
            <a:r>
              <a:t>→ retrospective</a:t>
            </a:r>
            <a:br/>
            <a:r>
              <a:t>→ increasing team independence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2461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19072"/>
            <a:ext cx="2935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Evidence to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21408"/>
            <a:ext cx="293522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Clarification gaps</a:t>
            </a:r>
            <a:br/>
            <a:r>
              <a:t>ADO/AC changes</a:t>
            </a:r>
            <a:br/>
            <a:r>
              <a:t>Dependencies found early</a:t>
            </a:r>
            <a:br/>
            <a:r>
              <a:t>Rework after coding</a:t>
            </a:r>
            <a:br/>
            <a:r>
              <a:t>Analyze/Converge findings</a:t>
            </a:r>
            <a:br/>
            <a:r>
              <a:t>Approx. SDD effort</a:t>
            </a:r>
            <a:br/>
            <a:r>
              <a:t>BA/PO/Dev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600200"/>
            <a:ext cx="32461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719072"/>
            <a:ext cx="2935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Validation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2121408"/>
            <a:ext cx="293522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Proposed starting point: 2–3 normal sprint cycles</a:t>
            </a:r>
            <a:br/>
            <a:br/>
            <a:r>
              <a:t>Not an SLA or approved rollout timeline. Exact cadence should be validated with selected project teams.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86400"/>
            <a:ext cx="10469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82D4A"/>
                </a:solidFill>
                <a:latin typeface="Aptos"/>
              </a:rPr>
              <a:t>Success ≠ every story uses SDD. Success means we can identify where it improves clarity/alignment with manageable overhead — and where normal development is better.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Evidence-First Continuation •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Leadership Decisions / 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What we need from this review to move from the Todo pilot into controlled real-project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32461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27631"/>
            <a:ext cx="2935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1. Confirm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29967"/>
            <a:ext cx="293522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Continue with selective SDD inside the existing ADO/Scrum model rather than introducing a separate SDD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2461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1627631"/>
            <a:ext cx="2935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2. Nominate Pilot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029967"/>
            <a:ext cx="293522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Identify a small number of suitable project teams and upcoming medium/high-complexity stories for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08760"/>
            <a:ext cx="32461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627631"/>
            <a:ext cx="2935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3. Validate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029967"/>
            <a:ext cx="293522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E242A"/>
                </a:solidFill>
                <a:latin typeface="Aptos"/>
              </a:rPr>
              <a:t>Confirm/refine proposed pre-sprint timing, mentor/support approach and evidence to capture over the pilot period.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10469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2D4A"/>
                </a:solidFill>
                <a:latin typeface="Aptos"/>
              </a:rPr>
              <a:t>After real-project evidence: refine the SDD Operating Guide and return with an adoption recommendation. ADO automation remains a future concept, not a dependency for this validation.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Evidence-First Continuation •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