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500" b="1">
                <a:solidFill>
                  <a:srgbClr val="102B48"/>
                </a:solidFill>
                <a:latin typeface="Aptos"/>
              </a:rPr>
              <a:t>SDD in an Existing Project: Add It, Don’t Replace the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972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30" b="0">
                <a:solidFill>
                  <a:srgbClr val="52606E"/>
                </a:solidFill>
                <a:latin typeface="Aptos"/>
              </a:rPr>
              <a:t>Our target is a practical adoption model for brownfield or greenfield teams already using Scrum and Azure DevOps.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20116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1">
                <a:solidFill>
                  <a:srgbClr val="52606E"/>
                </a:solidFill>
                <a:latin typeface="Aptos"/>
              </a:rPr>
              <a:t>EXISTING DELIVERY PROCESS — UNCHANGED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72768"/>
            <a:ext cx="1234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02B48"/>
                </a:solidFill>
                <a:latin typeface="Aptos"/>
              </a:rPr>
              <a:t>Requirement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10512" y="1764792"/>
            <a:ext cx="219456" cy="146304"/>
          </a:xfrm>
          <a:prstGeom prst="rightArrow">
            <a:avLst/>
          </a:prstGeom>
          <a:solidFill>
            <a:srgbClr val="1F6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65960" y="1572768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02B48"/>
                </a:solidFill>
                <a:latin typeface="Aptos"/>
              </a:rPr>
              <a:t>ADO User Story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56432" y="1764792"/>
            <a:ext cx="219456" cy="146304"/>
          </a:xfrm>
          <a:prstGeom prst="rightArrow">
            <a:avLst/>
          </a:prstGeom>
          <a:solidFill>
            <a:srgbClr val="1F6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11880" y="1572768"/>
            <a:ext cx="1234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02B48"/>
                </a:solidFill>
                <a:latin typeface="Aptos"/>
              </a:rPr>
              <a:t>Refinement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19472" y="1764792"/>
            <a:ext cx="219456" cy="146304"/>
          </a:xfrm>
          <a:prstGeom prst="rightArrow">
            <a:avLst/>
          </a:prstGeom>
          <a:solidFill>
            <a:srgbClr val="1F6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572768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02B48"/>
                </a:solidFill>
                <a:latin typeface="Aptos"/>
              </a:rPr>
              <a:t>Sprint Planning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565392" y="1764792"/>
            <a:ext cx="219456" cy="146304"/>
          </a:xfrm>
          <a:prstGeom prst="rightArrow">
            <a:avLst/>
          </a:prstGeom>
          <a:solidFill>
            <a:srgbClr val="1F6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0840" y="1572768"/>
            <a:ext cx="1325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02B48"/>
                </a:solidFill>
                <a:latin typeface="Aptos"/>
              </a:rPr>
              <a:t>Development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119871" y="1764792"/>
            <a:ext cx="219456" cy="146304"/>
          </a:xfrm>
          <a:prstGeom prst="rightArrow">
            <a:avLst/>
          </a:prstGeom>
          <a:solidFill>
            <a:srgbClr val="1F6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1572768"/>
            <a:ext cx="1325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02B48"/>
                </a:solidFill>
                <a:latin typeface="Aptos"/>
              </a:rPr>
              <a:t>QA / Review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74352" y="1764792"/>
            <a:ext cx="219456" cy="146304"/>
          </a:xfrm>
          <a:prstGeom prst="rightArrow">
            <a:avLst/>
          </a:prstGeom>
          <a:solidFill>
            <a:srgbClr val="1F6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29800" y="1572768"/>
            <a:ext cx="1143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02B48"/>
                </a:solidFill>
                <a:latin typeface="Aptos"/>
              </a:rPr>
              <a:t>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487168"/>
            <a:ext cx="20116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1">
                <a:solidFill>
                  <a:srgbClr val="1F65A9"/>
                </a:solidFill>
                <a:latin typeface="Aptos"/>
              </a:rPr>
              <a:t>WHERE SDD IS INTRODUCED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2816352"/>
            <a:ext cx="2788920" cy="1143000"/>
          </a:xfrm>
          <a:prstGeom prst="roundRect">
            <a:avLst/>
          </a:prstGeom>
          <a:solidFill>
            <a:srgbClr val="EBF4FC"/>
          </a:solidFill>
          <a:ln>
            <a:solidFill>
              <a:srgbClr val="1F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/>
            <a:r>
              <a:rPr sz="1200" b="1">
                <a:solidFill>
                  <a:srgbClr val="1F65A9"/>
                </a:solidFill>
                <a:latin typeface="Aptos"/>
              </a:rPr>
              <a:t>REFINEMENT</a:t>
            </a:r>
          </a:p>
          <a:p>
            <a:pPr algn="ctr"/>
            <a:r>
              <a:rPr sz="1200" b="1">
                <a:solidFill>
                  <a:srgbClr val="102B48"/>
                </a:solidFill>
                <a:latin typeface="Aptos"/>
              </a:rPr>
              <a:t>Assess SDD suitability
Specify → Clarify</a:t>
            </a:r>
          </a:p>
          <a:p>
            <a:pPr algn="ctr"/>
            <a:r>
              <a:rPr sz="880">
                <a:solidFill>
                  <a:srgbClr val="52606E"/>
                </a:solidFill>
                <a:latin typeface="Aptos"/>
              </a:rPr>
              <a:t>Unresolved business questions → BA/PO → update ADO/AC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2816352"/>
            <a:ext cx="3246120" cy="1143000"/>
          </a:xfrm>
          <a:prstGeom prst="roundRect">
            <a:avLst/>
          </a:prstGeom>
          <a:solidFill>
            <a:srgbClr val="EBF4FC"/>
          </a:solidFill>
          <a:ln>
            <a:solidFill>
              <a:srgbClr val="1F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/>
            <a:r>
              <a:rPr sz="1200" b="1">
                <a:solidFill>
                  <a:srgbClr val="1F65A9"/>
                </a:solidFill>
                <a:latin typeface="Aptos"/>
              </a:rPr>
              <a:t>DEVELOPMENT</a:t>
            </a:r>
          </a:p>
          <a:p>
            <a:pPr algn="ctr"/>
            <a:r>
              <a:rPr sz="1200" b="1">
                <a:solidFill>
                  <a:srgbClr val="102B48"/>
                </a:solidFill>
                <a:latin typeface="Aptos"/>
              </a:rPr>
              <a:t>Plan → Tasks → Implement → Converge</a:t>
            </a:r>
          </a:p>
          <a:p>
            <a:pPr algn="ctr"/>
            <a:r>
              <a:rPr sz="880">
                <a:solidFill>
                  <a:srgbClr val="52606E"/>
                </a:solidFill>
                <a:latin typeface="Aptos"/>
              </a:rPr>
              <a:t>Normal branches • PRs • tests • Scrum coordination continue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24528" y="2148840"/>
            <a:ext cx="0" cy="667512"/>
          </a:xfrm>
          <a:prstGeom prst="line">
            <a:avLst/>
          </a:prstGeom>
          <a:ln w="25400">
            <a:solidFill>
              <a:srgbClr val="1F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60920" y="2148840"/>
            <a:ext cx="0" cy="667512"/>
          </a:xfrm>
          <a:prstGeom prst="line">
            <a:avLst/>
          </a:prstGeom>
          <a:ln w="25400">
            <a:solidFill>
              <a:srgbClr val="1F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" y="4370832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200" b="1">
                <a:solidFill>
                  <a:srgbClr val="102B48"/>
                </a:solidFill>
                <a:latin typeface="Aptos"/>
              </a:rPr>
              <a:t>Selective, not mandatory</a:t>
            </a:r>
          </a:p>
          <a:p>
            <a:pPr>
              <a:spcBef>
                <a:spcPts val="400"/>
              </a:spcBef>
            </a:pPr>
            <a:r>
              <a:rPr sz="940">
                <a:solidFill>
                  <a:srgbClr val="52606E"/>
                </a:solidFill>
                <a:latin typeface="Aptos"/>
              </a:rPr>
              <a:t>Use SDD for stories where ambiguity, complexity or shared reasoning adds value. Small/local changes can follow normal development.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370832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200" b="1">
                <a:solidFill>
                  <a:srgbClr val="102B48"/>
                </a:solidFill>
                <a:latin typeface="Aptos"/>
              </a:rPr>
              <a:t>ADO remains authoritative</a:t>
            </a:r>
          </a:p>
          <a:p>
            <a:pPr>
              <a:spcBef>
                <a:spcPts val="400"/>
              </a:spcBef>
            </a:pPr>
            <a:r>
              <a:rPr sz="940">
                <a:solidFill>
                  <a:srgbClr val="52606E"/>
                </a:solidFill>
                <a:latin typeface="Aptos"/>
              </a:rPr>
              <a:t>ADO continues to own the User Story, Acceptance Criteria, assignment, sprint/state and approved business decisions.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4370832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200" b="1">
                <a:solidFill>
                  <a:srgbClr val="102B48"/>
                </a:solidFill>
                <a:latin typeface="Aptos"/>
              </a:rPr>
              <a:t>AI assists — people decide</a:t>
            </a:r>
          </a:p>
          <a:p>
            <a:pPr>
              <a:spcBef>
                <a:spcPts val="400"/>
              </a:spcBef>
            </a:pPr>
            <a:r>
              <a:rPr sz="940">
                <a:solidFill>
                  <a:srgbClr val="52606E"/>
                </a:solidFill>
                <a:latin typeface="Aptos"/>
              </a:rPr>
              <a:t>Spec Kit can surface gaps and structure work. BA/PO/business resolves requirement decisions; QA and governance remain unchanged.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715000"/>
            <a:ext cx="10515600" cy="603504"/>
          </a:xfrm>
          <a:prstGeom prst="roundRect">
            <a:avLst/>
          </a:prstGeom>
          <a:solidFill>
            <a:srgbClr val="E8F5EB"/>
          </a:solidFill>
          <a:ln>
            <a:solidFill>
              <a:srgbClr val="8AB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C7141"/>
                </a:solidFill>
                <a:latin typeface="Aptos"/>
              </a:rPr>
              <a:t>Result: teams can introduce SDD incrementally without redesigning their existing project delivery process.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500" b="1">
                <a:solidFill>
                  <a:srgbClr val="102B48"/>
                </a:solidFill>
                <a:latin typeface="Aptos"/>
              </a:rPr>
              <a:t>Pilot Outcome: A Practical Operating Model Is Established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972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30" b="0">
                <a:solidFill>
                  <a:srgbClr val="52606E"/>
                </a:solidFill>
                <a:latin typeface="Aptos"/>
              </a:rPr>
              <a:t>Todo was used as a simple existing-application reference. The detailed demo and usage guide carry the implementation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1">
                <a:solidFill>
                  <a:srgbClr val="52606E"/>
                </a:solidFill>
                <a:latin typeface="Aptos"/>
              </a:rPr>
              <a:t>1  WHAT THE PILOT SHOWED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520440" cy="1417320"/>
          </a:xfrm>
          <a:prstGeom prst="roundRect">
            <a:avLst/>
          </a:prstGeom>
          <a:solidFill>
            <a:srgbClr val="FFF5DE"/>
          </a:solidFill>
          <a:ln>
            <a:solidFill>
              <a:srgbClr val="CF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200" b="1">
                <a:solidFill>
                  <a:srgbClr val="102B48"/>
                </a:solidFill>
                <a:latin typeface="Aptos"/>
              </a:rPr>
              <a:t>Clarify before coding</a:t>
            </a:r>
          </a:p>
          <a:p>
            <a:pPr>
              <a:spcBef>
                <a:spcPts val="400"/>
              </a:spcBef>
            </a:pPr>
            <a:r>
              <a:rPr sz="940">
                <a:solidFill>
                  <a:srgbClr val="52606E"/>
                </a:solidFill>
                <a:latin typeface="Aptos"/>
              </a:rPr>
              <a:t>UX &amp; Pagination looked understandable, but SDD surfaced missing decisions: page size = 10, behavior when the last item on a page is removed, page indicator, and invalid-page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182112"/>
            <a:ext cx="35204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200" b="1">
                <a:solidFill>
                  <a:srgbClr val="102B48"/>
                </a:solidFill>
                <a:latin typeface="Aptos"/>
              </a:rPr>
              <a:t>Requirement handoff</a:t>
            </a:r>
          </a:p>
          <a:p>
            <a:pPr>
              <a:spcBef>
                <a:spcPts val="400"/>
              </a:spcBef>
            </a:pPr>
            <a:r>
              <a:rPr sz="940">
                <a:solidFill>
                  <a:srgbClr val="52606E"/>
                </a:solidFill>
                <a:latin typeface="Aptos"/>
              </a:rPr>
              <a:t>ADO is the source. For Spec Kit, the refined requirement can be supplied through a project file/context rather than repeating a long requirement inline.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207008"/>
            <a:ext cx="29260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1">
                <a:solidFill>
                  <a:srgbClr val="52606E"/>
                </a:solidFill>
                <a:latin typeface="Aptos"/>
              </a:rPr>
              <a:t>2  HOW A TEAM CAN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572768"/>
            <a:ext cx="2880360" cy="640080"/>
          </a:xfrm>
          <a:prstGeom prst="roundRect">
            <a:avLst/>
          </a:prstGeom>
          <a:solidFill>
            <a:srgbClr val="EBF4FC"/>
          </a:solidFill>
          <a:ln>
            <a:solidFill>
              <a:srgbClr val="1F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02B48"/>
                </a:solidFill>
                <a:latin typeface="Aptos"/>
              </a:rPr>
              <a:t>Shared feature context
when stories are cohesive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2542032"/>
            <a:ext cx="2103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02B48"/>
                </a:solidFill>
                <a:latin typeface="Aptos"/>
              </a:rPr>
              <a:t>Dev A — US1
Independent story
Branch • Test • PR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542032"/>
            <a:ext cx="2103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E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02B48"/>
                </a:solidFill>
                <a:latin typeface="Aptos"/>
              </a:rPr>
              <a:t>Dev B — US2
Independent story
Branch • Test • 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3657600"/>
            <a:ext cx="3246120" cy="694944"/>
          </a:xfrm>
          <a:prstGeom prst="roundRect">
            <a:avLst/>
          </a:prstGeom>
          <a:solidFill>
            <a:srgbClr val="E8F5EB"/>
          </a:solidFill>
          <a:ln>
            <a:solidFill>
              <a:srgbClr val="8AB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02B48"/>
                </a:solidFill>
                <a:latin typeface="Aptos"/>
              </a:rPr>
              <a:t>Integrate → Feature-level Converge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4553712"/>
            <a:ext cx="448056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10" b="1">
                <a:solidFill>
                  <a:srgbClr val="102B48"/>
                </a:solidFill>
                <a:latin typeface="Aptos"/>
              </a:rPr>
              <a:t>Parallel stories should be independently implementable, clearly owned and minimally overlapping.
Default: 1 User Story → 1 feature; related stories may share one cohesive feature.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207008"/>
            <a:ext cx="2286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1">
                <a:solidFill>
                  <a:srgbClr val="52606E"/>
                </a:solidFill>
                <a:latin typeface="Aptos"/>
              </a:rPr>
              <a:t>3  READINESS / NEXT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554480"/>
            <a:ext cx="2560320" cy="1078992"/>
          </a:xfrm>
          <a:prstGeom prst="roundRect">
            <a:avLst/>
          </a:prstGeom>
          <a:solidFill>
            <a:srgbClr val="E8F5EB"/>
          </a:solidFill>
          <a:ln>
            <a:solidFill>
              <a:srgbClr val="8AB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200" b="1">
                <a:solidFill>
                  <a:srgbClr val="102B48"/>
                </a:solidFill>
                <a:latin typeface="Aptos"/>
              </a:rPr>
              <a:t>Established</a:t>
            </a:r>
          </a:p>
          <a:p>
            <a:pPr>
              <a:spcBef>
                <a:spcPts val="400"/>
              </a:spcBef>
            </a:pPr>
            <a:r>
              <a:rPr sz="940">
                <a:solidFill>
                  <a:srgbClr val="52606E"/>
                </a:solidFill>
                <a:latin typeface="Aptos"/>
              </a:rPr>
              <a:t>Selective SDD flow
Refinement + clarification
Traceability model
Multi-developer guidance
Usage guide +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852928"/>
            <a:ext cx="2560320" cy="1078992"/>
          </a:xfrm>
          <a:prstGeom prst="roundRect">
            <a:avLst/>
          </a:prstGeom>
          <a:solidFill>
            <a:srgbClr val="FFF5DE"/>
          </a:solidFill>
          <a:ln>
            <a:solidFill>
              <a:srgbClr val="CF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200" b="1">
                <a:solidFill>
                  <a:srgbClr val="102B48"/>
                </a:solidFill>
                <a:latin typeface="Aptos"/>
              </a:rPr>
              <a:t>In progress</a:t>
            </a:r>
          </a:p>
          <a:p>
            <a:pPr>
              <a:spcBef>
                <a:spcPts val="400"/>
              </a:spcBef>
            </a:pPr>
            <a:r>
              <a:rPr sz="940">
                <a:solidFill>
                  <a:srgbClr val="52606E"/>
                </a:solidFill>
                <a:latin typeface="Aptos"/>
              </a:rPr>
              <a:t>ADO extension / Azure CLI automation to reduce manual story handoff and improve traceability. Not a prerequisite.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151376"/>
            <a:ext cx="2560320" cy="1078992"/>
          </a:xfrm>
          <a:prstGeom prst="roundRect">
            <a:avLst/>
          </a:prstGeom>
          <a:solidFill>
            <a:srgbClr val="EBF4FC"/>
          </a:solidFill>
          <a:ln>
            <a:solidFill>
              <a:srgbClr val="1F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200" b="1">
                <a:solidFill>
                  <a:srgbClr val="102B48"/>
                </a:solidFill>
                <a:latin typeface="Aptos"/>
              </a:rPr>
              <a:t>Next</a:t>
            </a:r>
          </a:p>
          <a:p>
            <a:pPr>
              <a:spcBef>
                <a:spcPts val="400"/>
              </a:spcBef>
            </a:pPr>
            <a:r>
              <a:rPr sz="940">
                <a:solidFill>
                  <a:srgbClr val="52606E"/>
                </a:solidFill>
                <a:latin typeface="Aptos"/>
              </a:rPr>
              <a:t>Validate with real project teams and refine the guidance using evidence from actual dependencies, parallel work and overhead.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687568"/>
            <a:ext cx="10652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0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02B48"/>
                </a:solidFill>
                <a:latin typeface="Aptos"/>
              </a:rPr>
              <a:t>Position: ready for real-project validation. ADO automation is the remaining exploration — not a blocker for using the operating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