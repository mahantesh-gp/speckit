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SDD Adoption — Manager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What we tried • how it fits • how EA can help teams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698480" cy="10515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0E2A52"/>
                </a:solidFill>
              </a:defRPr>
            </a:pPr>
            <a:r>
              <a:t>From AI-assisted coding to a practical, repeatable way of developing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63240"/>
            <a:ext cx="64008" cy="19202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9718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30752"/>
            <a:ext cx="2971800" cy="1143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A simple introduction to SDD and how Spec Kit supports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06324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063240"/>
            <a:ext cx="64008" cy="19202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200400"/>
            <a:ext cx="29718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See the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30752"/>
            <a:ext cx="2971800" cy="1143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Our real experiments, user stories and decisions surfaced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06324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063240"/>
            <a:ext cx="64008" cy="19202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29718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Decide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30752"/>
            <a:ext cx="2971800" cy="1143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Get manager feedback and identify teams for follow-up sessions.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Today is a discussion with managers — not a technical training session.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A practical story, with a clear next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00784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91640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Why SDD and 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44752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700784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91640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Our journey: BMAD, Spec Kit and pilots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26080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182112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72968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How it fits into Scrum and 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26080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182112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72968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Real examples from Todo and DocNav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07408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663440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54296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How EA will support your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407408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663440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654296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Your feedback and pilot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Why Move Beyond Ad-Hoc AI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The goal is more consistent development, not more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64008" cy="340156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19"/>
            <a:ext cx="4864607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Without a shared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76272"/>
            <a:ext cx="4864607" cy="26243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Different developers give AI different instructions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Requirements and edge cases can remain unclear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Reviews may discover gaps late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The team depends heavily on individual prompting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50876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508760"/>
            <a:ext cx="64008" cy="340156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645919"/>
            <a:ext cx="4864607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With a specification-led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76272"/>
            <a:ext cx="4864607" cy="26243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Clarify the expected behavior before coding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Make the technical approach visible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Break work into reviewable tasks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Check implementation against agreed intent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SDD gives structure to AI-assisted development; people still own decisions, reviews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Our Journey — Parallel Explorations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Different exercises helped us understand how SDD works in new and existing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21284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18470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Starting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67712"/>
            <a:ext cx="184708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AI-assisted coding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Useful individual productivity, but inconsistent ways of working.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600200"/>
            <a:ext cx="28529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2072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737360"/>
            <a:ext cx="24871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BMAD — existing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267712"/>
            <a:ext cx="248716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Claims / CPS Docs rewrite case study.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BMAD also used in Title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600200"/>
            <a:ext cx="28529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37360"/>
            <a:ext cx="24871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Spec Kit — new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267712"/>
            <a:ext cx="248716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Todo application.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Completed a Spec Kit lifecycle and explored Scrum/ADO fit.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42248" y="1600200"/>
            <a:ext cx="28529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42248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1737360"/>
            <a:ext cx="24871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Spec Kit —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267712"/>
            <a:ext cx="248716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Title Automation / DocNav integration.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Feature added within existing workflow constraints.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230368"/>
            <a:ext cx="6035040" cy="329184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C497E"/>
                </a:solidFill>
              </a:defRPr>
            </a:pPr>
            <a:r>
              <a:t>BMAD and Spec Kit evaluations ran in parallel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Result: project examples, lessons learned and practical guidelines for other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9848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6984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0972800" cy="4846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What Is Spec Kit? What Commands Does It Provide?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704088"/>
            <a:ext cx="1097280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A structured SDD toolkit that works with AI coding assistants such as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52728"/>
            <a:ext cx="10972800" cy="42976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800" b="1">
                <a:solidFill>
                  <a:srgbClr val="0E2A52"/>
                </a:solidFill>
              </a:defRPr>
            </a:pPr>
            <a:r>
              <a:t>It turns a feature request into a specification, technical plan, tasks and implementation — with checks along the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6400800" cy="274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1C497E"/>
                </a:solidFill>
              </a:defRPr>
            </a:pPr>
            <a:r>
              <a:t>CORE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85416"/>
            <a:ext cx="3675887" cy="987552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85416"/>
            <a:ext cx="59436" cy="98755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304288"/>
            <a:ext cx="3410712" cy="26517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0E2A52"/>
                </a:solidFill>
              </a:defRPr>
            </a:pPr>
            <a:r>
              <a:t>/speckit.constitution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651760"/>
            <a:ext cx="3410712" cy="4480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300" b="0">
                <a:solidFill>
                  <a:srgbClr val="233345"/>
                </a:solidFill>
              </a:defRPr>
            </a:pPr>
            <a:r>
              <a:t>Set project-wide engineering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85416"/>
            <a:ext cx="3675887" cy="987552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185416"/>
            <a:ext cx="59436" cy="98755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304288"/>
            <a:ext cx="3410712" cy="26517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0E2A52"/>
                </a:solidFill>
              </a:defRPr>
            </a:pPr>
            <a:r>
              <a:t>/speckit.specify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651760"/>
            <a:ext cx="3410712" cy="4480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300" b="0">
                <a:solidFill>
                  <a:srgbClr val="233345"/>
                </a:solidFill>
              </a:defRPr>
            </a:pPr>
            <a:r>
              <a:t>Define what the feature must 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185416"/>
            <a:ext cx="3675887" cy="987552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2185416"/>
            <a:ext cx="59436" cy="98755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2304288"/>
            <a:ext cx="3410712" cy="26517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0E2A52"/>
                </a:solidFill>
              </a:defRPr>
            </a:pPr>
            <a:r>
              <a:t>/speckit.plan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651760"/>
            <a:ext cx="3410712" cy="4480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300" b="0">
                <a:solidFill>
                  <a:srgbClr val="233345"/>
                </a:solidFill>
              </a:defRPr>
            </a:pPr>
            <a:r>
              <a:t>Decide how to build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3675887" cy="987552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337560"/>
            <a:ext cx="59436" cy="987552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56432"/>
            <a:ext cx="3410712" cy="26517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0E2A52"/>
                </a:solidFill>
              </a:defRPr>
            </a:pPr>
            <a:r>
              <a:t>/speckit.tasks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3803904"/>
            <a:ext cx="3410712" cy="4480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300" b="0">
                <a:solidFill>
                  <a:srgbClr val="233345"/>
                </a:solidFill>
              </a:defRPr>
            </a:pPr>
            <a:r>
              <a:t>Break the plan into actionable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337560"/>
            <a:ext cx="3675887" cy="987552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337560"/>
            <a:ext cx="59436" cy="987552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456432"/>
            <a:ext cx="3410712" cy="26517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0E2A52"/>
                </a:solidFill>
              </a:defRPr>
            </a:pPr>
            <a:r>
              <a:t>/speckit.implement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803904"/>
            <a:ext cx="3410712" cy="4480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300" b="0">
                <a:solidFill>
                  <a:srgbClr val="233345"/>
                </a:solidFill>
              </a:defRPr>
            </a:pPr>
            <a:r>
              <a:t>Implement the planned tasks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337560"/>
            <a:ext cx="3675887" cy="987552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3337560"/>
            <a:ext cx="59436" cy="987552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3456432"/>
            <a:ext cx="3410712" cy="26517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600" b="1">
                <a:solidFill>
                  <a:srgbClr val="0E2A52"/>
                </a:solidFill>
              </a:defRPr>
            </a:pPr>
            <a:r>
              <a:t>/speckit.converge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064" y="3803904"/>
            <a:ext cx="3410712" cy="4480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300" b="0">
                <a:solidFill>
                  <a:srgbClr val="233345"/>
                </a:solidFill>
              </a:defRPr>
            </a:pPr>
            <a:r>
              <a:t>Check code against spec, plan and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90288"/>
            <a:ext cx="10881360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200" b="1">
                <a:solidFill>
                  <a:srgbClr val="1C497E"/>
                </a:solidFill>
              </a:defRPr>
            </a:pPr>
            <a:r>
              <a:t>QUALITY CHECKS (USE WHEN NEEDED)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19472"/>
            <a:ext cx="3675887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992624"/>
            <a:ext cx="347472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400" b="1">
                <a:solidFill>
                  <a:srgbClr val="1C497E"/>
                </a:solidFill>
              </a:defRPr>
            </a:pPr>
            <a:r>
              <a:t>/speckit.clarify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294376"/>
            <a:ext cx="3474720" cy="2194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0">
                <a:solidFill>
                  <a:srgbClr val="233345"/>
                </a:solidFill>
              </a:defRPr>
            </a:pPr>
            <a:r>
              <a:t>Resolve unclear requirements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4919472"/>
            <a:ext cx="3675887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4992624"/>
            <a:ext cx="347472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400" b="1">
                <a:solidFill>
                  <a:srgbClr val="1C497E"/>
                </a:solidFill>
              </a:defRPr>
            </a:pPr>
            <a:r>
              <a:t>/speckit.checklist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5294376"/>
            <a:ext cx="3474720" cy="2194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0">
                <a:solidFill>
                  <a:srgbClr val="233345"/>
                </a:solidFill>
              </a:defRPr>
            </a:pPr>
            <a:r>
              <a:t>Review requirement completeness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4919472"/>
            <a:ext cx="3675887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992624"/>
            <a:ext cx="3474720" cy="256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400" b="1">
                <a:solidFill>
                  <a:srgbClr val="1C497E"/>
                </a:solidFill>
              </a:defRPr>
            </a:pPr>
            <a:r>
              <a:t>/speckit.analyze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5294376"/>
            <a:ext cx="3474720" cy="21945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100" b="0">
                <a:solidFill>
                  <a:srgbClr val="233345"/>
                </a:solidFill>
              </a:defRPr>
            </a:pPr>
            <a:r>
              <a:t>Find gaps across spec, plan and tasks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833872"/>
            <a:ext cx="11045952" cy="493776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943600"/>
            <a:ext cx="10716768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Works within the developer’s AI assistant • Human review, approvals, testing and PR controls still apply.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601968"/>
            <a:ext cx="10058400" cy="16459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defRPr sz="900" b="0">
                <a:solidFill>
                  <a:srgbClr val="1C497E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583680"/>
            <a:ext cx="384048" cy="16459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defRPr sz="900" b="1">
                <a:solidFill>
                  <a:srgbClr val="1C497E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We Already Have Scrum — Where Does SDD 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A small change inside the existing delivery process, not a new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ADO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6936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5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Sprint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5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7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12096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Test / PR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2953512"/>
            <a:ext cx="2779776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2953512"/>
            <a:ext cx="64008" cy="16459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090672"/>
            <a:ext cx="2414016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Clarify in refinement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621024"/>
            <a:ext cx="2414016" cy="8686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Resolve material questions before committing the 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953512"/>
            <a:ext cx="2788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953512"/>
            <a:ext cx="64008" cy="164592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090672"/>
            <a:ext cx="242316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Structure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621024"/>
            <a:ext cx="2423160" cy="8686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Plan, check and implement against the agreed spec.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7784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66013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Scrum, ADO, BA/PO/QA roles, code review and testing remain in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A Real Todo Story — What SDD Exposed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US-904674 • Due Date &amp; Overdue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E2A52"/>
                </a:solidFill>
              </a:defRPr>
            </a:pPr>
            <a:r>
              <a:t>A story looked ready, but two important business decisions were still open.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67712"/>
            <a:ext cx="51663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67712"/>
            <a:ext cx="64008" cy="248716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04872"/>
            <a:ext cx="48006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Question 1 — Overdue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35224"/>
            <a:ext cx="4800600" cy="17099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When exactly does a Todo become overdue: at the start of the next day, at a specific time, or by another business-calendar rule?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51663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2267712"/>
            <a:ext cx="64008" cy="2487168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404872"/>
            <a:ext cx="48006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Question 2 — Where is it shown?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35224"/>
            <a:ext cx="4800600" cy="17099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Should users find overdue Todos in the existing list, through a separate filter, or both?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The questions stayed open for the PO/business owner; the tool did not invent an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A Real DocNav Feature — A Retry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Title Automation • Adaptive Workflow activity • Spec Kit /clarify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5669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E2A52"/>
                </a:solidFill>
              </a:defRPr>
            </a:pPr>
            <a:r>
              <a:t>Spec Kit identified a technical ambiguity before the team finalized the implementation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240280"/>
            <a:ext cx="5248656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2240280"/>
            <a:ext cx="64008" cy="26060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377440"/>
            <a:ext cx="4882896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The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07792"/>
            <a:ext cx="4882896" cy="18288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If the same document is submitted again using the same idempotency key, should the activity create another DocNav job or reuse an earlier result?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40280"/>
            <a:ext cx="5248656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2240280"/>
            <a:ext cx="64008" cy="260604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882896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The design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07792"/>
            <a:ext cx="4882896" cy="18288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Fresh submission keeps the activity stateless; reuse requires stored results and duplicate detection. Spec Kit recommended leaving deduplication to the orchestrator.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Evidence of early issue discovery — a recommendation is not the same as an approved design decision.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What We Learned from Another Team Using Spec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Questions emerged during Commitment Typing’s own hands-on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44752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36776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600200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Initialize once for the repository, or separately for each project?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444752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36776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One Constitution for the repo, or multiple?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43784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035808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999232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If Analyze finds a gap, should Constitution change?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843784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035808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99232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Should testing defects be added to Constitution?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42816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434840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398264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What does the Governance section mean?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4242816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434840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398264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Why did a Constitution rule block implementation? Who approves?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33872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916168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Hands-on usage → real questions → reusable adoption guidance.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How Can a Project Team Try SDD?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Start with one suitable user story, within normal Scrum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755648"/>
            <a:ext cx="64008" cy="30175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1. 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Pick a story with behavior or design decisions worth clarifying.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1216" y="1755648"/>
            <a:ext cx="64008" cy="301752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2. Clarify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Work with BA/PO to resolve important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755648"/>
            <a:ext cx="64008" cy="30175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3.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Check the proposed changes against existing architecture.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1755648"/>
            <a:ext cx="64008" cy="301752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3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4. 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Use Spec Kit support while following normal engineering practices.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93808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93808" y="1755648"/>
            <a:ext cx="64008" cy="30175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5. 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Review against the spec; test and use normal PR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No separate SDD sprint. No requirement to use the full process for every small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You Will Not Have to Figure This Out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EA will share its experience and help project teams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5544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554480"/>
            <a:ext cx="64008" cy="338328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91639"/>
            <a:ext cx="315468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What we can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21991"/>
            <a:ext cx="3154680" cy="26060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Practical adoption guidelines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Todo and DocNav examples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Existing AMA/session recordings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Lessons from hands-on usage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544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554480"/>
            <a:ext cx="64008" cy="338328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91639"/>
            <a:ext cx="315468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How we will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21991"/>
            <a:ext cx="3154680" cy="26060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Follow-up team walkthroughs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Explain how SDD fits in Scrum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Discuss project-specific questions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Help select an initial pilot 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5544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554480"/>
            <a:ext cx="64008" cy="338328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1691639"/>
            <a:ext cx="315468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What managers can 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221991"/>
            <a:ext cx="3154680" cy="26060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Bring relevant team members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Share concerns and constraints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Identify a suitable pilot project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Give feedback on the approach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EA-led enablement, not “read the documentation and work it out yourself.”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Practical Questions Before a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Start small and learn from actual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52578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64008" cy="342900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09928"/>
            <a:ext cx="489204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Common concerns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40280"/>
            <a:ext cx="4892040" cy="2651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Will this disrupt Scrum or ADO?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Is every story expected to use SDD?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What about token consumption?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Who answers unclear business questions?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How much extra review and testing?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72768"/>
            <a:ext cx="52578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72768"/>
            <a:ext cx="64008" cy="342900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489204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Our practical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4892040" cy="2651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Keep existing delivery controls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Select one manageable story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Clarify before generating code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Measure effort and outcomes during pilot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Use team and manager feedback to refine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We have practical evidence, but no verified organization-wide speed or token-saving metric.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What We Need From Managers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Feedback first; then EA will engage the project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92224"/>
            <a:ext cx="3584448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92224"/>
            <a:ext cx="64008" cy="318211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29384"/>
            <a:ext cx="32186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1. Your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9736"/>
            <a:ext cx="3218688" cy="24048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Does this fit your project? What concerns or constraints do you see?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792224"/>
            <a:ext cx="3584448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792224"/>
            <a:ext cx="64008" cy="3182112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1929384"/>
            <a:ext cx="32186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2. Team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459736"/>
            <a:ext cx="3218688" cy="24048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EA will schedule a follow-up session; please involve relevant team members.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792224"/>
            <a:ext cx="3584448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85632" y="1792224"/>
            <a:ext cx="64008" cy="318211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1" y="1929384"/>
            <a:ext cx="32186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3. Pilot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459736"/>
            <a:ext cx="3218688" cy="24048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Identify or confirm suitable projects and a manageable first 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9729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Our next step is a practical team session, followed by a small pilot with agreed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