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82F49"/>
                </a:solidFill>
                <a:latin typeface="Aptos"/>
              </a:defRPr>
            </a:pPr>
            <a:r>
              <a:t>5. SDD-Assisted Journey — Actual Pilot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6870"/>
                </a:solidFill>
                <a:latin typeface="Aptos"/>
              </a:defRPr>
            </a:pPr>
            <a:r>
              <a:t>Refinement first; then separate technical planning, task breakdown and pre/post implementation consistency gates.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25880"/>
            <a:ext cx="107899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4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ADO</a:t>
            </a:r>
            <a:br/>
            <a:r>
              <a:t>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4208" y="1325880"/>
            <a:ext cx="107899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4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Refinement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8376" y="1325880"/>
            <a:ext cx="1078992" cy="749808"/>
          </a:xfrm>
          <a:prstGeom prst="roundRect">
            <a:avLst/>
          </a:prstGeom>
          <a:solidFill>
            <a:srgbClr val="EDF7F1"/>
          </a:solidFill>
          <a:ln w="15875">
            <a:solidFill>
              <a:srgbClr val="348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Specify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325880"/>
            <a:ext cx="1078992" cy="749808"/>
          </a:xfrm>
          <a:prstGeom prst="roundRect">
            <a:avLst/>
          </a:prstGeom>
          <a:solidFill>
            <a:srgbClr val="EDF7F1"/>
          </a:solidFill>
          <a:ln w="15875">
            <a:solidFill>
              <a:srgbClr val="348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Clarify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6712" y="1325880"/>
            <a:ext cx="1078992" cy="7498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4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Ready for</a:t>
            </a:r>
            <a:br/>
            <a:r>
              <a:t>Sprint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99031" y="1700784"/>
            <a:ext cx="265177" cy="0"/>
          </a:xfrm>
          <a:prstGeom prst="line">
            <a:avLst/>
          </a:prstGeom>
          <a:ln w="17780">
            <a:solidFill>
              <a:srgbClr val="5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700784"/>
            <a:ext cx="265176" cy="0"/>
          </a:xfrm>
          <a:prstGeom prst="line">
            <a:avLst/>
          </a:prstGeom>
          <a:ln w="17780">
            <a:solidFill>
              <a:srgbClr val="5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87368" y="1700784"/>
            <a:ext cx="265176" cy="0"/>
          </a:xfrm>
          <a:prstGeom prst="line">
            <a:avLst/>
          </a:prstGeom>
          <a:ln w="17780">
            <a:solidFill>
              <a:srgbClr val="5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31536" y="1700784"/>
            <a:ext cx="265176" cy="0"/>
          </a:xfrm>
          <a:prstGeom prst="line">
            <a:avLst/>
          </a:prstGeom>
          <a:ln w="17780">
            <a:solidFill>
              <a:srgbClr val="5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8" y="2075688"/>
            <a:ext cx="0" cy="411480"/>
          </a:xfrm>
          <a:prstGeom prst="line">
            <a:avLst/>
          </a:prstGeom>
          <a:ln w="17780">
            <a:solidFill>
              <a:srgbClr val="5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0120" y="2560320"/>
            <a:ext cx="1097280" cy="777240"/>
          </a:xfrm>
          <a:prstGeom prst="roundRect">
            <a:avLst/>
          </a:prstGeom>
          <a:solidFill>
            <a:srgbClr val="EDF7F1"/>
          </a:solidFill>
          <a:ln w="15875">
            <a:solidFill>
              <a:srgbClr val="348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2560320"/>
            <a:ext cx="1097280" cy="777240"/>
          </a:xfrm>
          <a:prstGeom prst="roundRect">
            <a:avLst/>
          </a:prstGeom>
          <a:solidFill>
            <a:srgbClr val="EDF7F1"/>
          </a:solidFill>
          <a:ln w="15875">
            <a:solidFill>
              <a:srgbClr val="348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560320"/>
            <a:ext cx="1097280" cy="777240"/>
          </a:xfrm>
          <a:prstGeom prst="roundRect">
            <a:avLst/>
          </a:prstGeom>
          <a:solidFill>
            <a:srgbClr val="EDF7F1"/>
          </a:solidFill>
          <a:ln w="15875">
            <a:solidFill>
              <a:srgbClr val="348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560320"/>
            <a:ext cx="1097280" cy="777240"/>
          </a:xfrm>
          <a:prstGeom prst="roundRect">
            <a:avLst/>
          </a:prstGeom>
          <a:solidFill>
            <a:srgbClr val="EDF7F1"/>
          </a:solidFill>
          <a:ln w="15875">
            <a:solidFill>
              <a:srgbClr val="348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560320"/>
            <a:ext cx="1097280" cy="777240"/>
          </a:xfrm>
          <a:prstGeom prst="roundRect">
            <a:avLst/>
          </a:prstGeom>
          <a:solidFill>
            <a:srgbClr val="EDF7F1"/>
          </a:solidFill>
          <a:ln w="15875">
            <a:solidFill>
              <a:srgbClr val="348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Converge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560320"/>
            <a:ext cx="10972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4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20" b="1">
                <a:solidFill>
                  <a:srgbClr val="23272C"/>
                </a:solidFill>
                <a:latin typeface="Aptos"/>
              </a:defRPr>
            </a:pPr>
            <a:r>
              <a:t>Test /</a:t>
            </a:r>
            <a:br/>
            <a:r>
              <a:t>Review / PR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57400" y="2948940"/>
            <a:ext cx="274320" cy="0"/>
          </a:xfrm>
          <a:prstGeom prst="line">
            <a:avLst/>
          </a:prstGeom>
          <a:ln w="17780">
            <a:solidFill>
              <a:srgbClr val="5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29000" y="2948940"/>
            <a:ext cx="274320" cy="0"/>
          </a:xfrm>
          <a:prstGeom prst="line">
            <a:avLst/>
          </a:prstGeom>
          <a:ln w="17780">
            <a:solidFill>
              <a:srgbClr val="5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00600" y="2948940"/>
            <a:ext cx="274320" cy="0"/>
          </a:xfrm>
          <a:prstGeom prst="line">
            <a:avLst/>
          </a:prstGeom>
          <a:ln w="17780">
            <a:solidFill>
              <a:srgbClr val="5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72200" y="2948940"/>
            <a:ext cx="274320" cy="0"/>
          </a:xfrm>
          <a:prstGeom prst="line">
            <a:avLst/>
          </a:prstGeom>
          <a:ln w="17780">
            <a:solidFill>
              <a:srgbClr val="5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43800" y="2948940"/>
            <a:ext cx="274320" cy="0"/>
          </a:xfrm>
          <a:prstGeom prst="line">
            <a:avLst/>
          </a:prstGeom>
          <a:ln w="17780">
            <a:solidFill>
              <a:srgbClr val="5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3886200"/>
            <a:ext cx="3337560" cy="114300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34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72C"/>
                </a:solidFill>
                <a:latin typeface="Aptos"/>
              </a:defRPr>
            </a:pPr>
            <a:r>
              <a:t>Refinement / requirement side</a:t>
            </a:r>
            <a:br/>
            <a:br/>
            <a:r>
              <a:t>Specify → make WHAT/WHY explicit</a:t>
            </a:r>
            <a:br/>
            <a:r>
              <a:t>Clarify → resolve ambiguity before sprint/development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886200"/>
            <a:ext cx="3337560" cy="1143000"/>
          </a:xfrm>
          <a:prstGeom prst="roundRect">
            <a:avLst/>
          </a:prstGeom>
          <a:solidFill>
            <a:srgbClr val="EDF7F1"/>
          </a:solidFill>
          <a:ln w="15875">
            <a:solidFill>
              <a:srgbClr val="348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72C"/>
                </a:solidFill>
                <a:latin typeface="Aptos"/>
              </a:defRPr>
            </a:pPr>
            <a:r>
              <a:t>Pre-implementation engineering</a:t>
            </a:r>
            <a:br/>
            <a:br/>
            <a:r>
              <a:t>Plan → technical approach</a:t>
            </a:r>
            <a:br/>
            <a:r>
              <a:t>Tasks → actionable breakdown</a:t>
            </a:r>
            <a:br/>
            <a:r>
              <a:t>Analyze → consistency check before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886200"/>
            <a:ext cx="3337560" cy="114300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34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3272C"/>
                </a:solidFill>
                <a:latin typeface="Aptos"/>
              </a:defRPr>
            </a:pPr>
            <a:r>
              <a:t>Implementation &amp; validation</a:t>
            </a:r>
            <a:br/>
            <a:br/>
            <a:r>
              <a:t>Implement → build the change</a:t>
            </a:r>
            <a:br/>
            <a:r>
              <a:t>Converge → check code/artifact alignment</a:t>
            </a:r>
            <a:br/>
            <a:r>
              <a:t>Then normal test, review and PR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440680"/>
            <a:ext cx="10652760" cy="658368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34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72C"/>
                </a:solidFill>
                <a:latin typeface="Aptos"/>
              </a:defRPr>
            </a:pPr>
            <a:r>
              <a:t>Important: ADO remains the requirement/sprint source of truth. Spec Kit adds structured refinement and engineering gates; normal developer review, testing and PR governance still remain.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5F68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