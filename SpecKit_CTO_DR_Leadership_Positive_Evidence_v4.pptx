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have built — and why it matters</a:t>
            </a:r>
          </a:p>
          <a:p/>
          <a:p>
            <a:r>
              <a:t>We did not start by writing a new process. We tried Spec Kit on sample work, recorded what happened, and converted the lessons into developer Job Aids.</a:t>
            </a:r>
          </a:p>
          <a:p/>
          <a:p>
            <a:r>
              <a:t>What we tried: A new-project Todo sample and existing-project work in Adaptive Workflow. We used Spec Kit to structure requirements, plans, tasks and implementation.</a:t>
            </a:r>
          </a:p>
          <a:p/>
          <a:p>
            <a:r>
              <a:t>What we produced: Separate Greenfield and Brownfield GitHub guides, reusable Copilot prompts, practical checkpoints, examples and an evidence reference.</a:t>
            </a:r>
          </a:p>
          <a:p/>
          <a:p>
            <a:r>
              <a:t>What we still need to prove: Whether developers in other teams can follow these guides independently and how much the guidance improves their work.</a:t>
            </a:r>
          </a:p>
          <a:p/>
          <a:p>
            <a:r>
              <a:t>The purpose of this discussion: show the work behind the guides, not just ask teams to follow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we chose what part of the existing project to study</a:t>
            </a:r>
          </a:p>
          <a:p/>
          <a:p>
            <a:r>
              <a:t>Adaptive Workflow is a multi-project solution. Before asking AI to help with a feature, we needed to know what code belonged to our work and what was outside it.</a:t>
            </a:r>
          </a:p>
          <a:p/>
          <a:p>
            <a:r>
              <a:t>What “repository boundary” means: Decide the application and code areas in scope. In our case, AdaptiveWorkflowEngine was the existing solution and WorkflowActivities was a project inside it.</a:t>
            </a:r>
          </a:p>
          <a:p/>
          <a:p>
            <a:r>
              <a:t>Why the boundary mattered: The existing workflow engine already handled orchestration. DocNav was a separate external service; Commitment Typing was the consuming use case. Our pilot should not redesign those systems.</a:t>
            </a:r>
          </a:p>
          <a:p/>
          <a:p>
            <a:r>
              <a:t>What we learned: Start with a clearly bounded change. Show the developer the relevant files, interfaces and neighboring systems instead of treating every project as part of the new feature.</a:t>
            </a:r>
          </a:p>
          <a:p/>
          <a:p>
            <a:r>
              <a:t>Job Aid connection: Brownfield → Project discovery and multi-project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explored existing code before proposing a Constitution</a:t>
            </a:r>
          </a:p>
          <a:p/>
          <a:p>
            <a:r>
              <a:t>A Constitution describes the rules a project should follow. In an existing project, those rules must reflect real architecture and established practices — not AI guesses.</a:t>
            </a:r>
          </a:p>
          <a:p/>
          <a:p>
            <a:r>
              <a:t>What we actually did: We experimented with Repomix on selected WorkflowActivities source folders. The output was a readable snapshot of 13 files, about 7,017 estimated tokens.</a:t>
            </a:r>
          </a:p>
          <a:p/>
          <a:p>
            <a:r>
              <a:t>How this helped us think: A focused snapshot can make existing interfaces, services and file relationships easier to review. It does not replace architecture documents or human knowledge.</a:t>
            </a:r>
          </a:p>
          <a:p/>
          <a:p>
            <a:r>
              <a:t>What the Job Aid now says: Inspect the relevant code and standards, draft proposed project rules from verified facts, then have developers and architects review the Constitution before using it.</a:t>
            </a:r>
          </a:p>
          <a:p/>
          <a:p>
            <a:r>
              <a:t>Evidence limit: we did not prove the exact snapshot was used for the original Constitution or measure token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we narrowed down the feature before development</a:t>
            </a:r>
          </a:p>
          <a:p/>
          <a:p>
            <a:r>
              <a:t>Project discovery tells us how the application is organized. Feature discovery asks a smaller question: what existing behavior and code must this specific change work with?</a:t>
            </a:r>
          </a:p>
          <a:p/>
          <a:p>
            <a:r>
              <a:t>The feature we selected: In Adaptive Workflow, the reference change was to retrieve one PDF from Blob Storage and submit it to the separate DocNav service from a workflow activity.</a:t>
            </a:r>
          </a:p>
          <a:p/>
          <a:p>
            <a:r>
              <a:t>How we approached it: We reviewed the workflow entry points, activity registration, interfaces, data and error cases. We documented the intended behavior and questions before generating the implementation plan.</a:t>
            </a:r>
          </a:p>
          <a:p/>
          <a:p>
            <a:r>
              <a:t>What the Job Aid now gives teams: A read-only feature discovery prompt, an expected findings report, a review checkpoint, and a reminder to record a test baseline where one is available.</a:t>
            </a:r>
          </a:p>
          <a:p/>
          <a:p>
            <a:r>
              <a:t>Important distinction: the pre-feature discovery checklist is recommended guidance; not every prompt was proven executed in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used Spec Kit to organize one bounded change</a:t>
            </a:r>
          </a:p>
          <a:p/>
          <a:p>
            <a:r>
              <a:t>The value of the pilot was not just generating Markdown. It was connecting a feature description to a design, development tasks, implementation and checks.</a:t>
            </a:r>
          </a:p>
          <a:p/>
          <a:p>
            <a:r>
              <a:t>Describe and clarify: We documented the DocNav submission requirement, including success and failure scenarios, and worked through questions about inputs and behavior.</a:t>
            </a:r>
          </a:p>
          <a:p/>
          <a:p>
            <a:r>
              <a:t>Plan and implement: We planned the workflow activity, supporting interfaces, service connection and registration. The pilot recorded tasks and implementation of reference components.</a:t>
            </a:r>
          </a:p>
          <a:p/>
          <a:p>
            <a:r>
              <a:t>Check what happened: The solution built with zero errors and warnings. After resolving credentials and Blob URL issues, the activity-level DocNav submission returned HTTP 202 and a request ID.</a:t>
            </a:r>
          </a:p>
          <a:p/>
          <a:p>
            <a:r>
              <a:t>HTTP 202 means the service accepted the request; it does not prove document processing finished or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also examined what happens when earlier features change</a:t>
            </a:r>
          </a:p>
          <a:p/>
          <a:p>
            <a:r>
              <a:t>In a growing application, a later feature may rely on earlier behavior. A specification that is not updated alongside the code can mislead the next developer.</a:t>
            </a:r>
          </a:p>
          <a:p/>
          <a:p>
            <a:r>
              <a:t>Our Todo example: In a separate Flask Todo pilot, pagination Feature 003 used 10 items per page. Feature 004 depended on Feature 003. An amendment proposed a 10/20/50 selector.</a:t>
            </a:r>
          </a:p>
          <a:p/>
          <a:p>
            <a:r>
              <a:t>What was actually demonstrated: The amendment was explored in the specification only; it was not approved or implemented. A set of 27 existing baseline tests passed, but did not validate the proposed selector.</a:t>
            </a:r>
          </a:p>
          <a:p/>
          <a:p>
            <a:r>
              <a:t>What the Job Aid adds: Before changing or building a dependent feature, inspect earlier specifications and current code, record the dependency, and identify which tests and owners need review.</a:t>
            </a:r>
          </a:p>
          <a:p/>
          <a:p>
            <a:r>
              <a:t>This is a documented dependency example, not proof of a fully automated dependency-detection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turned these lessons into two navigable GitHub Job Aids</a:t>
            </a:r>
          </a:p>
          <a:p/>
          <a:p>
            <a:r>
              <a:t>Instead of a long document, each README helps a developer choose a task and open a short page with steps, prompts, expected outputs and checks.</a:t>
            </a:r>
          </a:p>
          <a:p/>
          <a:p>
            <a:r>
              <a:t>Brownfield Job Aid: Project discovery → Constitution → First-feature readiness → Read-only feature discovery → Cross-feature dependencies → Feature lifecycle → Verification.</a:t>
            </a:r>
          </a:p>
          <a:p/>
          <a:p>
            <a:r>
              <a:t>Greenfield Job Aid: Scope and readiness → Constitution → Specify and clarify → Plan and tasks → Analyze and implement → Verify and hand over.</a:t>
            </a:r>
          </a:p>
          <a:p/>
          <a:p>
            <a:r>
              <a:t>How the material is used: Open README → select a stage → copy the prompt if relevant → inspect the output → complete the human review and verification checks.</a:t>
            </a:r>
          </a:p>
          <a:p/>
          <a:p>
            <a:r>
              <a:t>Links to the published GitHub READMEs can be inserted here once the repository URLs are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our experiments show — and what they do not</a:t>
            </a:r>
          </a:p>
          <a:p/>
          <a:p>
            <a:r>
              <a:t>We want leadership to see the progress clearly without mistaking a working pilot for a proven organization-wide practice.</a:t>
            </a:r>
          </a:p>
          <a:p/>
          <a:p>
            <a:r>
              <a:t>Observed evidence: Focused Repomix output; Spec Kit artifacts; Todo baseline tests; successful Adaptive Workflow build; DocNav activity-level request accepted.</a:t>
            </a:r>
          </a:p>
          <a:p/>
          <a:p>
            <a:r>
              <a:t>Not yet established: Full automated regression coverage of the new integration; completed downstream DocNav processing; measured time or cost savings; production deployment; multi-team adoption results.</a:t>
            </a:r>
          </a:p>
          <a:p/>
          <a:p>
            <a:r>
              <a:t>Why this distinction matters: The Job Aids contain a practical proposed approach. Real teams must still confirm which steps work well and which need adjustment.</a:t>
            </a:r>
          </a:p>
          <a:p/>
          <a:p>
            <a:r>
              <a:t>Our Master Evidence file remains the source of truth for pilot observations and known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can ask teams to validate the Job Aid</a:t>
            </a:r>
          </a:p>
          <a:p/>
          <a:p>
            <a:r>
              <a:t>We have something concrete to share today: the two guides, copy-ready prompts and evidence-based examples. The next step is to test usability in normal team work.</a:t>
            </a:r>
          </a:p>
          <a:p/>
          <a:p>
            <a:r>
              <a:t>What we propose: Nominate 2–3 teams. Each selects one suitable feature, follows the relevant README and uses its prompts and checkpoints.</a:t>
            </a:r>
          </a:p>
          <a:p/>
          <a:p>
            <a:r>
              <a:t>What we will capture: Whether developers can start independently, where instructions are unclear, what they had to correct, and which checks were practical.</a:t>
            </a:r>
          </a:p>
          <a:p/>
          <a:p>
            <a:r>
              <a:t>What leadership gets back: An updated guide grounded in team feedback, with clear decisions about which practices should be recommended more widely.</a:t>
            </a:r>
          </a:p>
          <a:p/>
          <a:p>
            <a:r>
              <a:t>Leadership request: support a small, controlled validation — not an immediate mandatory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07592"/>
          </a:xfrm>
          <a:prstGeom prst="rect">
            <a:avLst/>
          </a:prstGeom>
          <a:solidFill>
            <a:srgbClr val="16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FE2D9"/>
                </a:solidFill>
                <a:latin typeface="Aptos"/>
              </a:defRPr>
            </a:pPr>
            <a:r>
              <a:t>01 ·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66344"/>
            <a:ext cx="10972800" cy="5486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We tried Spec Kit, learned from it, and created practical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109728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E6A75"/>
                </a:solidFill>
                <a:latin typeface="Aptos"/>
              </a:defRPr>
            </a:pPr>
            <a:r>
              <a:t>We applied Spec Kit in new and existing application scenarios, captured the practical steps and results, and turned that experience into developer Job Aids.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6A7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Where we started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We explored how Spec Kit supports a new application and how it can be introduced into an application that already has code and working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is ready to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Two GitHub Job Aids: one for new projects and one for existing projects. Each includes steps, reusable AI prompts, examples and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How teams can benefit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Teams can start with one feature, use the step-by-step guidance and share feedback to make the examples even more useful.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217920"/>
            <a:ext cx="10789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289"/>
                </a:solidFill>
                <a:latin typeface="Aptos"/>
              </a:defRPr>
            </a:pPr>
            <a:r>
              <a:t>The purpose of this discussion: show the work behind the guides, not just ask teams to follow instructions.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07592"/>
          </a:xfrm>
          <a:prstGeom prst="rect">
            <a:avLst/>
          </a:prstGeom>
          <a:solidFill>
            <a:srgbClr val="16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FE2D9"/>
                </a:solidFill>
                <a:latin typeface="Aptos"/>
              </a:defRPr>
            </a:pPr>
            <a:r>
              <a:t>02 · START WITH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66344"/>
            <a:ext cx="10972800" cy="5486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We first identified the existing application and our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109728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E6A75"/>
                </a:solidFill>
                <a:latin typeface="Aptos"/>
              </a:defRPr>
            </a:pPr>
            <a:r>
              <a:t>An existing application may contain many connected parts. Before making changes, we needed to identify the part we were responsible for and the systems it connects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6A7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we selected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We worked inside the existing Adaptive Workflow application and focused on the area that runs individual workflow activities. We did not start a separate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How the solution fits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The existing application coordinates work. A separate service processes documents. Our example connected these two parts while keeping the existing application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Why this matters for other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Before using AI to plan a change, identify the application, the code likely to change and the systems that must continue working.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217920"/>
            <a:ext cx="10789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289"/>
                </a:solidFill>
                <a:latin typeface="Aptos"/>
              </a:defRPr>
            </a:pPr>
            <a:r>
              <a:t>Job Aid connection: Brownfield → Project discovery and multi-project boundaries.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07592"/>
          </a:xfrm>
          <a:prstGeom prst="rect">
            <a:avLst/>
          </a:prstGeom>
          <a:solidFill>
            <a:srgbClr val="16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FE2D9"/>
                </a:solidFill>
                <a:latin typeface="Aptos"/>
              </a:defRPr>
            </a:pPr>
            <a:r>
              <a:t>03 · DISCOVERY BEFORE PROJECT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66344"/>
            <a:ext cx="10972800" cy="5486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We explored the code before writing project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109728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E6A75"/>
                </a:solidFill>
                <a:latin typeface="Aptos"/>
              </a:defRPr>
            </a:pPr>
            <a:r>
              <a:t>Spec Kit uses a Constitution to record project rules. In an existing application, those rules should come from the actual code and agreed engineering practices, not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6A7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we tried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We used a code-packaging tool to collect a focused set of existing source files into one readable snapshot. The experiment covered 13 files in the workflow activity area.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this helped us 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A smaller, relevant code snapshot is easier to inspect than asking AI to understand the entire application at once. Developers still need to check the findings.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we added to the Job 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First inspect the application and existing standards. Then draft project rules from confirmed facts and have the team review them before proceeding.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217920"/>
            <a:ext cx="10789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289"/>
                </a:solidFill>
                <a:latin typeface="Aptos"/>
              </a:defRPr>
            </a:pPr>
            <a:r>
              <a:t>Job Aid takeaway: review relevant existing code and team standards before agreeing project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07592"/>
          </a:xfrm>
          <a:prstGeom prst="rect">
            <a:avLst/>
          </a:prstGeom>
          <a:solidFill>
            <a:srgbClr val="16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FE2D9"/>
                </a:solidFill>
                <a:latin typeface="Aptos"/>
              </a:defRPr>
            </a:pPr>
            <a:r>
              <a:t>04 · PREPARING A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66344"/>
            <a:ext cx="10972800" cy="5486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We examined the specific change before asking AI to plan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109728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E6A75"/>
                </a:solidFill>
                <a:latin typeface="Aptos"/>
              </a:defRPr>
            </a:pPr>
            <a:r>
              <a:t>Understanding an application as a whole is not enough. For each new feature, developers must also understand the current behavior, affected code and connected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6A7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Our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We explored a change that would take a document from storage and send it to an external document-processing service through the existing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we examined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We examined where the workflow starts, how it calls other components, what information is passed and what could go wrong. These details shaped the feature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the Job Aid provides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A reusable prompt to inspect existing behavior without changing code, a short findings report, and a check of existing tests before development.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217920"/>
            <a:ext cx="10789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289"/>
                </a:solidFill>
                <a:latin typeface="Aptos"/>
              </a:defRPr>
            </a:pPr>
            <a:r>
              <a:t>Job Aid takeaway: begin each feature with a focused review of the current behavior and affected components.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07592"/>
          </a:xfrm>
          <a:prstGeom prst="rect">
            <a:avLst/>
          </a:prstGeom>
          <a:solidFill>
            <a:srgbClr val="16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FE2D9"/>
                </a:solidFill>
                <a:latin typeface="Aptos"/>
              </a:defRPr>
            </a:pPr>
            <a:r>
              <a:t>05 · FEATURE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66344"/>
            <a:ext cx="10972800" cy="5486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We used Spec Kit to take one change from idea to working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109728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E6A75"/>
                </a:solidFill>
                <a:latin typeface="Aptos"/>
              </a:defRPr>
            </a:pPr>
            <a:r>
              <a:t>We wanted to see whether a feature could be described, planned, broken into tasks and built within an existing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6A7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First, define the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We wrote down what the document submission should do, what information it needed and what should happen when something failed.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Then, plan and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We planned the components needed to connect the existing workflow to the document service, created development tasks and built reference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Finally, check the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The application built successfully. After fixing setup issues, the external document service accepted our test request and returned a reference number.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217920"/>
            <a:ext cx="10789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289"/>
                </a:solidFill>
                <a:latin typeface="Aptos"/>
              </a:defRPr>
            </a:pPr>
            <a:r>
              <a:t>Result: we demonstrated the request hand-off from the existing application to the document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07592"/>
          </a:xfrm>
          <a:prstGeom prst="rect">
            <a:avLst/>
          </a:prstGeom>
          <a:solidFill>
            <a:srgbClr val="16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FE2D9"/>
                </a:solidFill>
                <a:latin typeface="Aptos"/>
              </a:defRPr>
            </a:pPr>
            <a:r>
              <a:t>06 · LATER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66344"/>
            <a:ext cx="10972800" cy="5486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When one feature changes, the next feature can be affected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109728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E6A75"/>
                </a:solidFill>
                <a:latin typeface="Aptos"/>
              </a:defRPr>
            </a:pPr>
            <a:r>
              <a:t>As an application grows, new features often depend on existing ones. If an earlier feature changes, the team must check what other work could be affected.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6A7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The example we examined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Our Todo application originally showed 10 tasks per page. We explored a request to let users choose 10, 20 or 50 tasks per page. Another planned feature relied on this list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we examined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We wrote down the requested change and checked the existing application behavior. This helped us see why changes to an earlier feature should be reviewed before planning dependent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teams can now follow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Before starting a dependent feature, check the earlier requirement against the current code, note what may be affected, and agree which tests and reviews are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217920"/>
            <a:ext cx="10789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289"/>
                </a:solidFill>
                <a:latin typeface="Aptos"/>
              </a:defRPr>
            </a:pPr>
            <a:r>
              <a:t>Job Aid takeaway: identify earlier-feature dependencies and review the affected code and tests before starting.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07592"/>
          </a:xfrm>
          <a:prstGeom prst="rect">
            <a:avLst/>
          </a:prstGeom>
          <a:solidFill>
            <a:srgbClr val="16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FE2D9"/>
                </a:solidFill>
                <a:latin typeface="Aptos"/>
              </a:defRPr>
            </a:pPr>
            <a:r>
              <a:t>07 · WHAT DEVELOPERS CAN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66344"/>
            <a:ext cx="10972800" cy="5486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We turned our experiments into guides developers can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109728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E6A75"/>
                </a:solidFill>
                <a:latin typeface="Aptos"/>
              </a:defRPr>
            </a:pPr>
            <a:r>
              <a:t>A developer starts from a GitHub README, chooses the relevant stage and opens a focused page that explains why the step matters, what to do and how to check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6A7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Existing-application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Understand the application → Agree project rules → Check existing behavior → Explore the change → Check dependencies → Build and verify.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New-application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Agree the starting scope and project rules → Describe the feature → Plan tasks → Build → Test and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the developer actually 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A short explanation, a copy-ready AI prompt where useful, an example of the expected result, and a checklist for human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217920"/>
            <a:ext cx="10789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289"/>
                </a:solidFill>
                <a:latin typeface="Aptos"/>
              </a:defRPr>
            </a:pPr>
            <a:r>
              <a:t>The README links directly to stage-specific instructions, prompts, examples and review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07592"/>
          </a:xfrm>
          <a:prstGeom prst="rect">
            <a:avLst/>
          </a:prstGeom>
          <a:solidFill>
            <a:srgbClr val="16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FE2D9"/>
                </a:solidFill>
                <a:latin typeface="Aptos"/>
              </a:defRPr>
            </a:pPr>
            <a:r>
              <a:t>08 · WHAT WE HAVE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66344"/>
            <a:ext cx="10972800" cy="5486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What we achieved and how teams can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109728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E6A75"/>
                </a:solidFill>
                <a:latin typeface="Aptos"/>
              </a:defRPr>
            </a:pPr>
            <a:r>
              <a:t>Our work produced concrete examples, repeatable guidance and reusable prompts that developers can take into their own projects.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6A7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we demonstrated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We explored existing code, prepared feature specifications and tasks, ran existing Todo tests, built the workflow application and demonstrated a successful request hand-off to the document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developers can reuse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Greenfield and Brownfield starting guides, copy-ready discovery prompts, feature-development steps, dependency checks and practical review checklists.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Teams have a clear place to start, with examples from our work and guidance for reviewing AI-generated output before making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217920"/>
            <a:ext cx="10789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289"/>
                </a:solidFill>
                <a:latin typeface="Aptos"/>
              </a:defRPr>
            </a:pPr>
            <a:r>
              <a:t>Supporting details and technical evidence are available in the Master Evidence and linked Job Aids.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07592"/>
          </a:xfrm>
          <a:prstGeom prst="rect">
            <a:avLst/>
          </a:prstGeom>
          <a:solidFill>
            <a:srgbClr val="16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FE2D9"/>
                </a:solidFill>
                <a:latin typeface="Aptos"/>
              </a:defRPr>
            </a:pPr>
            <a:r>
              <a:t>09 ·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66344"/>
            <a:ext cx="10972800" cy="5486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Make the Job Aids available to development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109728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E6A75"/>
                </a:solidFill>
                <a:latin typeface="Aptos"/>
              </a:defRPr>
            </a:pPr>
            <a:r>
              <a:t>The Greenfield and Brownfield guides bring together the steps, prompts and examples from our experiments. We can now share them with teams starting their next feature.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6A7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How teams get started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Share the GitHub Job Aid with 2–3 teams. Each team selects one suitable feature and uses the relevant README steps, prompts and review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How EA will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Offer an initial walkthrough when helpful, collect practical feedback and add useful examples from real development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2359152"/>
            <a:ext cx="3703320" cy="357530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505456"/>
            <a:ext cx="3355848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2841"/>
                </a:solidFill>
                <a:latin typeface="Aptos"/>
              </a:defRPr>
            </a:pPr>
            <a:r>
              <a:t>What leadership receives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026664"/>
            <a:ext cx="3355848" cy="2816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B3746"/>
                </a:solidFill>
                <a:latin typeface="Aptos"/>
              </a:defRPr>
            </a:pPr>
            <a:r>
              <a:t>A reusable developer resource, examples of team adoption and a clear view of opportunities to improve consistency across projects.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217920"/>
            <a:ext cx="10789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289"/>
                </a:solidFill>
                <a:latin typeface="Aptos"/>
              </a:defRPr>
            </a:pPr>
            <a:r>
              <a:t>Leadership request: nominate 2–3 teams to start using the Job Aids and share their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