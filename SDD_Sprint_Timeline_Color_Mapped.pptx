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1078992"/>
          </a:xfrm>
          <a:prstGeom prst="rect">
            <a:avLst/>
          </a:prstGeom>
          <a:solidFill>
            <a:srgbClr val="80B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338560" cy="393192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Where SDD Fits in Our 2-Week Sprint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8368"/>
            <a:ext cx="11064240" cy="26517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1200" b="0">
                <a:solidFill>
                  <a:srgbClr val="DCE8F4"/>
                </a:solidFill>
                <a:latin typeface="Aptos"/>
              </a:defRPr>
            </a:pPr>
            <a:r>
              <a:t>Todo pilot reference timeline  •  SDD enhances existing Scrum activities; it does not replace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758952"/>
            <a:ext cx="155448" cy="155448"/>
          </a:xfrm>
          <a:prstGeom prst="round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9712" y="731520"/>
            <a:ext cx="1554480" cy="21945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9" b="1">
                <a:solidFill>
                  <a:srgbClr val="FFFFFF"/>
                </a:solidFill>
                <a:latin typeface="Aptos"/>
              </a:defRPr>
            </a:pPr>
            <a:r>
              <a:t>Existing Scrum / 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30768" y="758952"/>
            <a:ext cx="155448" cy="155448"/>
          </a:xfrm>
          <a:prstGeom prst="roundRect">
            <a:avLst/>
          </a:prstGeom>
          <a:solidFill>
            <a:srgbClr val="DD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731520"/>
            <a:ext cx="1554480" cy="21945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9" b="1">
                <a:solidFill>
                  <a:srgbClr val="FFFFFF"/>
                </a:solidFill>
                <a:latin typeface="Aptos"/>
              </a:defRPr>
            </a:pPr>
            <a:r>
              <a:t>SDD-assisted activity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32136" y="758952"/>
            <a:ext cx="155448" cy="155448"/>
          </a:xfrm>
          <a:prstGeom prst="roundRect">
            <a:avLst/>
          </a:prstGeom>
          <a:solidFill>
            <a:srgbClr val="FFF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42448" y="731520"/>
            <a:ext cx="1554480" cy="21945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9" b="1">
                <a:solidFill>
                  <a:srgbClr val="FFFFFF"/>
                </a:solidFill>
                <a:latin typeface="Aptos"/>
              </a:defRPr>
            </a:pPr>
            <a:r>
              <a:t>Human decision /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243584"/>
            <a:ext cx="5029200" cy="26517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1100" b="1">
                <a:solidFill>
                  <a:srgbClr val="197A46"/>
                </a:solidFill>
                <a:latin typeface="Aptos"/>
              </a:defRPr>
            </a:pPr>
            <a:r>
              <a:t>SPRINT N−1  •  BEFORE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243584"/>
            <a:ext cx="4572000" cy="26517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1100" b="1">
                <a:solidFill>
                  <a:srgbClr val="236DAB"/>
                </a:solidFill>
                <a:latin typeface="Aptos"/>
              </a:defRPr>
            </a:pPr>
            <a:r>
              <a:t>SPRINT N  •  EXECUTION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" y="2002536"/>
            <a:ext cx="10497312" cy="32004"/>
          </a:xfrm>
          <a:prstGeom prst="rect">
            <a:avLst/>
          </a:prstGeom>
          <a:solidFill>
            <a:srgbClr val="B7C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" y="1906524"/>
            <a:ext cx="201168" cy="201168"/>
          </a:xfrm>
          <a:prstGeom prst="roundRect">
            <a:avLst/>
          </a:prstGeom>
          <a:solidFill>
            <a:srgbClr val="DCEB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" y="1563624"/>
            <a:ext cx="896112" cy="1737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900" b="1">
                <a:solidFill>
                  <a:srgbClr val="17304B"/>
                </a:solidFill>
                <a:latin typeface="Aptos"/>
              </a:defRPr>
            </a:pPr>
            <a:r>
              <a:t>Day -8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9144" y="1737360"/>
            <a:ext cx="1417320" cy="292608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819" b="0">
                <a:solidFill>
                  <a:srgbClr val="526477"/>
                </a:solidFill>
                <a:latin typeface="Aptos"/>
              </a:defRPr>
            </a:pPr>
            <a:r>
              <a:t>Story identified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1906524"/>
            <a:ext cx="201168" cy="201168"/>
          </a:xfrm>
          <a:prstGeom prst="roundRect">
            <a:avLst/>
          </a:prstGeom>
          <a:solidFill>
            <a:srgbClr val="DCEB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2157984"/>
            <a:ext cx="896112" cy="1737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900" b="1">
                <a:solidFill>
                  <a:srgbClr val="17304B"/>
                </a:solidFill>
                <a:latin typeface="Aptos"/>
              </a:defRPr>
            </a:pPr>
            <a:r>
              <a:t>Day 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331720"/>
            <a:ext cx="1417320" cy="292608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819" b="0">
                <a:solidFill>
                  <a:srgbClr val="526477"/>
                </a:solidFill>
                <a:latin typeface="Aptos"/>
              </a:defRPr>
            </a:pPr>
            <a:r>
              <a:t>Assess suitability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90672" y="1906524"/>
            <a:ext cx="201168" cy="201168"/>
          </a:xfrm>
          <a:prstGeom prst="roundRect">
            <a:avLst/>
          </a:prstGeom>
          <a:solidFill>
            <a:srgbClr val="DDF3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563624"/>
            <a:ext cx="896112" cy="1737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900" b="1">
                <a:solidFill>
                  <a:srgbClr val="17304B"/>
                </a:solidFill>
                <a:latin typeface="Aptos"/>
              </a:defRPr>
            </a:pPr>
            <a:r>
              <a:t>Day -6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96312" y="1737360"/>
            <a:ext cx="1417320" cy="292608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819" b="0">
                <a:solidFill>
                  <a:srgbClr val="526477"/>
                </a:solidFill>
                <a:latin typeface="Aptos"/>
              </a:defRPr>
            </a:pPr>
            <a:r>
              <a:t>Specify / Clarify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1906524"/>
            <a:ext cx="201168" cy="201168"/>
          </a:xfrm>
          <a:prstGeom prst="roundRect">
            <a:avLst/>
          </a:prstGeom>
          <a:solidFill>
            <a:srgbClr val="FFF0C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2157984"/>
            <a:ext cx="896112" cy="1737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900" b="1">
                <a:solidFill>
                  <a:srgbClr val="17304B"/>
                </a:solidFill>
                <a:latin typeface="Aptos"/>
              </a:defRPr>
            </a:pPr>
            <a:r>
              <a:t>Day 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7" y="2331720"/>
            <a:ext cx="1417320" cy="292608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819" b="0">
                <a:solidFill>
                  <a:srgbClr val="526477"/>
                </a:solidFill>
                <a:latin typeface="Aptos"/>
              </a:defRPr>
            </a:pPr>
            <a:r>
              <a:t>PO decision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04688" y="1906524"/>
            <a:ext cx="201168" cy="201168"/>
          </a:xfrm>
          <a:prstGeom prst="roundRect">
            <a:avLst/>
          </a:prstGeom>
          <a:solidFill>
            <a:srgbClr val="DCEB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57216" y="1563624"/>
            <a:ext cx="896112" cy="1737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900" b="1">
                <a:solidFill>
                  <a:srgbClr val="17304B"/>
                </a:solidFill>
                <a:latin typeface="Aptos"/>
              </a:defRPr>
            </a:pPr>
            <a:r>
              <a:t>Day -3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7" y="1737360"/>
            <a:ext cx="1417320" cy="292608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819" b="0">
                <a:solidFill>
                  <a:srgbClr val="526477"/>
                </a:solidFill>
                <a:latin typeface="Aptos"/>
              </a:defRPr>
            </a:pPr>
            <a:r>
              <a:t>Story ready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84264" y="1906524"/>
            <a:ext cx="201168" cy="201168"/>
          </a:xfrm>
          <a:prstGeom prst="roundRect">
            <a:avLst/>
          </a:prstGeom>
          <a:solidFill>
            <a:srgbClr val="DCEB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2157984"/>
            <a:ext cx="896112" cy="1737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900" b="1">
                <a:solidFill>
                  <a:srgbClr val="17304B"/>
                </a:solidFill>
                <a:latin typeface="Aptos"/>
              </a:defRPr>
            </a:pPr>
            <a:r>
              <a:t>Day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9903" y="2331720"/>
            <a:ext cx="1417320" cy="292608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819" b="0">
                <a:solidFill>
                  <a:srgbClr val="526477"/>
                </a:solidFill>
                <a:latin typeface="Aptos"/>
              </a:defRPr>
            </a:pPr>
            <a:r>
              <a:t>Sprint planning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1906524"/>
            <a:ext cx="201168" cy="201168"/>
          </a:xfrm>
          <a:prstGeom prst="roundRect">
            <a:avLst/>
          </a:prstGeom>
          <a:solidFill>
            <a:srgbClr val="DDF3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7807" y="1563624"/>
            <a:ext cx="896112" cy="1737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900" b="1">
                <a:solidFill>
                  <a:srgbClr val="17304B"/>
                </a:solidFill>
                <a:latin typeface="Aptos"/>
              </a:defRPr>
            </a:pPr>
            <a:r>
              <a:t>Day +2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19" y="1737360"/>
            <a:ext cx="1417320" cy="292608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819" b="0">
                <a:solidFill>
                  <a:srgbClr val="526477"/>
                </a:solidFill>
                <a:latin typeface="Aptos"/>
              </a:defRPr>
            </a:pPr>
            <a:r>
              <a:t>Plan / Tasks / Analyze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36608" y="1906524"/>
            <a:ext cx="201168" cy="201168"/>
          </a:xfrm>
          <a:prstGeom prst="roundRect">
            <a:avLst/>
          </a:prstGeom>
          <a:solidFill>
            <a:srgbClr val="DDF3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57984"/>
            <a:ext cx="896112" cy="1737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900" b="1">
                <a:solidFill>
                  <a:srgbClr val="17304B"/>
                </a:solidFill>
                <a:latin typeface="Aptos"/>
              </a:defRPr>
            </a:pPr>
            <a:r>
              <a:t>Day +8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2248" y="2331720"/>
            <a:ext cx="1417320" cy="292608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819" b="0">
                <a:solidFill>
                  <a:srgbClr val="526477"/>
                </a:solidFill>
                <a:latin typeface="Aptos"/>
              </a:defRPr>
            </a:pPr>
            <a:r>
              <a:t>Implement / Converge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991088" y="1906524"/>
            <a:ext cx="201168" cy="201168"/>
          </a:xfrm>
          <a:prstGeom prst="roundRect">
            <a:avLst/>
          </a:prstGeom>
          <a:solidFill>
            <a:srgbClr val="FFF0C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43615" y="1563624"/>
            <a:ext cx="896112" cy="1737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900" b="1">
                <a:solidFill>
                  <a:srgbClr val="17304B"/>
                </a:solidFill>
                <a:latin typeface="Aptos"/>
              </a:defRPr>
            </a:pPr>
            <a:r>
              <a:t>Day +10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96728" y="1737360"/>
            <a:ext cx="1417320" cy="292608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 algn="ctr">
              <a:defRPr sz="819" b="0">
                <a:solidFill>
                  <a:srgbClr val="526477"/>
                </a:solidFill>
                <a:latin typeface="Aptos"/>
              </a:defRPr>
            </a:pPr>
            <a:r>
              <a:t>QA / Review / Demo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2852928"/>
            <a:ext cx="11713464" cy="3931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939796"/>
            <a:ext cx="493776" cy="237744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" y="2939796"/>
            <a:ext cx="5029200" cy="237744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Activity (Spec Kit reference in pilot)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2939796"/>
            <a:ext cx="1499616" cy="237744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Artifact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08976" y="2939796"/>
            <a:ext cx="1463040" cy="237744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Who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81744" y="2939796"/>
            <a:ext cx="2679191" cy="237744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Checkpoint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" y="3246120"/>
            <a:ext cx="11713464" cy="3383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84048" y="3246120"/>
            <a:ext cx="77724" cy="338328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7552" y="3246120"/>
            <a:ext cx="5138928" cy="338328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3296412"/>
            <a:ext cx="48463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1">
                <a:solidFill>
                  <a:srgbClr val="17304B"/>
                </a:solidFill>
                <a:latin typeface="Aptos"/>
              </a:defRPr>
            </a:pPr>
            <a:r>
              <a:t>-8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" y="3296412"/>
            <a:ext cx="5020056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0" b="0">
                <a:solidFill>
                  <a:srgbClr val="17304B"/>
                </a:solidFill>
                <a:latin typeface="Aptos"/>
              </a:defRPr>
            </a:pPr>
            <a:r>
              <a:t>Requirement identified; ADO story written and tagged SDD candidate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9632" y="3296412"/>
            <a:ext cx="149047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ADO user story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08976" y="3296412"/>
            <a:ext cx="1453895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BA / PO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81744" y="3296412"/>
            <a:ext cx="2670048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00" b="0">
                <a:solidFill>
                  <a:srgbClr val="355C50"/>
                </a:solidFill>
                <a:latin typeface="Aptos"/>
              </a:defRPr>
            </a:pPr>
          </a:p>
        </p:txBody>
      </p:sp>
      <p:sp>
        <p:nvSpPr>
          <p:cNvPr id="56" name="Rectangle 55"/>
          <p:cNvSpPr/>
          <p:nvPr/>
        </p:nvSpPr>
        <p:spPr>
          <a:xfrm>
            <a:off x="384048" y="3575304"/>
            <a:ext cx="11713464" cy="7315"/>
          </a:xfrm>
          <a:prstGeom prst="rect">
            <a:avLst/>
          </a:prstGeom>
          <a:solidFill>
            <a:srgbClr val="D5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84048" y="3584448"/>
            <a:ext cx="11713464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84048" y="3584448"/>
            <a:ext cx="77724" cy="338328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7552" y="3584448"/>
            <a:ext cx="5138928" cy="338328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3634740"/>
            <a:ext cx="48463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1">
                <a:solidFill>
                  <a:srgbClr val="17304B"/>
                </a:solidFill>
                <a:latin typeface="Aptos"/>
              </a:defRPr>
            </a:pPr>
            <a:r>
              <a:t>-7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" y="3634740"/>
            <a:ext cx="5020056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0" b="0">
                <a:solidFill>
                  <a:srgbClr val="17304B"/>
                </a:solidFill>
                <a:latin typeface="Aptos"/>
              </a:defRPr>
            </a:pPr>
            <a:r>
              <a:t>Backlog refinement: team assesses SDD suitability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9632" y="3634740"/>
            <a:ext cx="149047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08976" y="3634740"/>
            <a:ext cx="1453895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BA + Dev + team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81744" y="3634740"/>
            <a:ext cx="2670048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00" b="1">
                <a:solidFill>
                  <a:srgbClr val="355C50"/>
                </a:solidFill>
                <a:latin typeface="Aptos"/>
              </a:defRPr>
            </a:pPr>
            <a:r>
              <a:t>Suitability decision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" y="3913632"/>
            <a:ext cx="11713464" cy="7315"/>
          </a:xfrm>
          <a:prstGeom prst="rect">
            <a:avLst/>
          </a:prstGeom>
          <a:solidFill>
            <a:srgbClr val="D5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84048" y="3922776"/>
            <a:ext cx="11713464" cy="3383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84048" y="3922776"/>
            <a:ext cx="77724" cy="338328"/>
          </a:xfrm>
          <a:prstGeom prst="rect">
            <a:avLst/>
          </a:prstGeom>
          <a:solidFill>
            <a:srgbClr val="DD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7552" y="3922776"/>
            <a:ext cx="5138928" cy="338328"/>
          </a:xfrm>
          <a:prstGeom prst="rect">
            <a:avLst/>
          </a:prstGeom>
          <a:solidFill>
            <a:srgbClr val="DD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3973068"/>
            <a:ext cx="48463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1">
                <a:solidFill>
                  <a:srgbClr val="17304B"/>
                </a:solidFill>
                <a:latin typeface="Aptos"/>
              </a:defRPr>
            </a:pPr>
            <a:r>
              <a:t>-6 to -5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0704" y="3973068"/>
            <a:ext cx="5020056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0" b="0">
                <a:solidFill>
                  <a:srgbClr val="17304B"/>
                </a:solidFill>
                <a:latin typeface="Aptos"/>
              </a:defRPr>
            </a:pPr>
            <a:r>
              <a:t>Define expected behavior + clarify (/speckit.specify, /speckit.clarify); questions to ADO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9632" y="3973068"/>
            <a:ext cx="149047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Feature spec (spec.md)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08976" y="3973068"/>
            <a:ext cx="1453895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Dev + BA (AI assists)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81744" y="3973068"/>
            <a:ext cx="2670048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00" b="0">
                <a:solidFill>
                  <a:srgbClr val="355C50"/>
                </a:solidFill>
                <a:latin typeface="Aptos"/>
              </a:defRPr>
            </a:pPr>
          </a:p>
        </p:txBody>
      </p:sp>
      <p:sp>
        <p:nvSpPr>
          <p:cNvPr id="74" name="Rectangle 73"/>
          <p:cNvSpPr/>
          <p:nvPr/>
        </p:nvSpPr>
        <p:spPr>
          <a:xfrm>
            <a:off x="384048" y="4251960"/>
            <a:ext cx="11713464" cy="7315"/>
          </a:xfrm>
          <a:prstGeom prst="rect">
            <a:avLst/>
          </a:prstGeom>
          <a:solidFill>
            <a:srgbClr val="D5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84048" y="4261104"/>
            <a:ext cx="11713464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4048" y="4261104"/>
            <a:ext cx="77724" cy="338328"/>
          </a:xfrm>
          <a:prstGeom prst="rect">
            <a:avLst/>
          </a:prstGeom>
          <a:solidFill>
            <a:srgbClr val="FFF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87552" y="4261104"/>
            <a:ext cx="5138928" cy="338328"/>
          </a:xfrm>
          <a:prstGeom prst="rect">
            <a:avLst/>
          </a:prstGeom>
          <a:solidFill>
            <a:srgbClr val="FFF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311396"/>
            <a:ext cx="48463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1">
                <a:solidFill>
                  <a:srgbClr val="17304B"/>
                </a:solidFill>
                <a:latin typeface="Aptos"/>
              </a:defRPr>
            </a:pPr>
            <a:r>
              <a:t>-4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" y="4311396"/>
            <a:ext cx="5020056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0" b="0">
                <a:solidFill>
                  <a:srgbClr val="17304B"/>
                </a:solidFill>
                <a:latin typeface="Aptos"/>
              </a:defRPr>
            </a:pPr>
            <a:r>
              <a:t>Spec review; PO answers material business questions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99632" y="4311396"/>
            <a:ext cx="149047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Spec clarifications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08976" y="4311396"/>
            <a:ext cx="1453895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BA / PO / QA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81744" y="4311396"/>
            <a:ext cx="2670048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00" b="1">
                <a:solidFill>
                  <a:srgbClr val="355C50"/>
                </a:solidFill>
                <a:latin typeface="Aptos"/>
              </a:defRPr>
            </a:pPr>
            <a:r>
              <a:t>Checkpoint 1: business decisions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4048" y="4590288"/>
            <a:ext cx="11713464" cy="7315"/>
          </a:xfrm>
          <a:prstGeom prst="rect">
            <a:avLst/>
          </a:prstGeom>
          <a:solidFill>
            <a:srgbClr val="D5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84048" y="4599432"/>
            <a:ext cx="11713464" cy="3383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84048" y="4599432"/>
            <a:ext cx="77724" cy="338328"/>
          </a:xfrm>
          <a:prstGeom prst="rect">
            <a:avLst/>
          </a:prstGeom>
          <a:solidFill>
            <a:srgbClr val="FFF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87552" y="4599432"/>
            <a:ext cx="5138928" cy="338328"/>
          </a:xfrm>
          <a:prstGeom prst="rect">
            <a:avLst/>
          </a:prstGeom>
          <a:solidFill>
            <a:srgbClr val="FFF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4649724"/>
            <a:ext cx="48463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1">
                <a:solidFill>
                  <a:srgbClr val="17304B"/>
                </a:solidFill>
                <a:latin typeface="Aptos"/>
              </a:defRPr>
            </a:pPr>
            <a:r>
              <a:t>-3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0704" y="4649724"/>
            <a:ext cx="5020056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0" b="0">
                <a:solidFill>
                  <a:srgbClr val="17304B"/>
                </a:solidFill>
                <a:latin typeface="Aptos"/>
              </a:defRPr>
            </a:pPr>
            <a:r>
              <a:t>ADO acceptance criteria updated; spec synchronized; story marked Ready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99632" y="4649724"/>
            <a:ext cx="149047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ADO AC + spec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08976" y="4649724"/>
            <a:ext cx="1453895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Team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81744" y="4649724"/>
            <a:ext cx="2670048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00" b="1">
                <a:solidFill>
                  <a:srgbClr val="355C50"/>
                </a:solidFill>
                <a:latin typeface="Aptos"/>
              </a:defRPr>
            </a:pPr>
            <a:r>
              <a:t>Checkpoint 2: Definition of Ready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4048" y="4928616"/>
            <a:ext cx="11713464" cy="7315"/>
          </a:xfrm>
          <a:prstGeom prst="rect">
            <a:avLst/>
          </a:prstGeom>
          <a:solidFill>
            <a:srgbClr val="D5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84048" y="4937760"/>
            <a:ext cx="11713464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84048" y="4937760"/>
            <a:ext cx="77724" cy="338328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87552" y="4937760"/>
            <a:ext cx="5138928" cy="338328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4988052"/>
            <a:ext cx="48463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1">
                <a:solidFill>
                  <a:srgbClr val="17304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0704" y="4988052"/>
            <a:ext cx="5020056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0" b="0">
                <a:solidFill>
                  <a:srgbClr val="17304B"/>
                </a:solidFill>
                <a:latin typeface="Aptos"/>
              </a:defRPr>
            </a:pPr>
            <a:r>
              <a:t>Sprint Planning: estimate and commit; refined story + spec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199632" y="4988052"/>
            <a:ext cx="149047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08976" y="4988052"/>
            <a:ext cx="1453895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Scrum team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381744" y="4988052"/>
            <a:ext cx="2670048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00" b="1">
                <a:solidFill>
                  <a:srgbClr val="355C50"/>
                </a:solidFill>
                <a:latin typeface="Aptos"/>
              </a:defRPr>
            </a:pPr>
            <a:r>
              <a:t>Sprint commitment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4048" y="5266944"/>
            <a:ext cx="11713464" cy="7315"/>
          </a:xfrm>
          <a:prstGeom prst="rect">
            <a:avLst/>
          </a:prstGeom>
          <a:solidFill>
            <a:srgbClr val="D5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4048" y="5276088"/>
            <a:ext cx="11713464" cy="3383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84048" y="5276088"/>
            <a:ext cx="77724" cy="338328"/>
          </a:xfrm>
          <a:prstGeom prst="rect">
            <a:avLst/>
          </a:prstGeom>
          <a:solidFill>
            <a:srgbClr val="DD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87552" y="5276088"/>
            <a:ext cx="5138928" cy="338328"/>
          </a:xfrm>
          <a:prstGeom prst="rect">
            <a:avLst/>
          </a:prstGeom>
          <a:solidFill>
            <a:srgbClr val="DD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57200" y="5326379"/>
            <a:ext cx="48463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1">
                <a:solidFill>
                  <a:srgbClr val="17304B"/>
                </a:solidFill>
                <a:latin typeface="Aptos"/>
              </a:defRPr>
            </a:pPr>
            <a:r>
              <a:t>+1 to +2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60704" y="5326379"/>
            <a:ext cx="5020056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0" b="0">
                <a:solidFill>
                  <a:srgbClr val="17304B"/>
                </a:solidFill>
                <a:latin typeface="Aptos"/>
              </a:defRPr>
            </a:pPr>
            <a:r>
              <a:t>Technical plan → task breakdown → consistency check (/speckit.plan, tasks, analyze)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99632" y="5326379"/>
            <a:ext cx="149047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Plan, task list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08976" y="5326379"/>
            <a:ext cx="1453895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Developer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81744" y="5326379"/>
            <a:ext cx="2670048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00" b="1">
                <a:solidFill>
                  <a:srgbClr val="355C50"/>
                </a:solidFill>
                <a:latin typeface="Aptos"/>
              </a:defRPr>
            </a:pPr>
            <a:r>
              <a:t>Checkpoint 3: technical plan review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048" y="5605272"/>
            <a:ext cx="11713464" cy="7315"/>
          </a:xfrm>
          <a:prstGeom prst="rect">
            <a:avLst/>
          </a:prstGeom>
          <a:solidFill>
            <a:srgbClr val="D5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84048" y="5614416"/>
            <a:ext cx="11713464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84048" y="5614416"/>
            <a:ext cx="77724" cy="338328"/>
          </a:xfrm>
          <a:prstGeom prst="rect">
            <a:avLst/>
          </a:prstGeom>
          <a:solidFill>
            <a:srgbClr val="DD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7552" y="5614416"/>
            <a:ext cx="5138928" cy="338328"/>
          </a:xfrm>
          <a:prstGeom prst="rect">
            <a:avLst/>
          </a:prstGeom>
          <a:solidFill>
            <a:srgbClr val="DD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57200" y="5664708"/>
            <a:ext cx="48463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1">
                <a:solidFill>
                  <a:srgbClr val="17304B"/>
                </a:solidFill>
                <a:latin typeface="Aptos"/>
              </a:defRPr>
            </a:pPr>
            <a:r>
              <a:t>+2 to +8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60704" y="5664708"/>
            <a:ext cx="5020056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0" b="0">
                <a:solidFill>
                  <a:srgbClr val="17304B"/>
                </a:solidFill>
                <a:latin typeface="Aptos"/>
              </a:defRPr>
            </a:pPr>
            <a:r>
              <a:t>Implement; converge intent and code (/speckit.implement, converge); gaps via change management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99632" y="5664708"/>
            <a:ext cx="149047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Code, tests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808976" y="5664708"/>
            <a:ext cx="1453895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Developer (+ BA/PO)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381744" y="5664708"/>
            <a:ext cx="2670048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00" b="0">
                <a:solidFill>
                  <a:srgbClr val="355C50"/>
                </a:solidFill>
                <a:latin typeface="Aptos"/>
              </a:defRPr>
            </a:pPr>
          </a:p>
        </p:txBody>
      </p:sp>
      <p:sp>
        <p:nvSpPr>
          <p:cNvPr id="119" name="Rectangle 118"/>
          <p:cNvSpPr/>
          <p:nvPr/>
        </p:nvSpPr>
        <p:spPr>
          <a:xfrm>
            <a:off x="384048" y="5943600"/>
            <a:ext cx="11713464" cy="7315"/>
          </a:xfrm>
          <a:prstGeom prst="rect">
            <a:avLst/>
          </a:prstGeom>
          <a:solidFill>
            <a:srgbClr val="D5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84048" y="5952744"/>
            <a:ext cx="11713464" cy="3383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84048" y="5952744"/>
            <a:ext cx="77724" cy="338328"/>
          </a:xfrm>
          <a:prstGeom prst="rect">
            <a:avLst/>
          </a:prstGeom>
          <a:solidFill>
            <a:srgbClr val="FFF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7552" y="5952744"/>
            <a:ext cx="5138928" cy="338328"/>
          </a:xfrm>
          <a:prstGeom prst="rect">
            <a:avLst/>
          </a:prstGeom>
          <a:solidFill>
            <a:srgbClr val="FFF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57200" y="6003036"/>
            <a:ext cx="48463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1">
                <a:solidFill>
                  <a:srgbClr val="17304B"/>
                </a:solidFill>
                <a:latin typeface="Aptos"/>
              </a:defRPr>
            </a:pPr>
            <a:r>
              <a:t>+8 to +10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60704" y="6003036"/>
            <a:ext cx="5020056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10" b="0">
                <a:solidFill>
                  <a:srgbClr val="17304B"/>
                </a:solidFill>
                <a:latin typeface="Aptos"/>
              </a:defRPr>
            </a:pPr>
            <a:r>
              <a:t>QA, code review, PR merge, sprint review / demo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99632" y="6003036"/>
            <a:ext cx="1490472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PR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08976" y="6003036"/>
            <a:ext cx="1453895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25" b="0">
                <a:solidFill>
                  <a:srgbClr val="17304B"/>
                </a:solidFill>
                <a:latin typeface="Aptos"/>
              </a:defRPr>
            </a:pPr>
            <a:r>
              <a:t>QA / reviewers / team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381744" y="6003036"/>
            <a:ext cx="2670048" cy="288036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800" b="1">
                <a:solidFill>
                  <a:srgbClr val="355C50"/>
                </a:solidFill>
                <a:latin typeface="Aptos"/>
              </a:defRPr>
            </a:pPr>
            <a:r>
              <a:t>Checkpoint 4: PR approval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84048" y="6281928"/>
            <a:ext cx="11713464" cy="7315"/>
          </a:xfrm>
          <a:prstGeom prst="rect">
            <a:avLst/>
          </a:prstGeom>
          <a:solidFill>
            <a:srgbClr val="D5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384048" y="6400800"/>
            <a:ext cx="11411712" cy="301752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66928" y="6448348"/>
            <a:ext cx="10972800" cy="201168"/>
          </a:xfrm>
          <a:prstGeom prst="rect">
            <a:avLst/>
          </a:prstGeom>
          <a:noFill/>
        </p:spPr>
        <p:txBody>
          <a:bodyPr wrap="square" lIns="22860" rIns="22860" tIns="13716" bIns="0">
            <a:spAutoFit/>
          </a:bodyPr>
          <a:lstStyle/>
          <a:p>
            <a:pPr>
              <a:defRPr sz="1010" b="1">
                <a:solidFill>
                  <a:srgbClr val="17304B"/>
                </a:solidFill>
                <a:latin typeface="Aptos"/>
              </a:defRPr>
            </a:pPr>
            <a:r>
              <a:t>Key takeaway: SDD starts during normal refinement and supports delivery within the sprint. Checkpoints reuse existing team reviews.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